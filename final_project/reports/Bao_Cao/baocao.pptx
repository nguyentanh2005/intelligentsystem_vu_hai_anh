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7" r:id="rId3"/>
    <p:sldId id="279" r:id="rId4"/>
    <p:sldId id="257" r:id="rId5"/>
    <p:sldId id="258" r:id="rId6"/>
    <p:sldId id="269" r:id="rId7"/>
    <p:sldId id="270" r:id="rId8"/>
    <p:sldId id="260" r:id="rId9"/>
    <p:sldId id="271" r:id="rId10"/>
    <p:sldId id="272" r:id="rId11"/>
    <p:sldId id="273" r:id="rId12"/>
    <p:sldId id="278" r:id="rId13"/>
    <p:sldId id="261" r:id="rId14"/>
    <p:sldId id="262" r:id="rId15"/>
    <p:sldId id="263" r:id="rId16"/>
    <p:sldId id="264" r:id="rId17"/>
    <p:sldId id="274" r:id="rId18"/>
    <p:sldId id="275" r:id="rId19"/>
    <p:sldId id="276" r:id="rId20"/>
    <p:sldId id="277" r:id="rId21"/>
  </p:sldIdLst>
  <p:sldSz cx="14630400" cy="8229600"/>
  <p:notesSz cx="8229600" cy="14630400"/>
  <p:embeddedFontLst>
    <p:embeddedFont>
      <p:font typeface="Arimo Medium" panose="020B0604020202020204" charset="0"/>
      <p:regular r:id="rId23"/>
    </p:embeddedFont>
    <p:embeddedFont>
      <p:font typeface="Arimo Semi Bold" panose="020B0604020202020204" charset="0"/>
      <p:regular r:id="rId24"/>
    </p:embeddedFont>
    <p:embeddedFont>
      <p:font typeface="Cambria Math" panose="02040503050406030204" pitchFamily="18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522" y="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4310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02BC9-AABF-86B6-971A-DAEE37C12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0A176E-EA77-31DE-0802-30A9300F8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E3614A-1CF5-5B40-E04E-D7D7763240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FCE5E-F2BD-42DC-DAF4-0BC6F2AF12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55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00041-A3AB-5150-3A6F-294533822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E0C24-0812-2D97-71B3-51B4C12E8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CEFE3C-764D-0C3E-C4D7-603D55DED0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0B70D-5619-9216-CCA6-6EEE89C03B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733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7.gif"/><Relationship Id="rId4" Type="http://schemas.openxmlformats.org/officeDocument/2006/relationships/image" Target="../media/image26.gi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720" y="1372675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Báo </a:t>
            </a:r>
            <a:r>
              <a:rPr lang="en-US" sz="4450" b="1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cáo dự án: </a:t>
            </a:r>
          </a:p>
          <a:p>
            <a:pPr marL="0" indent="0" algn="r">
              <a:lnSpc>
                <a:spcPts val="5550"/>
              </a:lnSpc>
              <a:buNone/>
            </a:pPr>
            <a:r>
              <a:rPr lang="en-US" sz="4450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Hệ thống nhận diện mức độ nguy hiểm của động vật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366233" y="4223841"/>
            <a:ext cx="7556421" cy="3448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Môn học</a:t>
            </a:r>
            <a:r>
              <a:rPr lang="en-US" sz="24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: Hệ thống thông minh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4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Sinh </a:t>
            </a:r>
            <a:r>
              <a:rPr lang="en-US" sz="24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viên</a:t>
            </a:r>
            <a:r>
              <a:rPr lang="en-US" sz="24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: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4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	Lý Lâm Vũ (23050102)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4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	Lê Tuấn Hải ( 23050115)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4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	Nguyễn </a:t>
            </a:r>
            <a:r>
              <a:rPr lang="en-US" sz="24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Tuấn Anh (</a:t>
            </a:r>
            <a:r>
              <a:rPr lang="en-US" sz="24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23050118)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2400">
              <a:solidFill>
                <a:srgbClr val="464646"/>
              </a:solidFill>
              <a:latin typeface="Arimo Medium" pitchFamily="34" charset="0"/>
              <a:ea typeface="Arimo Medium" pitchFamily="34" charset="-122"/>
              <a:cs typeface="Arimo Medium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4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GVHD: </a:t>
            </a:r>
            <a:r>
              <a:rPr lang="en-US" sz="24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ThS</a:t>
            </a:r>
            <a:r>
              <a:rPr lang="en-US" sz="24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. Lê Duy Hùng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145724-077A-D8C6-289C-845E801A0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629608" cy="11195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36FD19-4940-E9BD-27FB-058B9C38B1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270" t="25" r="13421" b="-25"/>
          <a:stretch>
            <a:fillRect/>
          </a:stretch>
        </p:blipFill>
        <p:spPr>
          <a:xfrm>
            <a:off x="9144000" y="0"/>
            <a:ext cx="5486399" cy="82316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32" y="419933"/>
            <a:ext cx="13638133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3200" b="1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Nội dung báo cáo: </a:t>
            </a:r>
            <a:endParaRPr lang="en-US" sz="3200" b="1" dirty="0"/>
          </a:p>
        </p:txBody>
      </p:sp>
      <p:sp>
        <p:nvSpPr>
          <p:cNvPr id="4" name="Shape 2"/>
          <p:cNvSpPr/>
          <p:nvPr/>
        </p:nvSpPr>
        <p:spPr>
          <a:xfrm>
            <a:off x="636809" y="2058503"/>
            <a:ext cx="13638133" cy="119469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2049" y="2086073"/>
            <a:ext cx="566976" cy="1151887"/>
          </a:xfrm>
          <a:prstGeom prst="roundRect">
            <a:avLst>
              <a:gd name="adj" fmla="val 727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9214" y="2618835"/>
            <a:ext cx="21264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b="1" dirty="0">
                <a:solidFill>
                  <a:srgbClr val="464646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1</a:t>
            </a:r>
            <a:endParaRPr lang="en-US" sz="2400" b="1" dirty="0"/>
          </a:p>
        </p:txBody>
      </p:sp>
      <p:sp>
        <p:nvSpPr>
          <p:cNvPr id="7" name="Text 5"/>
          <p:cNvSpPr/>
          <p:nvPr/>
        </p:nvSpPr>
        <p:spPr>
          <a:xfrm>
            <a:off x="1307608" y="2420877"/>
            <a:ext cx="3062168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800" b="1">
                <a:solidFill>
                  <a:srgbClr val="464646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Giới thiệu dự án</a:t>
            </a:r>
            <a:endParaRPr lang="en-US" sz="2800" b="1" dirty="0"/>
          </a:p>
        </p:txBody>
      </p:sp>
      <p:sp>
        <p:nvSpPr>
          <p:cNvPr id="8" name="Text 6"/>
          <p:cNvSpPr/>
          <p:nvPr/>
        </p:nvSpPr>
        <p:spPr>
          <a:xfrm>
            <a:off x="1307608" y="2938271"/>
            <a:ext cx="12810411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4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Tổng </a:t>
            </a:r>
            <a:r>
              <a:rPr lang="en-US" sz="24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quan về dự án cũng như các thành viên.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36807" y="3822996"/>
            <a:ext cx="13638133" cy="119469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2047" y="3850566"/>
            <a:ext cx="566976" cy="1151887"/>
          </a:xfrm>
          <a:prstGeom prst="roundRect">
            <a:avLst>
              <a:gd name="adj" fmla="val 727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9212" y="4383328"/>
            <a:ext cx="21264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b="1" dirty="0">
                <a:solidFill>
                  <a:srgbClr val="464646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2</a:t>
            </a:r>
            <a:endParaRPr lang="en-US" sz="2400" b="1" dirty="0"/>
          </a:p>
        </p:txBody>
      </p:sp>
      <p:sp>
        <p:nvSpPr>
          <p:cNvPr id="12" name="Text 10"/>
          <p:cNvSpPr/>
          <p:nvPr/>
        </p:nvSpPr>
        <p:spPr>
          <a:xfrm>
            <a:off x="1307606" y="4229200"/>
            <a:ext cx="186023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800" b="1">
                <a:solidFill>
                  <a:srgbClr val="464646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Kiến trúc hệ thống, workflow</a:t>
            </a:r>
            <a:endParaRPr lang="en-US" sz="2800" b="1" dirty="0"/>
          </a:p>
        </p:txBody>
      </p:sp>
      <p:sp>
        <p:nvSpPr>
          <p:cNvPr id="13" name="Text 11"/>
          <p:cNvSpPr/>
          <p:nvPr/>
        </p:nvSpPr>
        <p:spPr>
          <a:xfrm>
            <a:off x="1307606" y="4702764"/>
            <a:ext cx="12810411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4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Kế hoạch triển khai dự án, luồng hoạt động logic của dự án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36806" y="5521911"/>
            <a:ext cx="13638133" cy="119469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52046" y="5549481"/>
            <a:ext cx="566976" cy="1151887"/>
          </a:xfrm>
          <a:prstGeom prst="roundRect">
            <a:avLst>
              <a:gd name="adj" fmla="val 727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9211" y="6082243"/>
            <a:ext cx="21264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b="1" dirty="0">
                <a:solidFill>
                  <a:srgbClr val="464646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3</a:t>
            </a:r>
            <a:endParaRPr lang="en-US" sz="2400" b="1" dirty="0"/>
          </a:p>
        </p:txBody>
      </p:sp>
      <p:sp>
        <p:nvSpPr>
          <p:cNvPr id="17" name="Text 15"/>
          <p:cNvSpPr/>
          <p:nvPr/>
        </p:nvSpPr>
        <p:spPr>
          <a:xfrm>
            <a:off x="1307608" y="5948857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800" b="1">
                <a:solidFill>
                  <a:srgbClr val="464646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Nguồn dữ liệu</a:t>
            </a:r>
            <a:endParaRPr lang="en-US" sz="2800" b="1" dirty="0"/>
          </a:p>
        </p:txBody>
      </p:sp>
      <p:sp>
        <p:nvSpPr>
          <p:cNvPr id="18" name="Text 16"/>
          <p:cNvSpPr/>
          <p:nvPr/>
        </p:nvSpPr>
        <p:spPr>
          <a:xfrm>
            <a:off x="1307605" y="6401679"/>
            <a:ext cx="12810411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4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Quá trình nhóm tìm kiếm và thu thập dữ liệu.</a:t>
            </a:r>
            <a:endParaRPr lang="en-US" sz="24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D5A444C-3104-40BF-D807-58F13E0015EC}"/>
              </a:ext>
            </a:extLst>
          </p:cNvPr>
          <p:cNvGrpSpPr/>
          <p:nvPr/>
        </p:nvGrpSpPr>
        <p:grpSpPr>
          <a:xfrm>
            <a:off x="-15128560" y="2177435"/>
            <a:ext cx="13638133" cy="1194698"/>
            <a:chOff x="526613" y="6164793"/>
            <a:chExt cx="13638133" cy="1194698"/>
          </a:xfrm>
        </p:grpSpPr>
        <p:sp>
          <p:nvSpPr>
            <p:cNvPr id="19" name="Shape 17"/>
            <p:cNvSpPr/>
            <p:nvPr/>
          </p:nvSpPr>
          <p:spPr>
            <a:xfrm>
              <a:off x="526613" y="6164793"/>
              <a:ext cx="13638133" cy="1194698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5240">
              <a:solidFill>
                <a:srgbClr val="D8D4D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8"/>
            <p:cNvSpPr/>
            <p:nvPr/>
          </p:nvSpPr>
          <p:spPr>
            <a:xfrm>
              <a:off x="541853" y="6192363"/>
              <a:ext cx="566976" cy="1151887"/>
            </a:xfrm>
            <a:prstGeom prst="roundRect">
              <a:avLst>
                <a:gd name="adj" fmla="val 7276"/>
              </a:avLst>
            </a:prstGeom>
            <a:solidFill>
              <a:srgbClr val="F2EEE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719018" y="6725125"/>
              <a:ext cx="212646" cy="26574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2400" b="1" dirty="0">
                  <a:solidFill>
                    <a:srgbClr val="464646"/>
                  </a:solidFill>
                  <a:latin typeface="Arimo Semi Bold" pitchFamily="34" charset="0"/>
                  <a:ea typeface="Arimo Semi Bold" pitchFamily="34" charset="-122"/>
                  <a:cs typeface="Arimo Semi Bold" pitchFamily="34" charset="-120"/>
                </a:rPr>
                <a:t>4</a:t>
              </a:r>
              <a:endParaRPr lang="en-US" sz="2400" b="1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197412" y="6546637"/>
              <a:ext cx="1887022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2800" b="1">
                  <a:solidFill>
                    <a:srgbClr val="464646"/>
                  </a:solidFill>
                  <a:latin typeface="Arimo Semi Bold" pitchFamily="34" charset="0"/>
                  <a:ea typeface="Arimo Semi Bold" pitchFamily="34" charset="-122"/>
                  <a:cs typeface="Arimo Semi Bold" pitchFamily="34" charset="-120"/>
                </a:rPr>
                <a:t>Các thành phần quan trọng</a:t>
              </a:r>
              <a:endParaRPr lang="en-US" sz="2800" b="1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197412" y="7044561"/>
              <a:ext cx="12810411" cy="1843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50"/>
                </a:lnSpc>
                <a:buNone/>
              </a:pPr>
              <a:r>
                <a:rPr lang="en-US" sz="2400">
                  <a:solidFill>
                    <a:srgbClr val="464646"/>
                  </a:solidFill>
                  <a:latin typeface="Arimo Medium" pitchFamily="34" charset="0"/>
                  <a:ea typeface="Arimo Medium" pitchFamily="34" charset="-122"/>
                  <a:cs typeface="Arimo Medium" pitchFamily="34" charset="-120"/>
                </a:rPr>
                <a:t>Phân tích sâu hơn về IOT, AI models, Fuzzy Logic</a:t>
              </a:r>
              <a:endParaRPr lang="en-US" sz="240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7663BB8-E167-3156-2791-D3E57DC72AB7}"/>
              </a:ext>
            </a:extLst>
          </p:cNvPr>
          <p:cNvGrpSpPr/>
          <p:nvPr/>
        </p:nvGrpSpPr>
        <p:grpSpPr>
          <a:xfrm>
            <a:off x="-15128559" y="5305511"/>
            <a:ext cx="13638133" cy="1194697"/>
            <a:chOff x="-15128558" y="5225629"/>
            <a:chExt cx="13638133" cy="1194697"/>
          </a:xfrm>
        </p:grpSpPr>
        <p:sp>
          <p:nvSpPr>
            <p:cNvPr id="29" name="Shape 27"/>
            <p:cNvSpPr/>
            <p:nvPr/>
          </p:nvSpPr>
          <p:spPr>
            <a:xfrm>
              <a:off x="-15128558" y="5225629"/>
              <a:ext cx="13638133" cy="1194697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5240">
              <a:solidFill>
                <a:srgbClr val="D8D4D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28"/>
            <p:cNvSpPr/>
            <p:nvPr/>
          </p:nvSpPr>
          <p:spPr>
            <a:xfrm>
              <a:off x="-15113318" y="5253201"/>
              <a:ext cx="566976" cy="1151886"/>
            </a:xfrm>
            <a:prstGeom prst="roundRect">
              <a:avLst>
                <a:gd name="adj" fmla="val 7276"/>
              </a:avLst>
            </a:prstGeom>
            <a:solidFill>
              <a:srgbClr val="F2EEE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-14936153" y="5781302"/>
              <a:ext cx="212646" cy="26574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2400" b="1" dirty="0">
                  <a:solidFill>
                    <a:srgbClr val="464646"/>
                  </a:solidFill>
                  <a:latin typeface="Arimo Semi Bold" pitchFamily="34" charset="0"/>
                  <a:ea typeface="Arimo Semi Bold" pitchFamily="34" charset="-122"/>
                  <a:cs typeface="Arimo Semi Bold" pitchFamily="34" charset="-120"/>
                </a:rPr>
                <a:t>6</a:t>
              </a:r>
              <a:endParaRPr lang="en-US" sz="2400" b="1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-14457759" y="5559846"/>
              <a:ext cx="1772007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2800" b="1">
                  <a:solidFill>
                    <a:srgbClr val="464646"/>
                  </a:solidFill>
                  <a:latin typeface="Arimo Semi Bold" pitchFamily="34" charset="0"/>
                  <a:ea typeface="Arimo Semi Bold" pitchFamily="34" charset="-122"/>
                  <a:cs typeface="Arimo Semi Bold" pitchFamily="34" charset="-120"/>
                </a:rPr>
                <a:t>Demo</a:t>
              </a:r>
              <a:endParaRPr lang="en-US" sz="2800" b="1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-14457759" y="6105397"/>
              <a:ext cx="12810411" cy="1843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50"/>
                </a:lnSpc>
                <a:buNone/>
              </a:pPr>
              <a:r>
                <a:rPr lang="en-US" sz="2400" dirty="0">
                  <a:solidFill>
                    <a:srgbClr val="464646"/>
                  </a:solidFill>
                  <a:latin typeface="Arimo Medium" pitchFamily="34" charset="0"/>
                  <a:ea typeface="Arimo Medium" pitchFamily="34" charset="-122"/>
                  <a:cs typeface="Arimo Medium" pitchFamily="34" charset="-120"/>
                </a:rPr>
                <a:t>Trình diễn hoạt động và đánh giá các tính năng của mô phỏng.</a:t>
              </a:r>
              <a:endParaRPr lang="en-US" sz="2400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BE9EA2A-CB60-37C0-96AD-E209B5E5A475}"/>
              </a:ext>
            </a:extLst>
          </p:cNvPr>
          <p:cNvGrpSpPr/>
          <p:nvPr/>
        </p:nvGrpSpPr>
        <p:grpSpPr>
          <a:xfrm>
            <a:off x="-15113318" y="3860457"/>
            <a:ext cx="13638133" cy="1194697"/>
            <a:chOff x="-15113318" y="3860457"/>
            <a:chExt cx="13638133" cy="1194697"/>
          </a:xfrm>
        </p:grpSpPr>
        <p:sp>
          <p:nvSpPr>
            <p:cNvPr id="24" name="Shape 22"/>
            <p:cNvSpPr/>
            <p:nvPr/>
          </p:nvSpPr>
          <p:spPr>
            <a:xfrm>
              <a:off x="-15113318" y="3860457"/>
              <a:ext cx="13638133" cy="1194697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5240">
              <a:solidFill>
                <a:srgbClr val="D8D4D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5"/>
            <p:cNvSpPr/>
            <p:nvPr/>
          </p:nvSpPr>
          <p:spPr>
            <a:xfrm>
              <a:off x="-14457760" y="4194674"/>
              <a:ext cx="1772007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2800" b="1">
                  <a:solidFill>
                    <a:srgbClr val="464646"/>
                  </a:solidFill>
                  <a:latin typeface="Arimo Semi Bold" pitchFamily="34" charset="0"/>
                  <a:ea typeface="Arimo Semi Bold" pitchFamily="34" charset="-122"/>
                  <a:cs typeface="Arimo Semi Bold" pitchFamily="34" charset="-120"/>
                </a:rPr>
                <a:t>Kết luận dự án</a:t>
              </a:r>
              <a:endParaRPr lang="en-US" sz="2800" b="1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-14442519" y="4740225"/>
              <a:ext cx="12810411" cy="1843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50"/>
                </a:lnSpc>
                <a:buNone/>
              </a:pPr>
              <a:r>
                <a:rPr lang="en-US" sz="2400" dirty="0">
                  <a:solidFill>
                    <a:srgbClr val="464646"/>
                  </a:solidFill>
                  <a:latin typeface="Arimo Medium" pitchFamily="34" charset="0"/>
                  <a:ea typeface="Arimo Medium" pitchFamily="34" charset="-122"/>
                  <a:cs typeface="Arimo Medium" pitchFamily="34" charset="-120"/>
                </a:rPr>
                <a:t>Biến đổi phân cấp, chiếu sáng Phong, kỹ </a:t>
              </a:r>
              <a:r>
                <a:rPr lang="en-US" sz="2400">
                  <a:solidFill>
                    <a:srgbClr val="464646"/>
                  </a:solidFill>
                  <a:latin typeface="Arimo Medium" pitchFamily="34" charset="0"/>
                  <a:ea typeface="Arimo Medium" pitchFamily="34" charset="-122"/>
                  <a:cs typeface="Arimo Medium" pitchFamily="34" charset="-120"/>
                </a:rPr>
                <a:t>thuật camera.</a:t>
              </a:r>
              <a:endParaRPr lang="en-US" sz="24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-15098078" y="3889575"/>
              <a:ext cx="566976" cy="1151886"/>
            </a:xfrm>
            <a:prstGeom prst="roundRect">
              <a:avLst>
                <a:gd name="adj" fmla="val 7276"/>
              </a:avLst>
            </a:prstGeom>
            <a:solidFill>
              <a:srgbClr val="F2EEE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 24"/>
          <p:cNvSpPr/>
          <p:nvPr/>
        </p:nvSpPr>
        <p:spPr>
          <a:xfrm>
            <a:off x="-14920913" y="4391475"/>
            <a:ext cx="21264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b="1" dirty="0">
                <a:solidFill>
                  <a:srgbClr val="464646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5</a:t>
            </a:r>
            <a:endParaRPr lang="en-US" sz="2400" b="1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166CD17-DB36-289A-CA9F-692FBCE6AC82}"/>
              </a:ext>
            </a:extLst>
          </p:cNvPr>
          <p:cNvSpPr/>
          <p:nvPr/>
        </p:nvSpPr>
        <p:spPr>
          <a:xfrm>
            <a:off x="-27509" y="7789567"/>
            <a:ext cx="1047277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b="1">
                <a:solidFill>
                  <a:srgbClr val="030303"/>
                </a:solidFill>
                <a:highlight>
                  <a:srgbClr val="C0C0C0"/>
                </a:highlight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 02 / 20  </a:t>
            </a:r>
            <a:endParaRPr lang="en-US" b="1" dirty="0">
              <a:highlight>
                <a:srgbClr val="C0C0C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83D34-F208-369A-9B34-14A6F7102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2E8ED2E-C768-0B28-A245-B03E91AD2F77}"/>
              </a:ext>
            </a:extLst>
          </p:cNvPr>
          <p:cNvSpPr/>
          <p:nvPr/>
        </p:nvSpPr>
        <p:spPr>
          <a:xfrm>
            <a:off x="496132" y="419933"/>
            <a:ext cx="13638133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3200" b="1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Nội dung báo cáo: </a:t>
            </a:r>
            <a:endParaRPr lang="en-US" sz="3200" b="1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29D299-830C-236D-8A83-D82603C20F8E}"/>
              </a:ext>
            </a:extLst>
          </p:cNvPr>
          <p:cNvSpPr/>
          <p:nvPr/>
        </p:nvSpPr>
        <p:spPr>
          <a:xfrm>
            <a:off x="16212089" y="1997543"/>
            <a:ext cx="13638133" cy="119469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3032965-61C2-7FEF-2320-543B821B1784}"/>
              </a:ext>
            </a:extLst>
          </p:cNvPr>
          <p:cNvSpPr/>
          <p:nvPr/>
        </p:nvSpPr>
        <p:spPr>
          <a:xfrm>
            <a:off x="16227329" y="2025113"/>
            <a:ext cx="566976" cy="1151887"/>
          </a:xfrm>
          <a:prstGeom prst="roundRect">
            <a:avLst>
              <a:gd name="adj" fmla="val 727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909765E-9C1D-73C1-833C-917C5F33ADF6}"/>
              </a:ext>
            </a:extLst>
          </p:cNvPr>
          <p:cNvSpPr/>
          <p:nvPr/>
        </p:nvSpPr>
        <p:spPr>
          <a:xfrm>
            <a:off x="16404494" y="2557875"/>
            <a:ext cx="21264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b="1" dirty="0">
                <a:solidFill>
                  <a:srgbClr val="464646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1</a:t>
            </a:r>
            <a:endParaRPr lang="en-US" sz="2400" b="1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2F7AFF3-4A82-B41E-7691-CCB9F021B514}"/>
              </a:ext>
            </a:extLst>
          </p:cNvPr>
          <p:cNvSpPr/>
          <p:nvPr/>
        </p:nvSpPr>
        <p:spPr>
          <a:xfrm>
            <a:off x="16882888" y="2359917"/>
            <a:ext cx="3062168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800" b="1">
                <a:solidFill>
                  <a:srgbClr val="464646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Giới thiệu dự án</a:t>
            </a:r>
            <a:endParaRPr lang="en-US" sz="2800" b="1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24AEE0C-D6F8-3D7B-4E7C-2B890596DA86}"/>
              </a:ext>
            </a:extLst>
          </p:cNvPr>
          <p:cNvSpPr/>
          <p:nvPr/>
        </p:nvSpPr>
        <p:spPr>
          <a:xfrm>
            <a:off x="16882888" y="2877311"/>
            <a:ext cx="12810411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4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Tổng </a:t>
            </a:r>
            <a:r>
              <a:rPr lang="en-US" sz="24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quan về dự án cũng như các thành viên.</a:t>
            </a:r>
            <a:endParaRPr lang="en-US" sz="24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8D5BF88-A391-5667-E8D8-B8B1D4ED2B07}"/>
              </a:ext>
            </a:extLst>
          </p:cNvPr>
          <p:cNvSpPr/>
          <p:nvPr/>
        </p:nvSpPr>
        <p:spPr>
          <a:xfrm>
            <a:off x="16212087" y="3762036"/>
            <a:ext cx="13638133" cy="119469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7818785-6B30-058D-ABA8-E9A93A0BCDE8}"/>
              </a:ext>
            </a:extLst>
          </p:cNvPr>
          <p:cNvSpPr/>
          <p:nvPr/>
        </p:nvSpPr>
        <p:spPr>
          <a:xfrm>
            <a:off x="16227327" y="3789606"/>
            <a:ext cx="566976" cy="1151887"/>
          </a:xfrm>
          <a:prstGeom prst="roundRect">
            <a:avLst>
              <a:gd name="adj" fmla="val 727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AE80017-7F02-01CF-C526-F43F4DFBDB4B}"/>
              </a:ext>
            </a:extLst>
          </p:cNvPr>
          <p:cNvSpPr/>
          <p:nvPr/>
        </p:nvSpPr>
        <p:spPr>
          <a:xfrm>
            <a:off x="16404492" y="4322368"/>
            <a:ext cx="21264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b="1" dirty="0">
                <a:solidFill>
                  <a:srgbClr val="464646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2</a:t>
            </a:r>
            <a:endParaRPr lang="en-US" sz="2400" b="1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F50B9D9-DCDC-2619-0AB2-F4CD5092C387}"/>
              </a:ext>
            </a:extLst>
          </p:cNvPr>
          <p:cNvSpPr/>
          <p:nvPr/>
        </p:nvSpPr>
        <p:spPr>
          <a:xfrm>
            <a:off x="16882886" y="4168240"/>
            <a:ext cx="186023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800" b="1">
                <a:solidFill>
                  <a:srgbClr val="464646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Kiến trúc hệ thống, workflow</a:t>
            </a:r>
            <a:endParaRPr lang="en-US" sz="2800" b="1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AD1CCD1-283D-7CDF-5FC3-92845A62F513}"/>
              </a:ext>
            </a:extLst>
          </p:cNvPr>
          <p:cNvSpPr/>
          <p:nvPr/>
        </p:nvSpPr>
        <p:spPr>
          <a:xfrm>
            <a:off x="16882886" y="4641804"/>
            <a:ext cx="12810411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4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Kế hoạch triển khai dự án, luồng hoạt động logic của dự án</a:t>
            </a:r>
            <a:endParaRPr lang="en-US" sz="24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CB98C61-6D41-DA95-F5E0-6647972E1161}"/>
              </a:ext>
            </a:extLst>
          </p:cNvPr>
          <p:cNvSpPr/>
          <p:nvPr/>
        </p:nvSpPr>
        <p:spPr>
          <a:xfrm>
            <a:off x="16212086" y="5460951"/>
            <a:ext cx="13638133" cy="119469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FFD6029-8A0D-C7FB-5314-D0CA85884ED1}"/>
              </a:ext>
            </a:extLst>
          </p:cNvPr>
          <p:cNvSpPr/>
          <p:nvPr/>
        </p:nvSpPr>
        <p:spPr>
          <a:xfrm>
            <a:off x="16227326" y="5488521"/>
            <a:ext cx="566976" cy="1151887"/>
          </a:xfrm>
          <a:prstGeom prst="roundRect">
            <a:avLst>
              <a:gd name="adj" fmla="val 727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1BCE897-8BB0-B7FD-6A9E-845BC9D39FE8}"/>
              </a:ext>
            </a:extLst>
          </p:cNvPr>
          <p:cNvSpPr/>
          <p:nvPr/>
        </p:nvSpPr>
        <p:spPr>
          <a:xfrm>
            <a:off x="16404491" y="6021283"/>
            <a:ext cx="21264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b="1" dirty="0">
                <a:solidFill>
                  <a:srgbClr val="464646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3</a:t>
            </a:r>
            <a:endParaRPr lang="en-US" sz="2400" b="1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96082C0-789D-493A-39DB-BA6BA753C02C}"/>
              </a:ext>
            </a:extLst>
          </p:cNvPr>
          <p:cNvSpPr/>
          <p:nvPr/>
        </p:nvSpPr>
        <p:spPr>
          <a:xfrm>
            <a:off x="16882888" y="5887897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800" b="1">
                <a:solidFill>
                  <a:srgbClr val="464646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Nguồn dữ liệu</a:t>
            </a:r>
            <a:endParaRPr lang="en-US" sz="2800" b="1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22CAD50-7B26-F471-73A5-06A208A7D3A0}"/>
              </a:ext>
            </a:extLst>
          </p:cNvPr>
          <p:cNvSpPr/>
          <p:nvPr/>
        </p:nvSpPr>
        <p:spPr>
          <a:xfrm>
            <a:off x="16882885" y="6340719"/>
            <a:ext cx="12810411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4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Quá trình nhóm tìm kiếm và thu thập dữ liệu.</a:t>
            </a:r>
            <a:endParaRPr lang="en-US" sz="24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CE41841-9DFF-4481-8F11-D2F06B4700BB}"/>
              </a:ext>
            </a:extLst>
          </p:cNvPr>
          <p:cNvGrpSpPr/>
          <p:nvPr/>
        </p:nvGrpSpPr>
        <p:grpSpPr>
          <a:xfrm>
            <a:off x="461960" y="2220560"/>
            <a:ext cx="13638133" cy="1194698"/>
            <a:chOff x="526613" y="6164793"/>
            <a:chExt cx="13638133" cy="1194698"/>
          </a:xfrm>
        </p:grpSpPr>
        <p:sp>
          <p:nvSpPr>
            <p:cNvPr id="19" name="Shape 17">
              <a:extLst>
                <a:ext uri="{FF2B5EF4-FFF2-40B4-BE49-F238E27FC236}">
                  <a16:creationId xmlns:a16="http://schemas.microsoft.com/office/drawing/2014/main" id="{7A577C94-3F54-9D97-2030-9F52E14DEF00}"/>
                </a:ext>
              </a:extLst>
            </p:cNvPr>
            <p:cNvSpPr/>
            <p:nvPr/>
          </p:nvSpPr>
          <p:spPr>
            <a:xfrm>
              <a:off x="526613" y="6164793"/>
              <a:ext cx="13638133" cy="1194698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5240">
              <a:solidFill>
                <a:srgbClr val="D8D4D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C8AD1E9E-5D44-AB3A-444C-D31841B3DE66}"/>
                </a:ext>
              </a:extLst>
            </p:cNvPr>
            <p:cNvSpPr/>
            <p:nvPr/>
          </p:nvSpPr>
          <p:spPr>
            <a:xfrm>
              <a:off x="541853" y="6192363"/>
              <a:ext cx="566976" cy="1151887"/>
            </a:xfrm>
            <a:prstGeom prst="roundRect">
              <a:avLst>
                <a:gd name="adj" fmla="val 7276"/>
              </a:avLst>
            </a:prstGeom>
            <a:solidFill>
              <a:srgbClr val="F2EEE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3C7BDDB3-82FA-7E5B-DC23-AF11D5D5E30C}"/>
                </a:ext>
              </a:extLst>
            </p:cNvPr>
            <p:cNvSpPr/>
            <p:nvPr/>
          </p:nvSpPr>
          <p:spPr>
            <a:xfrm>
              <a:off x="719018" y="6725125"/>
              <a:ext cx="212646" cy="26574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2400" b="1" dirty="0">
                  <a:solidFill>
                    <a:srgbClr val="464646"/>
                  </a:solidFill>
                  <a:latin typeface="Arimo Semi Bold" pitchFamily="34" charset="0"/>
                  <a:ea typeface="Arimo Semi Bold" pitchFamily="34" charset="-122"/>
                  <a:cs typeface="Arimo Semi Bold" pitchFamily="34" charset="-120"/>
                </a:rPr>
                <a:t>4</a:t>
              </a:r>
              <a:endParaRPr lang="en-US" sz="2400" b="1" dirty="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3E70DCB1-520F-BBC1-D5ED-A07100C3F537}"/>
                </a:ext>
              </a:extLst>
            </p:cNvPr>
            <p:cNvSpPr/>
            <p:nvPr/>
          </p:nvSpPr>
          <p:spPr>
            <a:xfrm>
              <a:off x="1197412" y="6546637"/>
              <a:ext cx="1887022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2800" b="1">
                  <a:solidFill>
                    <a:srgbClr val="464646"/>
                  </a:solidFill>
                  <a:latin typeface="Arimo Semi Bold" pitchFamily="34" charset="0"/>
                  <a:ea typeface="Arimo Semi Bold" pitchFamily="34" charset="-122"/>
                  <a:cs typeface="Arimo Semi Bold" pitchFamily="34" charset="-120"/>
                </a:rPr>
                <a:t>Các thành phần quan trọng</a:t>
              </a:r>
              <a:endParaRPr lang="en-US" sz="2800" b="1" dirty="0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8B9D392E-14BC-1A6D-1503-80D9FF3D30D2}"/>
                </a:ext>
              </a:extLst>
            </p:cNvPr>
            <p:cNvSpPr/>
            <p:nvPr/>
          </p:nvSpPr>
          <p:spPr>
            <a:xfrm>
              <a:off x="1197412" y="7044561"/>
              <a:ext cx="12810411" cy="1843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50"/>
                </a:lnSpc>
                <a:buNone/>
              </a:pPr>
              <a:r>
                <a:rPr lang="en-US" sz="2400">
                  <a:solidFill>
                    <a:srgbClr val="464646"/>
                  </a:solidFill>
                  <a:latin typeface="Arimo Medium" pitchFamily="34" charset="0"/>
                  <a:ea typeface="Arimo Medium" pitchFamily="34" charset="-122"/>
                  <a:cs typeface="Arimo Medium" pitchFamily="34" charset="-120"/>
                </a:rPr>
                <a:t>Phân tích sâu hơn về IOT, AI models, Fuzzy Logic</a:t>
              </a:r>
              <a:endParaRPr lang="en-US" sz="240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2010E90-3F83-6767-B477-FF23D7C8CEDE}"/>
              </a:ext>
            </a:extLst>
          </p:cNvPr>
          <p:cNvGrpSpPr/>
          <p:nvPr/>
        </p:nvGrpSpPr>
        <p:grpSpPr>
          <a:xfrm>
            <a:off x="446721" y="5244551"/>
            <a:ext cx="13638133" cy="1194697"/>
            <a:chOff x="-15128558" y="5225629"/>
            <a:chExt cx="13638133" cy="1194697"/>
          </a:xfrm>
        </p:grpSpPr>
        <p:sp>
          <p:nvSpPr>
            <p:cNvPr id="29" name="Shape 27">
              <a:extLst>
                <a:ext uri="{FF2B5EF4-FFF2-40B4-BE49-F238E27FC236}">
                  <a16:creationId xmlns:a16="http://schemas.microsoft.com/office/drawing/2014/main" id="{F7964B52-35AB-A292-A638-2CF79B9A2201}"/>
                </a:ext>
              </a:extLst>
            </p:cNvPr>
            <p:cNvSpPr/>
            <p:nvPr/>
          </p:nvSpPr>
          <p:spPr>
            <a:xfrm>
              <a:off x="-15128558" y="5225629"/>
              <a:ext cx="13638133" cy="1194697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5240">
              <a:solidFill>
                <a:srgbClr val="D8D4D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28">
              <a:extLst>
                <a:ext uri="{FF2B5EF4-FFF2-40B4-BE49-F238E27FC236}">
                  <a16:creationId xmlns:a16="http://schemas.microsoft.com/office/drawing/2014/main" id="{5A3645AA-E752-436F-8E6B-8500E1BE9FD3}"/>
                </a:ext>
              </a:extLst>
            </p:cNvPr>
            <p:cNvSpPr/>
            <p:nvPr/>
          </p:nvSpPr>
          <p:spPr>
            <a:xfrm>
              <a:off x="-15113318" y="5253201"/>
              <a:ext cx="566976" cy="1151886"/>
            </a:xfrm>
            <a:prstGeom prst="roundRect">
              <a:avLst>
                <a:gd name="adj" fmla="val 7276"/>
              </a:avLst>
            </a:prstGeom>
            <a:solidFill>
              <a:srgbClr val="F2EEE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03E92E09-912A-AE92-3BF1-C8A2748DAF0F}"/>
                </a:ext>
              </a:extLst>
            </p:cNvPr>
            <p:cNvSpPr/>
            <p:nvPr/>
          </p:nvSpPr>
          <p:spPr>
            <a:xfrm>
              <a:off x="-14936153" y="5781302"/>
              <a:ext cx="212646" cy="26574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2400" b="1" dirty="0">
                  <a:solidFill>
                    <a:srgbClr val="464646"/>
                  </a:solidFill>
                  <a:latin typeface="Arimo Semi Bold" pitchFamily="34" charset="0"/>
                  <a:ea typeface="Arimo Semi Bold" pitchFamily="34" charset="-122"/>
                  <a:cs typeface="Arimo Semi Bold" pitchFamily="34" charset="-120"/>
                </a:rPr>
                <a:t>6</a:t>
              </a:r>
              <a:endParaRPr lang="en-US" sz="2400" b="1" dirty="0"/>
            </a:p>
          </p:txBody>
        </p:sp>
        <p:sp>
          <p:nvSpPr>
            <p:cNvPr id="32" name="Text 30">
              <a:extLst>
                <a:ext uri="{FF2B5EF4-FFF2-40B4-BE49-F238E27FC236}">
                  <a16:creationId xmlns:a16="http://schemas.microsoft.com/office/drawing/2014/main" id="{931FD664-5A79-6DC2-1C0F-EEC7ED6B6820}"/>
                </a:ext>
              </a:extLst>
            </p:cNvPr>
            <p:cNvSpPr/>
            <p:nvPr/>
          </p:nvSpPr>
          <p:spPr>
            <a:xfrm>
              <a:off x="-14457759" y="5559846"/>
              <a:ext cx="1772007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2800" b="1">
                  <a:solidFill>
                    <a:srgbClr val="464646"/>
                  </a:solidFill>
                  <a:latin typeface="Arimo Semi Bold" pitchFamily="34" charset="0"/>
                  <a:ea typeface="Arimo Semi Bold" pitchFamily="34" charset="-122"/>
                  <a:cs typeface="Arimo Semi Bold" pitchFamily="34" charset="-120"/>
                </a:rPr>
                <a:t>Demo</a:t>
              </a:r>
              <a:endParaRPr lang="en-US" sz="2800" b="1" dirty="0"/>
            </a:p>
          </p:txBody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F75EDDFD-C414-E24C-E16E-2AD0D724E9B2}"/>
                </a:ext>
              </a:extLst>
            </p:cNvPr>
            <p:cNvSpPr/>
            <p:nvPr/>
          </p:nvSpPr>
          <p:spPr>
            <a:xfrm>
              <a:off x="-14457759" y="6105397"/>
              <a:ext cx="12810411" cy="1843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50"/>
                </a:lnSpc>
                <a:buNone/>
              </a:pPr>
              <a:r>
                <a:rPr lang="en-US" sz="2400" dirty="0">
                  <a:solidFill>
                    <a:srgbClr val="464646"/>
                  </a:solidFill>
                  <a:latin typeface="Arimo Medium" pitchFamily="34" charset="0"/>
                  <a:ea typeface="Arimo Medium" pitchFamily="34" charset="-122"/>
                  <a:cs typeface="Arimo Medium" pitchFamily="34" charset="-120"/>
                </a:rPr>
                <a:t>Trình diễn hoạt động và đánh giá các tính năng của mô phỏng.</a:t>
              </a:r>
              <a:endParaRPr lang="en-US" sz="2400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051D194-0953-B813-D449-09070B012228}"/>
              </a:ext>
            </a:extLst>
          </p:cNvPr>
          <p:cNvGrpSpPr/>
          <p:nvPr/>
        </p:nvGrpSpPr>
        <p:grpSpPr>
          <a:xfrm>
            <a:off x="461962" y="3799497"/>
            <a:ext cx="13638133" cy="1194697"/>
            <a:chOff x="-15113318" y="3860457"/>
            <a:chExt cx="13638133" cy="1194697"/>
          </a:xfrm>
        </p:grpSpPr>
        <p:sp>
          <p:nvSpPr>
            <p:cNvPr id="24" name="Shape 22">
              <a:extLst>
                <a:ext uri="{FF2B5EF4-FFF2-40B4-BE49-F238E27FC236}">
                  <a16:creationId xmlns:a16="http://schemas.microsoft.com/office/drawing/2014/main" id="{4A863C2D-695B-998D-423A-276B6CAF9300}"/>
                </a:ext>
              </a:extLst>
            </p:cNvPr>
            <p:cNvSpPr/>
            <p:nvPr/>
          </p:nvSpPr>
          <p:spPr>
            <a:xfrm>
              <a:off x="-15113318" y="3860457"/>
              <a:ext cx="13638133" cy="1194697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15240">
              <a:solidFill>
                <a:srgbClr val="D8D4D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3A5C3B05-7672-F98B-0E11-DAB7F2FBC216}"/>
                </a:ext>
              </a:extLst>
            </p:cNvPr>
            <p:cNvSpPr/>
            <p:nvPr/>
          </p:nvSpPr>
          <p:spPr>
            <a:xfrm>
              <a:off x="-14457760" y="4194674"/>
              <a:ext cx="1772007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700"/>
                </a:lnSpc>
                <a:buNone/>
              </a:pPr>
              <a:r>
                <a:rPr lang="en-US" sz="2800" b="1">
                  <a:solidFill>
                    <a:srgbClr val="464646"/>
                  </a:solidFill>
                  <a:latin typeface="Arimo Semi Bold" pitchFamily="34" charset="0"/>
                  <a:ea typeface="Arimo Semi Bold" pitchFamily="34" charset="-122"/>
                  <a:cs typeface="Arimo Semi Bold" pitchFamily="34" charset="-120"/>
                </a:rPr>
                <a:t>Kết luận dự án</a:t>
              </a:r>
              <a:endParaRPr lang="en-US" sz="2800" b="1" dirty="0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52AAA06A-74CC-38B6-7825-22E378D4F30D}"/>
                </a:ext>
              </a:extLst>
            </p:cNvPr>
            <p:cNvSpPr/>
            <p:nvPr/>
          </p:nvSpPr>
          <p:spPr>
            <a:xfrm>
              <a:off x="-14442519" y="4740225"/>
              <a:ext cx="12810411" cy="1843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50"/>
                </a:lnSpc>
                <a:buNone/>
              </a:pPr>
              <a:r>
                <a:rPr lang="en-US" sz="2400" dirty="0">
                  <a:solidFill>
                    <a:srgbClr val="464646"/>
                  </a:solidFill>
                  <a:latin typeface="Arimo Medium" pitchFamily="34" charset="0"/>
                  <a:ea typeface="Arimo Medium" pitchFamily="34" charset="-122"/>
                  <a:cs typeface="Arimo Medium" pitchFamily="34" charset="-120"/>
                </a:rPr>
                <a:t>Biến đổi phân cấp, chiếu sáng Phong, kỹ </a:t>
              </a:r>
              <a:r>
                <a:rPr lang="en-US" sz="2400">
                  <a:solidFill>
                    <a:srgbClr val="464646"/>
                  </a:solidFill>
                  <a:latin typeface="Arimo Medium" pitchFamily="34" charset="0"/>
                  <a:ea typeface="Arimo Medium" pitchFamily="34" charset="-122"/>
                  <a:cs typeface="Arimo Medium" pitchFamily="34" charset="-120"/>
                </a:rPr>
                <a:t>thuật camera.</a:t>
              </a:r>
              <a:endParaRPr lang="en-US" sz="2400" dirty="0"/>
            </a:p>
          </p:txBody>
        </p:sp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6D1F8244-FFE5-F355-938E-A5F59B3051EA}"/>
                </a:ext>
              </a:extLst>
            </p:cNvPr>
            <p:cNvSpPr/>
            <p:nvPr/>
          </p:nvSpPr>
          <p:spPr>
            <a:xfrm>
              <a:off x="-15098078" y="3889575"/>
              <a:ext cx="566976" cy="1151886"/>
            </a:xfrm>
            <a:prstGeom prst="roundRect">
              <a:avLst>
                <a:gd name="adj" fmla="val 7276"/>
              </a:avLst>
            </a:prstGeom>
            <a:solidFill>
              <a:srgbClr val="F2EEE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 24">
            <a:extLst>
              <a:ext uri="{FF2B5EF4-FFF2-40B4-BE49-F238E27FC236}">
                <a16:creationId xmlns:a16="http://schemas.microsoft.com/office/drawing/2014/main" id="{B482AFB9-5496-6AEB-BFF5-1A4F7DA938DC}"/>
              </a:ext>
            </a:extLst>
          </p:cNvPr>
          <p:cNvSpPr/>
          <p:nvPr/>
        </p:nvSpPr>
        <p:spPr>
          <a:xfrm>
            <a:off x="654367" y="4330515"/>
            <a:ext cx="21264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b="1" dirty="0">
                <a:solidFill>
                  <a:srgbClr val="464646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5</a:t>
            </a:r>
            <a:endParaRPr lang="en-US" sz="2400" b="1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7BDE731-A91D-3A73-ACAB-1BBDA4683E41}"/>
              </a:ext>
            </a:extLst>
          </p:cNvPr>
          <p:cNvSpPr/>
          <p:nvPr/>
        </p:nvSpPr>
        <p:spPr>
          <a:xfrm>
            <a:off x="-27509" y="7789567"/>
            <a:ext cx="1047277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b="1">
                <a:solidFill>
                  <a:srgbClr val="030303"/>
                </a:solidFill>
                <a:highlight>
                  <a:srgbClr val="C0C0C0"/>
                </a:highlight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 02 / 20  </a:t>
            </a:r>
            <a:endParaRPr lang="en-US" b="1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073489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00501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1: Mục </a:t>
            </a:r>
            <a:r>
              <a:rPr lang="en-US" sz="3550" b="1" dirty="0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tiêu dự án</a:t>
            </a:r>
            <a:endParaRPr lang="en-US" sz="3550" b="1" dirty="0"/>
          </a:p>
        </p:txBody>
      </p:sp>
      <p:sp>
        <p:nvSpPr>
          <p:cNvPr id="4" name="Shape 1"/>
          <p:cNvSpPr/>
          <p:nvPr/>
        </p:nvSpPr>
        <p:spPr>
          <a:xfrm>
            <a:off x="793790" y="3007638"/>
            <a:ext cx="3664744" cy="3415464"/>
          </a:xfrm>
          <a:prstGeom prst="roundRect">
            <a:avLst>
              <a:gd name="adj" fmla="val 305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20604" y="32344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64646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Mục tiêu chức năng</a:t>
            </a:r>
            <a:endParaRPr lang="en-US" sz="2400" b="1" dirty="0"/>
          </a:p>
        </p:txBody>
      </p:sp>
      <p:sp>
        <p:nvSpPr>
          <p:cNvPr id="6" name="Text 3"/>
          <p:cNvSpPr/>
          <p:nvPr/>
        </p:nvSpPr>
        <p:spPr>
          <a:xfrm>
            <a:off x="1020604" y="3724870"/>
            <a:ext cx="321111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Mô phỏng 3D tương tác bao gồm Mặt Trời, 8 hành tinh và các vệ tinh. Điều khiển camera tự do cùng chế độ Focus (chase) khóa vào một thiên thể được chọn.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685348" y="3007638"/>
            <a:ext cx="3664863" cy="3415464"/>
          </a:xfrm>
          <a:prstGeom prst="roundRect">
            <a:avLst>
              <a:gd name="adj" fmla="val 305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912162" y="32344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64646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Mục tiêu kỹ thuật</a:t>
            </a:r>
            <a:endParaRPr lang="en-US" sz="2400" b="1" dirty="0"/>
          </a:p>
        </p:txBody>
      </p:sp>
      <p:sp>
        <p:nvSpPr>
          <p:cNvPr id="9" name="Text 6"/>
          <p:cNvSpPr/>
          <p:nvPr/>
        </p:nvSpPr>
        <p:spPr>
          <a:xfrm>
            <a:off x="4912162" y="3724870"/>
            <a:ext cx="321123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Triển khai hierarchical transforms (push/pop matrix), Phong shading cho ánh sáng, và texture mapping để bề mặt các hành tinh trông chân thực hơn.</a:t>
            </a:r>
            <a:endParaRPr lang="en-US" sz="20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5E740D55-5362-CCFF-E7E0-FEDD67D0103A}"/>
              </a:ext>
            </a:extLst>
          </p:cNvPr>
          <p:cNvSpPr/>
          <p:nvPr/>
        </p:nvSpPr>
        <p:spPr>
          <a:xfrm>
            <a:off x="-26673" y="7786568"/>
            <a:ext cx="1047277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b="1">
                <a:solidFill>
                  <a:srgbClr val="030303"/>
                </a:solidFill>
                <a:highlight>
                  <a:srgbClr val="C0C0C0"/>
                </a:highlight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 04 / 20  </a:t>
            </a:r>
            <a:endParaRPr lang="en-US" b="1" dirty="0">
              <a:highlight>
                <a:srgbClr val="C0C0C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7592" y="888375"/>
            <a:ext cx="476166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2: Công </a:t>
            </a:r>
            <a:r>
              <a:rPr lang="en-US" sz="3550" b="1" dirty="0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nghệ &amp; Thư viện</a:t>
            </a:r>
            <a:endParaRPr lang="en-US" sz="3550" b="1" dirty="0"/>
          </a:p>
        </p:txBody>
      </p:sp>
      <p:sp>
        <p:nvSpPr>
          <p:cNvPr id="4" name="Text 1"/>
          <p:cNvSpPr/>
          <p:nvPr/>
        </p:nvSpPr>
        <p:spPr>
          <a:xfrm>
            <a:off x="6176018" y="2512424"/>
            <a:ext cx="8454382" cy="320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vi-VN" sz="24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Ngôn ngữ: C++</a:t>
            </a: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vi-VN" sz="24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Thư viện lõi: OpenGL</a:t>
            </a:r>
            <a:r>
              <a:rPr lang="en-US" sz="24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,</a:t>
            </a:r>
            <a:r>
              <a:rPr lang="vi-VN" sz="24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 thư viện GLU</a:t>
            </a: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vi-VN" sz="24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Thư viện cửa sổ &amp; Sự kiện: FreeGLUT</a:t>
            </a: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vi-VN" sz="24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Thư viện tiện ích: stb_image</a:t>
            </a:r>
            <a:r>
              <a:rPr lang="en-US" sz="24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 (header file)</a:t>
            </a:r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vi-VN" sz="24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Công cụ quản lý Code:</a:t>
            </a:r>
            <a:r>
              <a:rPr lang="en-US" sz="24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 Visual Code 2026,</a:t>
            </a:r>
            <a:r>
              <a:rPr lang="vi-VN" sz="24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 Git, Github</a:t>
            </a:r>
          </a:p>
        </p:txBody>
      </p:sp>
      <p:pic>
        <p:nvPicPr>
          <p:cNvPr id="5" name="Picture 4" descr="Visual Studio 2026 Insiders đã có mặt! : r/dotnet">
            <a:extLst>
              <a:ext uri="{FF2B5EF4-FFF2-40B4-BE49-F238E27FC236}">
                <a16:creationId xmlns:a16="http://schemas.microsoft.com/office/drawing/2014/main" id="{3D6C7E29-CF46-C053-28B8-43D2CD03C6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38" t="26203" r="36347" b="27038"/>
          <a:stretch>
            <a:fillRect/>
          </a:stretch>
        </p:blipFill>
        <p:spPr bwMode="auto">
          <a:xfrm>
            <a:off x="9071934" y="5679662"/>
            <a:ext cx="899526" cy="88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C++ – Wikipedia tiếng Việt">
            <a:extLst>
              <a:ext uri="{FF2B5EF4-FFF2-40B4-BE49-F238E27FC236}">
                <a16:creationId xmlns:a16="http://schemas.microsoft.com/office/drawing/2014/main" id="{C8D65059-01F1-A521-3823-1401381A8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844" y="5679662"/>
            <a:ext cx="839631" cy="947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>
            <a:extLst>
              <a:ext uri="{FF2B5EF4-FFF2-40B4-BE49-F238E27FC236}">
                <a16:creationId xmlns:a16="http://schemas.microsoft.com/office/drawing/2014/main" id="{48993A75-1138-DBB5-9EDE-41F617705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1078" y="5701801"/>
            <a:ext cx="2109216" cy="87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2" descr="Câu Lệnh Và Quy Trình Làm Việc Hiệu Quả Với Git | CodeLearn">
            <a:extLst>
              <a:ext uri="{FF2B5EF4-FFF2-40B4-BE49-F238E27FC236}">
                <a16:creationId xmlns:a16="http://schemas.microsoft.com/office/drawing/2014/main" id="{4BBDFDD0-E5FE-356A-820A-CB00344F09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41" b="25831"/>
          <a:stretch>
            <a:fillRect/>
          </a:stretch>
        </p:blipFill>
        <p:spPr bwMode="auto">
          <a:xfrm>
            <a:off x="8456987" y="6924411"/>
            <a:ext cx="2641600" cy="833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161685FD-7B6D-BB15-BB60-78F300FF3DBB}"/>
              </a:ext>
            </a:extLst>
          </p:cNvPr>
          <p:cNvSpPr/>
          <p:nvPr/>
        </p:nvSpPr>
        <p:spPr>
          <a:xfrm>
            <a:off x="-128590" y="7826132"/>
            <a:ext cx="1047277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b="1">
                <a:solidFill>
                  <a:srgbClr val="030303"/>
                </a:solidFill>
                <a:highlight>
                  <a:srgbClr val="C0C0C0"/>
                </a:highlight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05 / 20  </a:t>
            </a:r>
            <a:endParaRPr lang="en-US" b="1" dirty="0">
              <a:highlight>
                <a:srgbClr val="C0C0C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A8A90-815F-7C95-F887-D8295C96D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06E2ECC-0950-2907-2F96-EF853C3565A1}"/>
              </a:ext>
            </a:extLst>
          </p:cNvPr>
          <p:cNvSpPr/>
          <p:nvPr/>
        </p:nvSpPr>
        <p:spPr>
          <a:xfrm>
            <a:off x="597020" y="36803"/>
            <a:ext cx="902660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3: Kiến </a:t>
            </a:r>
            <a:r>
              <a:rPr lang="en-US" sz="3550" b="1" dirty="0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trúc </a:t>
            </a:r>
            <a:r>
              <a:rPr lang="en-US" sz="3550" b="1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hệ thống</a:t>
            </a:r>
            <a:endParaRPr lang="en-US" sz="355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321429-5797-0B1B-4B9D-3A78F15E4E52}"/>
              </a:ext>
            </a:extLst>
          </p:cNvPr>
          <p:cNvSpPr txBox="1"/>
          <p:nvPr/>
        </p:nvSpPr>
        <p:spPr>
          <a:xfrm>
            <a:off x="626880" y="725674"/>
            <a:ext cx="136398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Hệ thống được thiết kế hướng đối tượng được chia thành 4 mô-đun chính, đảm bảo rõ ràng và tách biệt trách nhiệm:</a:t>
            </a:r>
            <a:endParaRPr lang="en-US" sz="280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3B0E2DB-2B71-E8EB-AAA0-66310C0FF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156050"/>
              </p:ext>
            </p:extLst>
          </p:nvPr>
        </p:nvGraphicFramePr>
        <p:xfrm>
          <a:off x="793790" y="3947426"/>
          <a:ext cx="13472930" cy="429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94586">
                  <a:extLst>
                    <a:ext uri="{9D8B030D-6E8A-4147-A177-3AD203B41FA5}">
                      <a16:colId xmlns:a16="http://schemas.microsoft.com/office/drawing/2014/main" val="2891151936"/>
                    </a:ext>
                  </a:extLst>
                </a:gridCol>
                <a:gridCol w="2694586">
                  <a:extLst>
                    <a:ext uri="{9D8B030D-6E8A-4147-A177-3AD203B41FA5}">
                      <a16:colId xmlns:a16="http://schemas.microsoft.com/office/drawing/2014/main" val="1323129891"/>
                    </a:ext>
                  </a:extLst>
                </a:gridCol>
                <a:gridCol w="2694586">
                  <a:extLst>
                    <a:ext uri="{9D8B030D-6E8A-4147-A177-3AD203B41FA5}">
                      <a16:colId xmlns:a16="http://schemas.microsoft.com/office/drawing/2014/main" val="2116468437"/>
                    </a:ext>
                  </a:extLst>
                </a:gridCol>
                <a:gridCol w="2694586">
                  <a:extLst>
                    <a:ext uri="{9D8B030D-6E8A-4147-A177-3AD203B41FA5}">
                      <a16:colId xmlns:a16="http://schemas.microsoft.com/office/drawing/2014/main" val="3430760912"/>
                    </a:ext>
                  </a:extLst>
                </a:gridCol>
                <a:gridCol w="2694586">
                  <a:extLst>
                    <a:ext uri="{9D8B030D-6E8A-4147-A177-3AD203B41FA5}">
                      <a16:colId xmlns:a16="http://schemas.microsoft.com/office/drawing/2014/main" val="3611288621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ScreenMange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/>
                        <a:t>Planet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/>
                        <a:t>Camera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Tiện ích 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750501"/>
                  </a:ext>
                </a:extLst>
              </a:tr>
              <a:tr h="276362">
                <a:tc vMerge="1"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TextureUtils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/>
                        <a:t>SkyboxService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263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solidFill>
                            <a:srgbClr val="464646"/>
                          </a:solidFill>
                          <a:latin typeface="Arimo Medium" pitchFamily="34" charset="0"/>
                          <a:ea typeface="Arimo Medium" pitchFamily="34" charset="-122"/>
                          <a:cs typeface="Arimo Medium" pitchFamily="34" charset="-120"/>
                        </a:rPr>
                        <a:t>Điều phối vòng lặp render, cập nhật time step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>
                        <a:solidFill>
                          <a:srgbClr val="464646"/>
                        </a:solidFill>
                        <a:latin typeface="Arimo Medium" pitchFamily="34" charset="0"/>
                        <a:ea typeface="Arimo Medium" pitchFamily="34" charset="-122"/>
                        <a:cs typeface="Arimo Medium" pitchFamily="34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solidFill>
                            <a:srgbClr val="464646"/>
                          </a:solidFill>
                          <a:latin typeface="Arimo Medium" pitchFamily="34" charset="0"/>
                          <a:ea typeface="Arimo Medium" pitchFamily="34" charset="-122"/>
                          <a:cs typeface="Arimo Medium" pitchFamily="34" charset="-120"/>
                        </a:rPr>
                        <a:t>Quản lý danh sách planet., global state.</a:t>
                      </a:r>
                      <a:endParaRPr lang="en-US" sz="2400"/>
                    </a:p>
                    <a:p>
                      <a:pPr algn="ctr"/>
                      <a:endParaRPr lang="en-US" sz="240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2400"/>
                        <a:t>Đối tượng cốt lõi, đóng gói nhiều thuộc tính cũng như các phương thức quan trọng.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endParaRPr lang="en-US" sz="240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Đóng vai trò là con mắt quan sát thông qua bộ ba camRadius, camYaw, camPitch. </a:t>
                      </a:r>
                    </a:p>
                    <a:p>
                      <a:pPr marL="0" indent="0" algn="ctr">
                        <a:buFontTx/>
                        <a:buNone/>
                      </a:pPr>
                      <a:endParaRPr lang="en-US" sz="2400"/>
                    </a:p>
                    <a:p>
                      <a:pPr marL="0" indent="0" algn="ctr">
                        <a:buFontTx/>
                        <a:buNone/>
                      </a:pPr>
                      <a:r>
                        <a:rPr lang="en-US" sz="2400"/>
                        <a:t>zoomIn(), zoomOut, các hàm tương tác.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2400"/>
                        <a:t>Xử lý hỗ trợ đọc ảnh từ thư mục cho C++</a:t>
                      </a:r>
                    </a:p>
                    <a:p>
                      <a:pPr marL="0" indent="0" algn="ctr">
                        <a:buFontTx/>
                        <a:buNone/>
                      </a:pPr>
                      <a:endParaRPr lang="en-US" sz="2400"/>
                    </a:p>
                    <a:p>
                      <a:pPr marL="0" indent="0" algn="ctr">
                        <a:buFontTx/>
                        <a:buNone/>
                      </a:pPr>
                      <a:r>
                        <a:rPr lang="en-US" sz="2400"/>
                        <a:t>Chuẩn bị cho bước dán ảnh bằng glBindTexture và quadric.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2400"/>
                        <a:t>Ghép 6 ảnh tạo thành một khối lập phương bao quanh mô hình. </a:t>
                      </a:r>
                    </a:p>
                    <a:p>
                      <a:pPr marL="0" indent="0" algn="ctr">
                        <a:buFontTx/>
                        <a:buNone/>
                      </a:pPr>
                      <a:endParaRPr lang="en-US" sz="2400"/>
                    </a:p>
                    <a:p>
                      <a:pPr marL="0" indent="0" algn="ctr">
                        <a:buFontTx/>
                        <a:buNone/>
                      </a:pPr>
                      <a:r>
                        <a:rPr lang="en-US" sz="2400"/>
                        <a:t>Set tâm hộp luôn là tọa độ camera, tránh thoát ra khỏi hộp.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007729"/>
                  </a:ext>
                </a:extLst>
              </a:tr>
            </a:tbl>
          </a:graphicData>
        </a:graphic>
      </p:graphicFrame>
      <p:pic>
        <p:nvPicPr>
          <p:cNvPr id="1026" name="Picture 2" descr="Gamepad Icon&quot; Images – Browse 849 Stock Photos, Vectors, and Video | Adobe  Stock">
            <a:extLst>
              <a:ext uri="{FF2B5EF4-FFF2-40B4-BE49-F238E27FC236}">
                <a16:creationId xmlns:a16="http://schemas.microsoft.com/office/drawing/2014/main" id="{CD46AB4B-12AA-BE22-3138-D1DC2051A8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04" r="18230"/>
          <a:stretch>
            <a:fillRect/>
          </a:stretch>
        </p:blipFill>
        <p:spPr bwMode="auto">
          <a:xfrm>
            <a:off x="983849" y="1965687"/>
            <a:ext cx="2127471" cy="1859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6DD95D8D-D066-01BD-8777-8B6DB6E2E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3790" y="1870976"/>
            <a:ext cx="2076450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A846448-210A-2A5D-3B68-A23A5EDC9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6670" y="1924639"/>
            <a:ext cx="1893570" cy="1893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37F169-2B90-C122-DEA5-EDE50200B7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66640" y="1679781"/>
            <a:ext cx="2076450" cy="2076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524FF0-470B-BD8C-8749-B5C3387A80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4840" y="2501123"/>
            <a:ext cx="2510216" cy="125510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A187CED-C2DF-041E-9135-E33917DD70DA}"/>
              </a:ext>
            </a:extLst>
          </p:cNvPr>
          <p:cNvSpPr/>
          <p:nvPr/>
        </p:nvSpPr>
        <p:spPr>
          <a:xfrm>
            <a:off x="-61684" y="7826132"/>
            <a:ext cx="1047277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b="1">
                <a:solidFill>
                  <a:srgbClr val="030303"/>
                </a:solidFill>
                <a:highlight>
                  <a:srgbClr val="C0C0C0"/>
                </a:highlight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 06 / 20  </a:t>
            </a:r>
            <a:endParaRPr lang="en-US" b="1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85838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D0784C-0021-BC60-3ED0-50FF3201B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929" y="212947"/>
            <a:ext cx="12556796" cy="78037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A9F2FE6-F16D-8549-CDA3-A7396A721495}"/>
              </a:ext>
            </a:extLst>
          </p:cNvPr>
          <p:cNvSpPr/>
          <p:nvPr/>
        </p:nvSpPr>
        <p:spPr>
          <a:xfrm>
            <a:off x="5423663" y="212947"/>
            <a:ext cx="902660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Chi tiết sơ đồ lớp</a:t>
            </a:r>
            <a:endParaRPr lang="en-US" sz="3550" b="1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472EF54D-F2E8-63AE-CCD9-F1BAAD3C1E7D}"/>
              </a:ext>
            </a:extLst>
          </p:cNvPr>
          <p:cNvSpPr/>
          <p:nvPr/>
        </p:nvSpPr>
        <p:spPr>
          <a:xfrm>
            <a:off x="0" y="7826132"/>
            <a:ext cx="1047277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b="1">
                <a:solidFill>
                  <a:srgbClr val="030303"/>
                </a:solidFill>
                <a:highlight>
                  <a:srgbClr val="C0C0C0"/>
                </a:highlight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 07 / 20  </a:t>
            </a:r>
            <a:endParaRPr lang="en-US" b="1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22634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47643" y="779185"/>
            <a:ext cx="7217093" cy="469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50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4: Tương tác người dùng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514857" y="1491574"/>
            <a:ext cx="4362688" cy="534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Các tương tác chính: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32552" y="2757179"/>
            <a:ext cx="4362688" cy="459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b="1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Điều hướng </a:t>
            </a:r>
            <a:r>
              <a:rPr lang="en-US" sz="2000" b="1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camera</a:t>
            </a:r>
            <a:r>
              <a:rPr lang="en-US" sz="20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: Zoom, Pitch, Yaw bằng chuột/bàn phím</a:t>
            </a:r>
            <a:endParaRPr lang="en-US" sz="20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b="1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Theo dõi mục tiêu</a:t>
            </a:r>
            <a:r>
              <a:rPr lang="en-US" sz="20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: theo dõi hành tinh / mặt trăng dựa vào tương tác bàn phím.</a:t>
            </a:r>
            <a:endParaRPr lang="en-US" sz="20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b="1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Điều khiển mô phỏng: </a:t>
            </a:r>
            <a:r>
              <a:rPr lang="en-US" sz="20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Pause / Resume quỹ đạo </a:t>
            </a:r>
            <a:r>
              <a:rPr lang="en-US" sz="20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bằng phím Space</a:t>
            </a:r>
            <a:endParaRPr lang="en-US" sz="20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b="1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Console: </a:t>
            </a:r>
            <a:r>
              <a:rPr lang="en-US" sz="20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Hiển thị thông tin HDSD và hành tinh đang theo dõi.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0383D8-71FC-780D-26CB-A463600D59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7545" y="2294601"/>
            <a:ext cx="9752855" cy="585579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2FF05636-6FC0-0FA4-D553-6E54ACFF8276}"/>
              </a:ext>
            </a:extLst>
          </p:cNvPr>
          <p:cNvSpPr/>
          <p:nvPr/>
        </p:nvSpPr>
        <p:spPr>
          <a:xfrm>
            <a:off x="-65006" y="7857493"/>
            <a:ext cx="1047277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b="1">
                <a:solidFill>
                  <a:srgbClr val="030303"/>
                </a:solidFill>
                <a:highlight>
                  <a:srgbClr val="C0C0C0"/>
                </a:highlight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 08 / 20  </a:t>
            </a:r>
            <a:endParaRPr lang="en-US" b="1" dirty="0">
              <a:highlight>
                <a:srgbClr val="C0C0C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EE2CF4-8B15-5EEA-C54D-224E95F5B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939" y="91321"/>
            <a:ext cx="8027815" cy="804695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D0BCABF-0646-7DF1-2F61-3034F007C8FC}"/>
              </a:ext>
            </a:extLst>
          </p:cNvPr>
          <p:cNvSpPr/>
          <p:nvPr/>
        </p:nvSpPr>
        <p:spPr>
          <a:xfrm>
            <a:off x="0" y="7784544"/>
            <a:ext cx="1047277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b="1">
                <a:solidFill>
                  <a:srgbClr val="030303"/>
                </a:solidFill>
                <a:highlight>
                  <a:srgbClr val="C0C0C0"/>
                </a:highlight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09 / 20  </a:t>
            </a:r>
            <a:endParaRPr lang="en-US" b="1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60804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D4727-EAF1-D3E4-8AA9-9CC4E568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D74686-E69C-FF47-A2E9-F337445AA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0" y="0"/>
            <a:ext cx="16154400" cy="16192921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73A9B1AB-A062-F6FA-34F1-A79C0B239691}"/>
              </a:ext>
            </a:extLst>
          </p:cNvPr>
          <p:cNvSpPr/>
          <p:nvPr/>
        </p:nvSpPr>
        <p:spPr>
          <a:xfrm>
            <a:off x="0" y="7784544"/>
            <a:ext cx="1047277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b="1">
                <a:solidFill>
                  <a:srgbClr val="030303"/>
                </a:solidFill>
                <a:highlight>
                  <a:srgbClr val="C0C0C0"/>
                </a:highlight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10 / 20  </a:t>
            </a:r>
            <a:endParaRPr lang="en-US" b="1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016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5C985-ED9A-8CBC-7946-DAE1D09DF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F2C4CE-B45C-6F3F-CEC3-8B0BB9E2C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133" y="-5825719"/>
            <a:ext cx="15572666" cy="15609799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9251A34-DD16-C8ED-A2FC-136F7EA90864}"/>
              </a:ext>
            </a:extLst>
          </p:cNvPr>
          <p:cNvSpPr/>
          <p:nvPr/>
        </p:nvSpPr>
        <p:spPr>
          <a:xfrm>
            <a:off x="0" y="7784544"/>
            <a:ext cx="1047277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b="1">
                <a:solidFill>
                  <a:srgbClr val="030303"/>
                </a:solidFill>
                <a:highlight>
                  <a:srgbClr val="C0C0C0"/>
                </a:highlight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11 / 20  </a:t>
            </a:r>
            <a:endParaRPr lang="en-US" b="1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99141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0827B-3D5D-C31F-1B32-B2A6540C4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6319AF-A0F2-7E11-8FC4-C2610AB72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133" y="-7380199"/>
            <a:ext cx="15572666" cy="15609799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816726A-8F79-48EB-CC24-A8E2CDD7275F}"/>
              </a:ext>
            </a:extLst>
          </p:cNvPr>
          <p:cNvSpPr/>
          <p:nvPr/>
        </p:nvSpPr>
        <p:spPr>
          <a:xfrm>
            <a:off x="0" y="7784544"/>
            <a:ext cx="1047277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b="1">
                <a:solidFill>
                  <a:srgbClr val="030303"/>
                </a:solidFill>
                <a:highlight>
                  <a:srgbClr val="C0C0C0"/>
                </a:highlight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12 / 20  </a:t>
            </a:r>
            <a:endParaRPr lang="en-US" b="1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94304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0660" y="631507"/>
            <a:ext cx="718268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5.1 Kỹ </a:t>
            </a:r>
            <a:r>
              <a:rPr lang="en-US" sz="3300" dirty="0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thuật cốt lõi — Mô hình phân cấp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230660" y="1315058"/>
            <a:ext cx="7655481" cy="135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Vấn đề: các mặt trăng tự quay quanh trục của chúng trong khi quay quanh hành tinh, và các hành tinh quay quanh Mặt </a:t>
            </a:r>
            <a:r>
              <a:rPr lang="en-US" sz="20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Trời. =&gt; Dùng </a:t>
            </a:r>
            <a:r>
              <a:rPr lang="en-US" sz="20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các phép biến đổi phân cấp với push/pop matrix để cô lập các hệ tọa độ cục bộ.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6230660" y="2993946"/>
            <a:ext cx="3728085" cy="2207657"/>
          </a:xfrm>
          <a:prstGeom prst="roundRect">
            <a:avLst>
              <a:gd name="adj" fmla="val 497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230660" y="2971086"/>
            <a:ext cx="3728085" cy="91440"/>
          </a:xfrm>
          <a:prstGeom prst="roundRect">
            <a:avLst>
              <a:gd name="adj" fmla="val 97674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75734" y="2674977"/>
            <a:ext cx="637937" cy="637937"/>
          </a:xfrm>
          <a:prstGeom prst="roundRect">
            <a:avLst>
              <a:gd name="adj" fmla="val 143337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010090" y="2776758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1</a:t>
            </a:r>
            <a:endParaRPr lang="en-US" sz="2400" b="1" dirty="0"/>
          </a:p>
        </p:txBody>
      </p:sp>
      <p:sp>
        <p:nvSpPr>
          <p:cNvPr id="10" name="Text 7"/>
          <p:cNvSpPr/>
          <p:nvPr/>
        </p:nvSpPr>
        <p:spPr>
          <a:xfrm>
            <a:off x="6482358" y="3513233"/>
            <a:ext cx="3257074" cy="1080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glPushMatrix() để lưu khung cha (ví dụ: biến đổi Sun → Earth).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10158055" y="2993946"/>
            <a:ext cx="3728085" cy="2207657"/>
          </a:xfrm>
          <a:prstGeom prst="roundRect">
            <a:avLst>
              <a:gd name="adj" fmla="val 497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158055" y="2971086"/>
            <a:ext cx="3728085" cy="91440"/>
          </a:xfrm>
          <a:prstGeom prst="roundRect">
            <a:avLst>
              <a:gd name="adj" fmla="val 97674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1703129" y="2674977"/>
            <a:ext cx="637937" cy="637937"/>
          </a:xfrm>
          <a:prstGeom prst="roundRect">
            <a:avLst>
              <a:gd name="adj" fmla="val 143337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1929188" y="2788102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2</a:t>
            </a:r>
            <a:endParaRPr lang="en-US" sz="2400" b="1" dirty="0"/>
          </a:p>
        </p:txBody>
      </p:sp>
      <p:sp>
        <p:nvSpPr>
          <p:cNvPr id="16" name="Text 13"/>
          <p:cNvSpPr/>
          <p:nvPr/>
        </p:nvSpPr>
        <p:spPr>
          <a:xfrm>
            <a:off x="10377369" y="3504699"/>
            <a:ext cx="3257074" cy="1423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Áp dụng phép quay quỹ đạo và phép tịnh tiến, nghiêng trục. </a:t>
            </a:r>
            <a:endParaRPr lang="en-US" sz="24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D12D950-5844-8D37-FBFD-45C5471E63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537" t="-369" r="4946" b="369"/>
          <a:stretch>
            <a:fillRect/>
          </a:stretch>
        </p:blipFill>
        <p:spPr>
          <a:xfrm>
            <a:off x="5858" y="-30470"/>
            <a:ext cx="5907588" cy="8256488"/>
          </a:xfrm>
          <a:prstGeom prst="rect">
            <a:avLst/>
          </a:prstGeom>
        </p:spPr>
      </p:pic>
      <p:sp>
        <p:nvSpPr>
          <p:cNvPr id="25" name="Shape 2">
            <a:extLst>
              <a:ext uri="{FF2B5EF4-FFF2-40B4-BE49-F238E27FC236}">
                <a16:creationId xmlns:a16="http://schemas.microsoft.com/office/drawing/2014/main" id="{1F309AC9-E3AF-F96A-60A7-7490096771EE}"/>
              </a:ext>
            </a:extLst>
          </p:cNvPr>
          <p:cNvSpPr/>
          <p:nvPr/>
        </p:nvSpPr>
        <p:spPr>
          <a:xfrm>
            <a:off x="6230660" y="5652310"/>
            <a:ext cx="3728085" cy="2207657"/>
          </a:xfrm>
          <a:prstGeom prst="roundRect">
            <a:avLst>
              <a:gd name="adj" fmla="val 497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D67C8A32-D457-6551-A166-BE1FF6CBEB91}"/>
              </a:ext>
            </a:extLst>
          </p:cNvPr>
          <p:cNvSpPr/>
          <p:nvPr/>
        </p:nvSpPr>
        <p:spPr>
          <a:xfrm>
            <a:off x="6230660" y="5629450"/>
            <a:ext cx="3728085" cy="91440"/>
          </a:xfrm>
          <a:prstGeom prst="roundRect">
            <a:avLst>
              <a:gd name="adj" fmla="val 97674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34CAC4CB-B2F2-5A60-576C-555228A23EE0}"/>
              </a:ext>
            </a:extLst>
          </p:cNvPr>
          <p:cNvSpPr/>
          <p:nvPr/>
        </p:nvSpPr>
        <p:spPr>
          <a:xfrm>
            <a:off x="7775734" y="5333341"/>
            <a:ext cx="637937" cy="637937"/>
          </a:xfrm>
          <a:prstGeom prst="roundRect">
            <a:avLst>
              <a:gd name="adj" fmla="val 143337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BD8CE948-B3BB-E374-3193-9CBE92303590}"/>
              </a:ext>
            </a:extLst>
          </p:cNvPr>
          <p:cNvSpPr/>
          <p:nvPr/>
        </p:nvSpPr>
        <p:spPr>
          <a:xfrm>
            <a:off x="8010090" y="5435122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3</a:t>
            </a:r>
            <a:endParaRPr lang="en-US" sz="2400" b="1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EDCD8816-46D8-4565-1565-697D200A3405}"/>
              </a:ext>
            </a:extLst>
          </p:cNvPr>
          <p:cNvSpPr/>
          <p:nvPr/>
        </p:nvSpPr>
        <p:spPr>
          <a:xfrm>
            <a:off x="6482358" y="6171597"/>
            <a:ext cx="3257074" cy="1080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glPushMatrix(), vẽ các mặt trăng, áp dụng quay quỹ đạo, tịnh tiến.</a:t>
            </a:r>
            <a:endParaRPr lang="en-US" sz="2400" dirty="0"/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8238A4B6-3891-E7C5-C532-5550ADD85E77}"/>
              </a:ext>
            </a:extLst>
          </p:cNvPr>
          <p:cNvSpPr/>
          <p:nvPr/>
        </p:nvSpPr>
        <p:spPr>
          <a:xfrm>
            <a:off x="10377369" y="5629450"/>
            <a:ext cx="3728085" cy="2207657"/>
          </a:xfrm>
          <a:prstGeom prst="roundRect">
            <a:avLst>
              <a:gd name="adj" fmla="val 497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F7A9A23D-43DD-079B-A454-B6E2F466325F}"/>
              </a:ext>
            </a:extLst>
          </p:cNvPr>
          <p:cNvSpPr/>
          <p:nvPr/>
        </p:nvSpPr>
        <p:spPr>
          <a:xfrm>
            <a:off x="10377369" y="5606590"/>
            <a:ext cx="3728085" cy="91440"/>
          </a:xfrm>
          <a:prstGeom prst="roundRect">
            <a:avLst>
              <a:gd name="adj" fmla="val 97674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6F240930-53B6-F229-D123-ED11F77CC33F}"/>
              </a:ext>
            </a:extLst>
          </p:cNvPr>
          <p:cNvSpPr/>
          <p:nvPr/>
        </p:nvSpPr>
        <p:spPr>
          <a:xfrm>
            <a:off x="11922443" y="5310481"/>
            <a:ext cx="637937" cy="637937"/>
          </a:xfrm>
          <a:prstGeom prst="roundRect">
            <a:avLst>
              <a:gd name="adj" fmla="val 143337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2653B800-DBD4-4AEB-D518-23D7265DB66F}"/>
              </a:ext>
            </a:extLst>
          </p:cNvPr>
          <p:cNvSpPr/>
          <p:nvPr/>
        </p:nvSpPr>
        <p:spPr>
          <a:xfrm>
            <a:off x="12156799" y="5412262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4</a:t>
            </a:r>
            <a:endParaRPr lang="en-US" sz="2400" b="1" dirty="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C99C730F-CC6A-52A4-D31F-74CCC3BC1AFE}"/>
              </a:ext>
            </a:extLst>
          </p:cNvPr>
          <p:cNvSpPr/>
          <p:nvPr/>
        </p:nvSpPr>
        <p:spPr>
          <a:xfrm>
            <a:off x="10629067" y="6148737"/>
            <a:ext cx="3257074" cy="1323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glPopMatrix(), vẽ vành đai, tô sáng, dán ảnh,vẽ khối cấu, glPopMatrix để vẽ hành tinh khác. </a:t>
            </a:r>
            <a:endParaRPr lang="en-US" sz="240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CEEECCF5-2B39-A19F-F5E4-8FE5E1751BD2}"/>
              </a:ext>
            </a:extLst>
          </p:cNvPr>
          <p:cNvSpPr/>
          <p:nvPr/>
        </p:nvSpPr>
        <p:spPr>
          <a:xfrm>
            <a:off x="0" y="7784544"/>
            <a:ext cx="1047277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b="1">
                <a:solidFill>
                  <a:srgbClr val="030303"/>
                </a:solidFill>
                <a:highlight>
                  <a:srgbClr val="C0C0C0"/>
                </a:highlight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13 / 20  </a:t>
            </a:r>
            <a:endParaRPr lang="en-US" b="1" dirty="0">
              <a:highlight>
                <a:srgbClr val="C0C0C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47355" y="182046"/>
            <a:ext cx="8364209" cy="1081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5.2: Kỹ </a:t>
            </a:r>
            <a:r>
              <a:rPr lang="en-US" sz="3400" dirty="0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thuật cốt lõi — Ánh sáng &amp; Vật liệu (Phong)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07911" y="1481851"/>
            <a:ext cx="7630716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Việc chiếu sáng sẽ giúp </a:t>
            </a:r>
            <a:r>
              <a:rPr lang="en-US" sz="20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tạo nên diện mạo hành tinh chân thực và phân biệt Mặt Trời tự phát sáng với các hành tinh được chiếu sáng.</a:t>
            </a:r>
            <a:endParaRPr lang="en-US" sz="20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1425806-3CE3-5591-5461-F209298AFD3D}"/>
              </a:ext>
            </a:extLst>
          </p:cNvPr>
          <p:cNvGrpSpPr/>
          <p:nvPr/>
        </p:nvGrpSpPr>
        <p:grpSpPr>
          <a:xfrm>
            <a:off x="208241" y="2882622"/>
            <a:ext cx="3686532" cy="2825830"/>
            <a:chOff x="756642" y="2907268"/>
            <a:chExt cx="3686532" cy="2150269"/>
          </a:xfrm>
        </p:grpSpPr>
        <p:sp>
          <p:nvSpPr>
            <p:cNvPr id="5" name="Shape 2"/>
            <p:cNvSpPr/>
            <p:nvPr/>
          </p:nvSpPr>
          <p:spPr>
            <a:xfrm>
              <a:off x="756642" y="3022104"/>
              <a:ext cx="107990" cy="107990"/>
            </a:xfrm>
            <a:prstGeom prst="roundRect">
              <a:avLst>
                <a:gd name="adj" fmla="val 423373"/>
              </a:avLst>
            </a:prstGeom>
            <a:solidFill>
              <a:srgbClr val="1C977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3"/>
            <p:cNvSpPr/>
            <p:nvPr/>
          </p:nvSpPr>
          <p:spPr>
            <a:xfrm>
              <a:off x="1070610" y="2907268"/>
              <a:ext cx="2824163" cy="3377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2400" b="1" dirty="0">
                  <a:solidFill>
                    <a:srgbClr val="464646"/>
                  </a:solidFill>
                  <a:latin typeface="Arimo Semi Bold" pitchFamily="34" charset="0"/>
                  <a:ea typeface="Arimo Semi Bold" pitchFamily="34" charset="-122"/>
                  <a:cs typeface="Arimo Semi Bold" pitchFamily="34" charset="-120"/>
                </a:rPr>
                <a:t>Mặt Trời (Nguồn sáng)</a:t>
              </a:r>
              <a:endParaRPr lang="en-US" sz="2400" b="1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1070610" y="3368635"/>
              <a:ext cx="3372564" cy="16889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2000" dirty="0">
                  <a:solidFill>
                    <a:srgbClr val="464646"/>
                  </a:solidFill>
                  <a:latin typeface="Arimo Medium" pitchFamily="34" charset="0"/>
                  <a:ea typeface="Arimo Medium" pitchFamily="34" charset="-122"/>
                  <a:cs typeface="Arimo Medium" pitchFamily="34" charset="-120"/>
                </a:rPr>
                <a:t>Đặt GL_LIGHT0 tại vị trí của </a:t>
              </a:r>
              <a:r>
                <a:rPr lang="en-US" sz="2000">
                  <a:solidFill>
                    <a:srgbClr val="464646"/>
                  </a:solidFill>
                  <a:latin typeface="Arimo Medium" pitchFamily="34" charset="0"/>
                  <a:ea typeface="Arimo Medium" pitchFamily="34" charset="-122"/>
                  <a:cs typeface="Arimo Medium" pitchFamily="34" charset="-120"/>
                </a:rPr>
                <a:t>Mặt Trời. </a:t>
              </a:r>
            </a:p>
            <a:p>
              <a:pPr marL="0" indent="0" algn="l">
                <a:lnSpc>
                  <a:spcPts val="2650"/>
                </a:lnSpc>
                <a:buNone/>
              </a:pPr>
              <a:r>
                <a:rPr lang="en-US" sz="2000">
                  <a:solidFill>
                    <a:srgbClr val="464646"/>
                  </a:solidFill>
                  <a:latin typeface="Arimo Medium" pitchFamily="34" charset="0"/>
                  <a:ea typeface="Arimo Medium" pitchFamily="34" charset="-122"/>
                  <a:cs typeface="Arimo Medium" pitchFamily="34" charset="-120"/>
                </a:rPr>
                <a:t>Thiết </a:t>
              </a:r>
              <a:r>
                <a:rPr lang="en-US" sz="2000" dirty="0">
                  <a:solidFill>
                    <a:srgbClr val="464646"/>
                  </a:solidFill>
                  <a:latin typeface="Arimo Medium" pitchFamily="34" charset="0"/>
                  <a:ea typeface="Arimo Medium" pitchFamily="34" charset="-122"/>
                  <a:cs typeface="Arimo Medium" pitchFamily="34" charset="-120"/>
                </a:rPr>
                <a:t>lập GL_EMISSION cao để tự phát sáng, giúp Mặt Trời trông như đang phát sáng mà không nhận bóng.</a:t>
              </a:r>
              <a:endParaRPr lang="en-US" sz="20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B6B5007-6716-3935-E13B-BD9DDBEF506C}"/>
              </a:ext>
            </a:extLst>
          </p:cNvPr>
          <p:cNvGrpSpPr/>
          <p:nvPr/>
        </p:nvGrpSpPr>
        <p:grpSpPr>
          <a:xfrm>
            <a:off x="4596433" y="2882622"/>
            <a:ext cx="3686650" cy="2586990"/>
            <a:chOff x="4700707" y="2907268"/>
            <a:chExt cx="3686650" cy="2586990"/>
          </a:xfrm>
        </p:grpSpPr>
        <p:sp>
          <p:nvSpPr>
            <p:cNvPr id="8" name="Shape 5"/>
            <p:cNvSpPr/>
            <p:nvPr/>
          </p:nvSpPr>
          <p:spPr>
            <a:xfrm>
              <a:off x="4700707" y="3022104"/>
              <a:ext cx="107990" cy="107990"/>
            </a:xfrm>
            <a:prstGeom prst="roundRect">
              <a:avLst>
                <a:gd name="adj" fmla="val 423373"/>
              </a:avLst>
            </a:prstGeom>
            <a:solidFill>
              <a:srgbClr val="1C977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6"/>
            <p:cNvSpPr/>
            <p:nvPr/>
          </p:nvSpPr>
          <p:spPr>
            <a:xfrm>
              <a:off x="5014674" y="2907268"/>
              <a:ext cx="3372683" cy="675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2400" b="1" dirty="0">
                  <a:solidFill>
                    <a:srgbClr val="464646"/>
                  </a:solidFill>
                  <a:latin typeface="Arimo Semi Bold" pitchFamily="34" charset="0"/>
                  <a:ea typeface="Arimo Semi Bold" pitchFamily="34" charset="-122"/>
                  <a:cs typeface="Arimo Semi Bold" pitchFamily="34" charset="-120"/>
                </a:rPr>
                <a:t>Các </a:t>
              </a:r>
              <a:r>
                <a:rPr lang="en-US" sz="2400" b="1">
                  <a:solidFill>
                    <a:srgbClr val="464646"/>
                  </a:solidFill>
                  <a:latin typeface="Arimo Semi Bold" pitchFamily="34" charset="0"/>
                  <a:ea typeface="Arimo Semi Bold" pitchFamily="34" charset="-122"/>
                  <a:cs typeface="Arimo Semi Bold" pitchFamily="34" charset="-120"/>
                </a:rPr>
                <a:t>hành tinh</a:t>
              </a:r>
              <a:endParaRPr lang="en-US" sz="2400" b="1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5014674" y="3467576"/>
              <a:ext cx="3372683" cy="20266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2000">
                  <a:solidFill>
                    <a:srgbClr val="464646"/>
                  </a:solidFill>
                  <a:latin typeface="Arimo Medium" pitchFamily="34" charset="0"/>
                  <a:ea typeface="Arimo Medium" pitchFamily="34" charset="-122"/>
                  <a:cs typeface="Arimo Medium" pitchFamily="34" charset="-120"/>
                </a:rPr>
                <a:t>Tắt Emission, sử dụng kết hợp GL_DIFFUSE (màu sắc tán xạ) và GL_SPECULAR (độ chói) để tạo khối cầu 3D chân thực khi nhận ánh sáng từ Mặt trời.</a:t>
              </a:r>
              <a:endParaRPr lang="en-US" sz="20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477CAC7-DA78-B39D-F4CC-33C09EE85D9D}"/>
              </a:ext>
            </a:extLst>
          </p:cNvPr>
          <p:cNvGrpSpPr/>
          <p:nvPr/>
        </p:nvGrpSpPr>
        <p:grpSpPr>
          <a:xfrm>
            <a:off x="262236" y="6302625"/>
            <a:ext cx="7630716" cy="1474708"/>
            <a:chOff x="756642" y="6145173"/>
            <a:chExt cx="7630716" cy="1474708"/>
          </a:xfrm>
        </p:grpSpPr>
        <p:sp>
          <p:nvSpPr>
            <p:cNvPr id="11" name="Shape 8"/>
            <p:cNvSpPr/>
            <p:nvPr/>
          </p:nvSpPr>
          <p:spPr>
            <a:xfrm>
              <a:off x="756642" y="6260009"/>
              <a:ext cx="107990" cy="107990"/>
            </a:xfrm>
            <a:prstGeom prst="roundRect">
              <a:avLst>
                <a:gd name="adj" fmla="val 423373"/>
              </a:avLst>
            </a:prstGeom>
            <a:solidFill>
              <a:srgbClr val="1C977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9"/>
            <p:cNvSpPr/>
            <p:nvPr/>
          </p:nvSpPr>
          <p:spPr>
            <a:xfrm>
              <a:off x="1070610" y="6145173"/>
              <a:ext cx="2702362" cy="3377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2400" b="1" dirty="0">
                  <a:solidFill>
                    <a:srgbClr val="464646"/>
                  </a:solidFill>
                  <a:latin typeface="Arimo Semi Bold" pitchFamily="34" charset="0"/>
                  <a:ea typeface="Arimo Semi Bold" pitchFamily="34" charset="-122"/>
                  <a:cs typeface="Arimo Semi Bold" pitchFamily="34" charset="-120"/>
                </a:rPr>
                <a:t>Ghi chú triển khai</a:t>
              </a:r>
              <a:endParaRPr lang="en-US" sz="2400" b="1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1070610" y="6606540"/>
              <a:ext cx="7316748" cy="10133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2000">
                  <a:solidFill>
                    <a:srgbClr val="464646"/>
                  </a:solidFill>
                  <a:latin typeface="Arimo Medium" pitchFamily="34" charset="0"/>
                  <a:ea typeface="Arimo Medium" pitchFamily="34" charset="-122"/>
                  <a:cs typeface="Arimo Medium" pitchFamily="34" charset="-120"/>
                </a:rPr>
                <a:t>Cần cập </a:t>
              </a:r>
              <a:r>
                <a:rPr lang="en-US" sz="2000" dirty="0">
                  <a:solidFill>
                    <a:srgbClr val="464646"/>
                  </a:solidFill>
                  <a:latin typeface="Arimo Medium" pitchFamily="34" charset="0"/>
                  <a:ea typeface="Arimo Medium" pitchFamily="34" charset="-122"/>
                  <a:cs typeface="Arimo Medium" pitchFamily="34" charset="-120"/>
                </a:rPr>
                <a:t>nhật vị trí ánh sáng mỗi khung hình để khớp với transform của </a:t>
              </a:r>
              <a:r>
                <a:rPr lang="en-US" sz="2000">
                  <a:solidFill>
                    <a:srgbClr val="464646"/>
                  </a:solidFill>
                  <a:latin typeface="Arimo Medium" pitchFamily="34" charset="0"/>
                  <a:ea typeface="Arimo Medium" pitchFamily="34" charset="-122"/>
                  <a:cs typeface="Arimo Medium" pitchFamily="34" charset="-120"/>
                </a:rPr>
                <a:t>Mặt Trời.</a:t>
              </a:r>
              <a:endParaRPr lang="en-US" sz="2000" dirty="0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C62AE2F2-AD27-1C96-BE6B-A8A4AF9E93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33"/>
          <a:stretch>
            <a:fillRect/>
          </a:stretch>
        </p:blipFill>
        <p:spPr>
          <a:xfrm>
            <a:off x="8831484" y="0"/>
            <a:ext cx="5798916" cy="82296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0EB933EA-75C6-1203-DA7F-C964E7A33468}"/>
              </a:ext>
            </a:extLst>
          </p:cNvPr>
          <p:cNvSpPr/>
          <p:nvPr/>
        </p:nvSpPr>
        <p:spPr>
          <a:xfrm>
            <a:off x="0" y="7784544"/>
            <a:ext cx="1047277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b="1">
                <a:solidFill>
                  <a:srgbClr val="030303"/>
                </a:solidFill>
                <a:highlight>
                  <a:srgbClr val="C0C0C0"/>
                </a:highlight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14 / 20  </a:t>
            </a:r>
            <a:endParaRPr lang="en-US" b="1" dirty="0">
              <a:highlight>
                <a:srgbClr val="C0C0C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22471" y="239910"/>
            <a:ext cx="9812779" cy="1045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5.3: Kỹ </a:t>
            </a:r>
            <a:r>
              <a:rPr lang="en-US" sz="3250" dirty="0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thuật cốt lõi </a:t>
            </a:r>
            <a:r>
              <a:rPr lang="en-US" sz="3250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— Camera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222471" y="995158"/>
            <a:ext cx="13690299" cy="875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Thiết kế camera nhấn mạnh khả năng điều khiển ổn </a:t>
            </a:r>
            <a:r>
              <a:rPr lang="en-US" sz="20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định và theo dõi hành tinh bằng các tương tác dựa trên các phép tính toán</a:t>
            </a:r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19CF4E-1DDC-DF2D-46B2-ABA3F91482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366" r="31437" b="25343"/>
          <a:stretch>
            <a:fillRect/>
          </a:stretch>
        </p:blipFill>
        <p:spPr>
          <a:xfrm>
            <a:off x="326643" y="2947167"/>
            <a:ext cx="5810962" cy="52824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0D1F6A-4E10-15DD-4D9B-3D4EC55D5B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1918" t="4167" r="10659" b="42031"/>
          <a:stretch>
            <a:fillRect/>
          </a:stretch>
        </p:blipFill>
        <p:spPr>
          <a:xfrm>
            <a:off x="9624348" y="2574793"/>
            <a:ext cx="5006052" cy="55246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3095" y="2236807"/>
            <a:ext cx="6085731" cy="1257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500"/>
              </a:lnSpc>
              <a:buSzPct val="100000"/>
            </a:pPr>
            <a:r>
              <a:rPr lang="en-US" sz="20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Giới hạn pitch của camera ở ±1.5 radians </a:t>
            </a:r>
            <a:r>
              <a:rPr lang="en-US" sz="20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(~85.94°) </a:t>
            </a:r>
            <a:r>
              <a:rPr lang="en-US" sz="20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để tránh gimbal lock và các hiện tượng đảo </a:t>
            </a:r>
            <a:r>
              <a:rPr lang="en-US" sz="20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ngược.</a:t>
            </a:r>
            <a:endParaRPr lang="en-US" sz="20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7314E3BD-8B12-0DE3-24B5-5B04672FD239}"/>
              </a:ext>
            </a:extLst>
          </p:cNvPr>
          <p:cNvSpPr/>
          <p:nvPr/>
        </p:nvSpPr>
        <p:spPr>
          <a:xfrm>
            <a:off x="8322198" y="2155193"/>
            <a:ext cx="6085731" cy="115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500"/>
              </a:lnSpc>
              <a:buSzPct val="100000"/>
            </a:pPr>
            <a:r>
              <a:rPr lang="en-US" sz="20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Tính vị </a:t>
            </a:r>
            <a:r>
              <a:rPr lang="en-US" sz="20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trí mục tiêu trong </a:t>
            </a:r>
            <a:r>
              <a:rPr lang="en-US" sz="20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không gian dựa theo góc quỹ đạo và khoảng cách,  sau đó gán tọa độ vào hàm  gluLookAt() </a:t>
            </a:r>
            <a:r>
              <a:rPr lang="en-US" sz="20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mỗi khung hình để theo dõi mượt </a:t>
            </a:r>
            <a:r>
              <a:rPr lang="en-US" sz="20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mà.</a:t>
            </a:r>
            <a:endParaRPr lang="en-US" sz="200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8BD0AE9-420B-BFA4-95F3-241AA519C06B}"/>
              </a:ext>
            </a:extLst>
          </p:cNvPr>
          <p:cNvSpPr/>
          <p:nvPr/>
        </p:nvSpPr>
        <p:spPr>
          <a:xfrm>
            <a:off x="0" y="7784544"/>
            <a:ext cx="1047277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b="1">
                <a:solidFill>
                  <a:srgbClr val="030303"/>
                </a:solidFill>
                <a:highlight>
                  <a:srgbClr val="C0C0C0"/>
                </a:highlight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15 / 20  </a:t>
            </a:r>
            <a:endParaRPr lang="en-US" b="1" dirty="0">
              <a:highlight>
                <a:srgbClr val="C0C0C0"/>
              </a:highlight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880766-782F-3203-983E-9F5CDA0EA56F}"/>
              </a:ext>
            </a:extLst>
          </p:cNvPr>
          <p:cNvCxnSpPr>
            <a:cxnSpLocks/>
          </p:cNvCxnSpPr>
          <p:nvPr/>
        </p:nvCxnSpPr>
        <p:spPr>
          <a:xfrm flipV="1">
            <a:off x="3535960" y="4114800"/>
            <a:ext cx="376283" cy="1047074"/>
          </a:xfrm>
          <a:prstGeom prst="straightConnector1">
            <a:avLst/>
          </a:prstGeom>
          <a:ln w="5715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2">
            <a:extLst>
              <a:ext uri="{FF2B5EF4-FFF2-40B4-BE49-F238E27FC236}">
                <a16:creationId xmlns:a16="http://schemas.microsoft.com/office/drawing/2014/main" id="{ACE2D6CB-5DF8-FE0B-1BF3-B66CE5235858}"/>
              </a:ext>
            </a:extLst>
          </p:cNvPr>
          <p:cNvSpPr/>
          <p:nvPr/>
        </p:nvSpPr>
        <p:spPr>
          <a:xfrm>
            <a:off x="3345084" y="3778213"/>
            <a:ext cx="1381897" cy="336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  <a:buSzPct val="100000"/>
            </a:pPr>
            <a:r>
              <a:rPr lang="en-US" sz="2000" b="1">
                <a:solidFill>
                  <a:srgbClr val="FF0000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camRadius</a:t>
            </a:r>
            <a:endParaRPr lang="en-US" sz="2000" b="1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B60A551-34DE-F500-CED3-6BB1B4F5595E}"/>
              </a:ext>
            </a:extLst>
          </p:cNvPr>
          <p:cNvCxnSpPr>
            <a:cxnSpLocks/>
          </p:cNvCxnSpPr>
          <p:nvPr/>
        </p:nvCxnSpPr>
        <p:spPr>
          <a:xfrm flipV="1">
            <a:off x="4238886" y="4638337"/>
            <a:ext cx="1193863" cy="199881"/>
          </a:xfrm>
          <a:prstGeom prst="straightConnector1">
            <a:avLst/>
          </a:prstGeom>
          <a:ln w="5715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2">
            <a:extLst>
              <a:ext uri="{FF2B5EF4-FFF2-40B4-BE49-F238E27FC236}">
                <a16:creationId xmlns:a16="http://schemas.microsoft.com/office/drawing/2014/main" id="{0D4C1C4B-F054-CA7D-7D3F-821993ECC136}"/>
              </a:ext>
            </a:extLst>
          </p:cNvPr>
          <p:cNvSpPr/>
          <p:nvPr/>
        </p:nvSpPr>
        <p:spPr>
          <a:xfrm>
            <a:off x="5637532" y="4445395"/>
            <a:ext cx="1978610" cy="336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  <a:buSzPct val="100000"/>
            </a:pPr>
            <a:r>
              <a:rPr lang="en-US" sz="2000" b="1">
                <a:solidFill>
                  <a:srgbClr val="FF0000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Eye (Camera)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18563CD5-96DF-7ED7-45F7-8DD497764A8B}"/>
              </a:ext>
            </a:extLst>
          </p:cNvPr>
          <p:cNvSpPr/>
          <p:nvPr/>
        </p:nvSpPr>
        <p:spPr>
          <a:xfrm>
            <a:off x="12290423" y="7248662"/>
            <a:ext cx="464878" cy="336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  <a:buSzPct val="100000"/>
            </a:pPr>
            <a:r>
              <a:rPr lang="en-US" sz="3200" b="1">
                <a:solidFill>
                  <a:srgbClr val="FF0000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+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C7FB8714-50E7-3DF4-88C2-A319C5110BED}"/>
              </a:ext>
            </a:extLst>
          </p:cNvPr>
          <p:cNvSpPr/>
          <p:nvPr/>
        </p:nvSpPr>
        <p:spPr>
          <a:xfrm>
            <a:off x="14165522" y="4755325"/>
            <a:ext cx="464878" cy="336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  <a:buSzPct val="100000"/>
            </a:pPr>
            <a:r>
              <a:rPr lang="en-US" sz="3200" b="1">
                <a:solidFill>
                  <a:srgbClr val="FF0000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+</a:t>
            </a:r>
            <a:endParaRPr lang="en-US" sz="32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">
                <a:extLst>
                  <a:ext uri="{FF2B5EF4-FFF2-40B4-BE49-F238E27FC236}">
                    <a16:creationId xmlns:a16="http://schemas.microsoft.com/office/drawing/2014/main" id="{5EE7BE31-47A3-2ACD-F420-5FBE1CA817AF}"/>
                  </a:ext>
                </a:extLst>
              </p:cNvPr>
              <p:cNvSpPr/>
              <p:nvPr/>
            </p:nvSpPr>
            <p:spPr>
              <a:xfrm>
                <a:off x="6441311" y="6041466"/>
                <a:ext cx="3761773" cy="185246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0000"/>
                  </a:lnSpc>
                  <a:buSzPct val="100000"/>
                </a:pPr>
                <a:r>
                  <a:rPr lang="en-US" sz="2800" b="1">
                    <a:solidFill>
                      <a:srgbClr val="FF0000"/>
                    </a:solidFill>
                    <a:latin typeface="Arimo Medium" pitchFamily="34" charset="0"/>
                    <a:ea typeface="Arimo Medium" pitchFamily="34" charset="-122"/>
                    <a:cs typeface="Arimo Medium" pitchFamily="34" charset="-120"/>
                  </a:rPr>
                  <a:t>x = D x cos</a:t>
                </a:r>
                <a:r>
                  <a:rPr lang="el-GR" sz="2800" b="1">
                    <a:solidFill>
                      <a:srgbClr val="FF0000"/>
                    </a:solidFill>
                    <a:ea typeface="Arimo Medium" pitchFamily="34" charset="-122"/>
                    <a:cs typeface="Arimo Medium" pitchFamily="34" charset="-12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rimo Medium" pitchFamily="34" charset="-122"/>
                            <a:cs typeface="Arimo Medium" pitchFamily="34" charset="-120"/>
                          </a:rPr>
                        </m:ctrlPr>
                      </m:dPr>
                      <m:e>
                        <m:r>
                          <a:rPr lang="el-GR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rimo Medium" pitchFamily="34" charset="-122"/>
                            <a:cs typeface="Arimo Medium" pitchFamily="34" charset="-120"/>
                          </a:rPr>
                          <m:t>𝜶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Arimo Medium" pitchFamily="34" charset="-122"/>
                            <a:cs typeface="Arimo Medium" pitchFamily="34" charset="-120"/>
                          </a:rPr>
                          <m:t> </m:t>
                        </m:r>
                      </m:e>
                    </m:d>
                  </m:oMath>
                </a14:m>
                <a:endParaRPr lang="en-US" sz="2800" b="1">
                  <a:solidFill>
                    <a:srgbClr val="FF0000"/>
                  </a:solidFill>
                  <a:ea typeface="Arimo Medium" pitchFamily="34" charset="-122"/>
                  <a:cs typeface="Arimo Medium" pitchFamily="34" charset="-120"/>
                </a:endParaRPr>
              </a:p>
              <a:p>
                <a:pPr>
                  <a:lnSpc>
                    <a:spcPct val="150000"/>
                  </a:lnSpc>
                  <a:buSzPct val="100000"/>
                </a:pPr>
                <a:r>
                  <a:rPr lang="en-US" sz="2800" b="1">
                    <a:solidFill>
                      <a:srgbClr val="FF0000"/>
                    </a:solidFill>
                  </a:rPr>
                  <a:t>y = 0</a:t>
                </a:r>
              </a:p>
              <a:p>
                <a:pPr>
                  <a:lnSpc>
                    <a:spcPct val="150000"/>
                  </a:lnSpc>
                  <a:buSzPct val="100000"/>
                </a:pPr>
                <a:r>
                  <a:rPr lang="en-US" sz="2800" b="1">
                    <a:solidFill>
                      <a:srgbClr val="FF0000"/>
                    </a:solidFill>
                  </a:rPr>
                  <a:t>z = -1 x D x sin (</a:t>
                </a:r>
                <a14:m>
                  <m:oMath xmlns:m="http://schemas.openxmlformats.org/officeDocument/2006/math">
                    <m:r>
                      <a:rPr lang="el-GR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mo Medium" pitchFamily="34" charset="-122"/>
                        <a:cs typeface="Arimo Medium" pitchFamily="34" charset="-120"/>
                      </a:rPr>
                      <m:t>𝜶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mo Medium" pitchFamily="34" charset="-122"/>
                        <a:cs typeface="Arimo Medium" pitchFamily="34" charset="-120"/>
                      </a:rPr>
                      <m:t>)</m:t>
                    </m:r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 2">
                <a:extLst>
                  <a:ext uri="{FF2B5EF4-FFF2-40B4-BE49-F238E27FC236}">
                    <a16:creationId xmlns:a16="http://schemas.microsoft.com/office/drawing/2014/main" id="{5EE7BE31-47A3-2ACD-F420-5FBE1CA817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311" y="6041466"/>
                <a:ext cx="3761773" cy="1852467"/>
              </a:xfrm>
              <a:prstGeom prst="rect">
                <a:avLst/>
              </a:prstGeom>
              <a:blipFill>
                <a:blip r:embed="rId5"/>
                <a:stretch>
                  <a:fillRect l="-5835" b="-1217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2">
            <a:extLst>
              <a:ext uri="{FF2B5EF4-FFF2-40B4-BE49-F238E27FC236}">
                <a16:creationId xmlns:a16="http://schemas.microsoft.com/office/drawing/2014/main" id="{92DDB187-0FF3-C0EE-DCF5-50C4DD2512E3}"/>
              </a:ext>
            </a:extLst>
          </p:cNvPr>
          <p:cNvSpPr/>
          <p:nvPr/>
        </p:nvSpPr>
        <p:spPr>
          <a:xfrm>
            <a:off x="523638" y="5704880"/>
            <a:ext cx="1381897" cy="336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  <a:buSzPct val="100000"/>
            </a:pP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95DBA7D4-1CCD-D2EC-E24C-857BC412AB20}"/>
              </a:ext>
            </a:extLst>
          </p:cNvPr>
          <p:cNvSpPr/>
          <p:nvPr/>
        </p:nvSpPr>
        <p:spPr>
          <a:xfrm>
            <a:off x="2437424" y="5658582"/>
            <a:ext cx="414759" cy="336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  <a:buSzPct val="100000"/>
            </a:pPr>
            <a:r>
              <a:rPr lang="en-US" sz="2000" b="1">
                <a:solidFill>
                  <a:srgbClr val="FF0000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O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4BF40975-41D3-7381-1F78-EB4E43C453CF}"/>
              </a:ext>
            </a:extLst>
          </p:cNvPr>
          <p:cNvSpPr/>
          <p:nvPr/>
        </p:nvSpPr>
        <p:spPr>
          <a:xfrm>
            <a:off x="4049339" y="6897855"/>
            <a:ext cx="414759" cy="336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  <a:buSzPct val="100000"/>
            </a:pPr>
            <a:r>
              <a:rPr lang="en-US" sz="2000" b="1">
                <a:solidFill>
                  <a:srgbClr val="FF0000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M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31826" y="27822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6: Demo Trực tiếp </a:t>
            </a:r>
            <a:r>
              <a:rPr lang="en-US" sz="3550" b="1" dirty="0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k</a:t>
            </a:r>
            <a:r>
              <a:rPr lang="en-US" sz="3550" b="1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ết </a:t>
            </a:r>
            <a:r>
              <a:rPr lang="en-US" sz="3550" b="1" dirty="0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quả</a:t>
            </a:r>
            <a:endParaRPr lang="en-US" sz="355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CE6566-7232-C5BE-62E5-C4D452600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985" y="1008536"/>
            <a:ext cx="11690430" cy="70821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B37AED-4A72-EF5B-4CA2-DD309A58D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7875" y="5736789"/>
            <a:ext cx="2047755" cy="2047755"/>
          </a:xfrm>
          <a:prstGeom prst="rect">
            <a:avLst/>
          </a:prstGeom>
        </p:spPr>
      </p:pic>
      <p:pic>
        <p:nvPicPr>
          <p:cNvPr id="3074" name="Picture 2" descr="Mellstroy GIF - Mellstroy - Discover &amp; Share GIFs">
            <a:extLst>
              <a:ext uri="{FF2B5EF4-FFF2-40B4-BE49-F238E27FC236}">
                <a16:creationId xmlns:a16="http://schemas.microsoft.com/office/drawing/2014/main" id="{0E0C1CC1-A999-1F78-8110-E1E33A5AB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36719"/>
            <a:ext cx="2095500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D4E7669-12D8-5D65-D26A-1D6C6ECEDB5E}"/>
              </a:ext>
            </a:extLst>
          </p:cNvPr>
          <p:cNvSpPr/>
          <p:nvPr/>
        </p:nvSpPr>
        <p:spPr>
          <a:xfrm>
            <a:off x="0" y="7784544"/>
            <a:ext cx="1047277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b="1">
                <a:solidFill>
                  <a:srgbClr val="030303"/>
                </a:solidFill>
                <a:highlight>
                  <a:srgbClr val="C0C0C0"/>
                </a:highlight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16 / 20  </a:t>
            </a:r>
            <a:endParaRPr lang="en-US" b="1" dirty="0">
              <a:highlight>
                <a:srgbClr val="C0C0C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289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7</a:t>
            </a:r>
            <a:r>
              <a:rPr lang="en-US" sz="4450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.1 </a:t>
            </a:r>
            <a:r>
              <a:rPr lang="en-US" sz="4450" dirty="0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Kết quả đạt được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28649"/>
            <a:ext cx="38479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Về mặt học thuật và kỹ thuật: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93790" y="3109793"/>
            <a:ext cx="6244709" cy="3787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Nắm vững và vận </a:t>
            </a:r>
            <a:r>
              <a:rPr lang="en-US" sz="20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dụng được các </a:t>
            </a:r>
            <a:r>
              <a:rPr lang="en-US" sz="20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kiến thức cốt lõi của Đồ họa máy tính: Hệ tọa độ 3D, phép biến đổi Affine (Tịnh tiến, Xoay, Thu phóng) và toán học vector.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Làm chủ thư viện OpenGL ở mức độ cấu trúc (low-level). Triển khai thành công thuật toán lồng ma trận </a:t>
            </a:r>
            <a:r>
              <a:rPr lang="en-US" sz="20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phân cấp.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Cài đặt thành công mô hình chiếu sáng Phong (Phong Shading) kết hợp kỹ thuật dán ảnh (Texture Mapping) và Skybox.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99521" y="2528649"/>
            <a:ext cx="38650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Về mặt chức năng ứng dụng: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599521" y="3109793"/>
            <a:ext cx="6244709" cy="269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Xây dựng được mô hình Hệ Mặt trời trực quan với Mặt trời, 8 hành tinh và các vệ tinh tiêu biểu.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Cung cấp trải nghiệm tương tác tự do: Hệ thống Camera linh hoạt (Zoom, xoay 360 độ) và tính năng bám đuổi mục tiêu (Focus Mode).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Tích hợp bảng điều khiển Console cập nhật thông số vật lý theo thời gian thực.</a:t>
            </a:r>
            <a:endParaRPr lang="en-US" sz="20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213BCAC1-D139-0F56-7D19-D99ECA85A77B}"/>
              </a:ext>
            </a:extLst>
          </p:cNvPr>
          <p:cNvSpPr/>
          <p:nvPr/>
        </p:nvSpPr>
        <p:spPr>
          <a:xfrm>
            <a:off x="0" y="7784544"/>
            <a:ext cx="1047277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b="1">
                <a:solidFill>
                  <a:srgbClr val="030303"/>
                </a:solidFill>
                <a:highlight>
                  <a:srgbClr val="C0C0C0"/>
                </a:highlight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17 / 20  </a:t>
            </a:r>
            <a:endParaRPr lang="en-US" b="1" dirty="0">
              <a:highlight>
                <a:srgbClr val="C0C0C0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2964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7</a:t>
            </a:r>
            <a:r>
              <a:rPr lang="en-US" sz="3550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.2 </a:t>
            </a:r>
            <a:r>
              <a:rPr lang="en-US" sz="3550" dirty="0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Hạn chế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1873568"/>
            <a:ext cx="6407944" cy="2819519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3310" y="1873568"/>
            <a:ext cx="121920" cy="2819519"/>
          </a:xfrm>
          <a:prstGeom prst="roundRect">
            <a:avLst>
              <a:gd name="adj" fmla="val 78139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2524" y="2130862"/>
            <a:ext cx="40683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64646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Tỷ lệ không gian phi tuyến tính</a:t>
            </a:r>
            <a:endParaRPr lang="en-US" sz="2400" b="1" dirty="0"/>
          </a:p>
        </p:txBody>
      </p:sp>
      <p:sp>
        <p:nvSpPr>
          <p:cNvPr id="6" name="Text 4"/>
          <p:cNvSpPr/>
          <p:nvPr/>
        </p:nvSpPr>
        <p:spPr>
          <a:xfrm>
            <a:off x="1142524" y="2874435"/>
            <a:ext cx="58019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Để có </a:t>
            </a:r>
            <a:r>
              <a:rPr lang="en-US" sz="20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thể quan sát được trên cùng một khung hình màn hình</a:t>
            </a:r>
            <a:r>
              <a:rPr lang="en-US" sz="20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, các tỷ lệ (kích thước, khoảng </a:t>
            </a:r>
            <a:r>
              <a:rPr lang="en-US" sz="20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cách </a:t>
            </a:r>
            <a:r>
              <a:rPr lang="en-US" sz="20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quỹ đạo,.. ) đã </a:t>
            </a:r>
            <a:r>
              <a:rPr lang="en-US" sz="20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được tinh chỉnh (Clamp</a:t>
            </a:r>
            <a:r>
              <a:rPr lang="en-US" sz="200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/Scale).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28548" y="1873568"/>
            <a:ext cx="6408063" cy="2819519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98067" y="1873568"/>
            <a:ext cx="121920" cy="2819519"/>
          </a:xfrm>
          <a:prstGeom prst="roundRect">
            <a:avLst>
              <a:gd name="adj" fmla="val 78139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7282" y="2130862"/>
            <a:ext cx="41001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64646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Dán ảnh lên vành đai hành tinh</a:t>
            </a:r>
            <a:endParaRPr lang="en-US" sz="2400" b="1" dirty="0"/>
          </a:p>
        </p:txBody>
      </p:sp>
      <p:sp>
        <p:nvSpPr>
          <p:cNvPr id="10" name="Text 8"/>
          <p:cNvSpPr/>
          <p:nvPr/>
        </p:nvSpPr>
        <p:spPr>
          <a:xfrm>
            <a:off x="7777282" y="2874435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Hiện tại dự án chưa thể dán ảnh một cách hợp lý vào vành đai hành tinh (Sao Thổ, Sao Thiên Vương).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93790" y="4919901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3310" y="4919901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2524" y="5177195"/>
            <a:ext cx="35692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64646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Giao diện hiển thị thông tin</a:t>
            </a:r>
            <a:endParaRPr lang="en-US" sz="2400" b="1" dirty="0"/>
          </a:p>
        </p:txBody>
      </p:sp>
      <p:sp>
        <p:nvSpPr>
          <p:cNvPr id="14" name="Text 12"/>
          <p:cNvSpPr/>
          <p:nvPr/>
        </p:nvSpPr>
        <p:spPr>
          <a:xfrm>
            <a:off x="1142524" y="5667613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Hiện tại giao diện vẫn đang sử dung giao diện Console để hiển thị thông tin, kèm theo đó lượng thông tin cung cấp chưa đủ nhiều và chi tiết.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428548" y="4919901"/>
            <a:ext cx="6408063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98067" y="4919901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7282" y="5177195"/>
            <a:ext cx="53868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64646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Hạn chế về hiệu ứng đổ bóng (Shadows)</a:t>
            </a:r>
            <a:endParaRPr lang="en-US" sz="2400" b="1" dirty="0"/>
          </a:p>
        </p:txBody>
      </p:sp>
      <p:sp>
        <p:nvSpPr>
          <p:cNvPr id="18" name="Text 16"/>
          <p:cNvSpPr/>
          <p:nvPr/>
        </p:nvSpPr>
        <p:spPr>
          <a:xfrm>
            <a:off x="7777282" y="5667613"/>
            <a:ext cx="58020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Hệ thống ánh sáng hiện tại mới chỉ xử lý phần sáng/tối trên bề mặt từng vật thể, chưa cài đặt thuật toán Shadow Mapping để các vật thể có thể che khuất ánh sáng và đổ bóng lên nhau.</a:t>
            </a:r>
            <a:endParaRPr lang="en-US" sz="2000" dirty="0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604DD7BE-264C-DA89-D2DA-E582EC490394}"/>
              </a:ext>
            </a:extLst>
          </p:cNvPr>
          <p:cNvSpPr/>
          <p:nvPr/>
        </p:nvSpPr>
        <p:spPr>
          <a:xfrm>
            <a:off x="0" y="7784544"/>
            <a:ext cx="1047277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b="1">
                <a:solidFill>
                  <a:srgbClr val="030303"/>
                </a:solidFill>
                <a:highlight>
                  <a:srgbClr val="C0C0C0"/>
                </a:highlight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18 / 20  </a:t>
            </a:r>
            <a:endParaRPr lang="en-US" b="1" dirty="0">
              <a:highlight>
                <a:srgbClr val="C0C0C0"/>
              </a:highligh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065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7</a:t>
            </a:r>
            <a:r>
              <a:rPr lang="en-US" sz="4450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.3 </a:t>
            </a:r>
            <a:r>
              <a:rPr lang="en-US" sz="4450" dirty="0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Hướng phát triển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83061"/>
            <a:ext cx="4196358" cy="4225766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4270" y="2613541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21888" y="274105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3520797"/>
            <a:ext cx="35018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64646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Tối ưu giao diện UI đồ họa</a:t>
            </a:r>
            <a:endParaRPr lang="en-US" sz="2400" b="1" dirty="0"/>
          </a:p>
        </p:txBody>
      </p:sp>
      <p:sp>
        <p:nvSpPr>
          <p:cNvPr id="7" name="Text 5"/>
          <p:cNvSpPr/>
          <p:nvPr/>
        </p:nvSpPr>
        <p:spPr>
          <a:xfrm>
            <a:off x="1051084" y="4083656"/>
            <a:ext cx="368177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Thay thế cửa sổ Console hiện tại bằng việc tích hợp các thư viện UI cho C++ để hiển thị bảng thông số, nút bấm điều khiển ngay trên màn hình render 3D. Bổ sung thêm nhiều và chi tiết thông tin các hành tinh.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16962" y="2583061"/>
            <a:ext cx="4196358" cy="4225766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247442" y="2613541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45060" y="274105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5897582" y="35207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64646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Phát triển chức năng</a:t>
            </a:r>
            <a:endParaRPr lang="en-US" sz="2400" b="1" dirty="0"/>
          </a:p>
        </p:txBody>
      </p:sp>
      <p:sp>
        <p:nvSpPr>
          <p:cNvPr id="12" name="Text 10"/>
          <p:cNvSpPr/>
          <p:nvPr/>
        </p:nvSpPr>
        <p:spPr>
          <a:xfrm>
            <a:off x="5474256" y="4083656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Bổ sung thêm chức năng tua nhanh thời gian bằng cách tương tác với bàn phím hoặc với các nút bấm trên màn hình.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9640133" y="2583061"/>
            <a:ext cx="4196358" cy="4225766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670613" y="2613541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568232" y="274105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10320694" y="35207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64646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Hiệu ứng đổ bóng</a:t>
            </a:r>
            <a:endParaRPr lang="en-US" sz="2400" b="1" dirty="0"/>
          </a:p>
        </p:txBody>
      </p:sp>
      <p:sp>
        <p:nvSpPr>
          <p:cNvPr id="17" name="Text 15"/>
          <p:cNvSpPr/>
          <p:nvPr/>
        </p:nvSpPr>
        <p:spPr>
          <a:xfrm>
            <a:off x="9897427" y="4083656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dirty="0">
                <a:solidFill>
                  <a:srgbClr val="464646"/>
                </a:solidFill>
                <a:latin typeface="Arimo Medium" pitchFamily="34" charset="0"/>
                <a:ea typeface="Arimo Medium" pitchFamily="34" charset="-122"/>
                <a:cs typeface="Arimo Medium" pitchFamily="34" charset="-120"/>
              </a:rPr>
              <a:t>Nghiên cứu thêm về thuật toán Shadow Mapping để tăng thêm tính chân thực cho hiệu ứng đổ bóng của dự án.</a:t>
            </a:r>
            <a:endParaRPr lang="en-US" dirty="0"/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6BF1326E-DE43-24EF-56CD-2D1D21B6F8FD}"/>
              </a:ext>
            </a:extLst>
          </p:cNvPr>
          <p:cNvSpPr/>
          <p:nvPr/>
        </p:nvSpPr>
        <p:spPr>
          <a:xfrm>
            <a:off x="0" y="7784544"/>
            <a:ext cx="1047277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b="1">
                <a:solidFill>
                  <a:srgbClr val="030303"/>
                </a:solidFill>
                <a:highlight>
                  <a:srgbClr val="C0C0C0"/>
                </a:highlight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19 / 20  </a:t>
            </a:r>
            <a:endParaRPr lang="en-US" b="1" dirty="0">
              <a:highlight>
                <a:srgbClr val="C0C0C0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2E9AEBC-49CE-8C4F-1D55-ABABEF68BF70}"/>
              </a:ext>
            </a:extLst>
          </p:cNvPr>
          <p:cNvSpPr/>
          <p:nvPr/>
        </p:nvSpPr>
        <p:spPr>
          <a:xfrm>
            <a:off x="-115747" y="2277181"/>
            <a:ext cx="146304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>
                <a:solidFill>
                  <a:srgbClr val="030303"/>
                </a:solidFill>
                <a:latin typeface="Arimo Semi Bold" pitchFamily="34" charset="0"/>
                <a:ea typeface="Arimo Semi Bold" pitchFamily="34" charset="-122"/>
                <a:cs typeface="Arimo Semi Bold" pitchFamily="34" charset="-120"/>
              </a:rPr>
              <a:t>Cảm ơn Thầy và các bạn đã chú ý lắng nghe!</a:t>
            </a:r>
            <a:endParaRPr lang="en-US" sz="4450" b="1" dirty="0"/>
          </a:p>
        </p:txBody>
      </p:sp>
      <p:pic>
        <p:nvPicPr>
          <p:cNvPr id="6148" name="Picture 4" descr="Like - Free social media icons">
            <a:extLst>
              <a:ext uri="{FF2B5EF4-FFF2-40B4-BE49-F238E27FC236}">
                <a16:creationId xmlns:a16="http://schemas.microsoft.com/office/drawing/2014/main" id="{97B858C2-010E-3604-6688-36FA4E542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4883" y="4114800"/>
            <a:ext cx="3520633" cy="3520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091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1609</Words>
  <Application>Microsoft Office PowerPoint</Application>
  <PresentationFormat>Custom</PresentationFormat>
  <Paragraphs>180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Arimo Medium</vt:lpstr>
      <vt:lpstr>Arial</vt:lpstr>
      <vt:lpstr>Cambria Math</vt:lpstr>
      <vt:lpstr>Arimo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Nguyễn Tuấn Anh</cp:lastModifiedBy>
  <cp:revision>15</cp:revision>
  <dcterms:created xsi:type="dcterms:W3CDTF">2026-04-16T12:58:21Z</dcterms:created>
  <dcterms:modified xsi:type="dcterms:W3CDTF">2026-04-20T16:21:20Z</dcterms:modified>
</cp:coreProperties>
</file>