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3"/>
  </p:notesMasterIdLst>
  <p:handoutMasterIdLst>
    <p:handoutMasterId r:id="rId44"/>
  </p:handoutMasterIdLst>
  <p:sldIdLst>
    <p:sldId id="256" r:id="rId2"/>
    <p:sldId id="267" r:id="rId3"/>
    <p:sldId id="279" r:id="rId4"/>
    <p:sldId id="257" r:id="rId5"/>
    <p:sldId id="281" r:id="rId6"/>
    <p:sldId id="282" r:id="rId7"/>
    <p:sldId id="283" r:id="rId8"/>
    <p:sldId id="284" r:id="rId9"/>
    <p:sldId id="258" r:id="rId10"/>
    <p:sldId id="286" r:id="rId11"/>
    <p:sldId id="287" r:id="rId12"/>
    <p:sldId id="288" r:id="rId13"/>
    <p:sldId id="289" r:id="rId14"/>
    <p:sldId id="290" r:id="rId15"/>
    <p:sldId id="301" r:id="rId16"/>
    <p:sldId id="302" r:id="rId17"/>
    <p:sldId id="303" r:id="rId18"/>
    <p:sldId id="304" r:id="rId19"/>
    <p:sldId id="305" r:id="rId20"/>
    <p:sldId id="291" r:id="rId21"/>
    <p:sldId id="292" r:id="rId22"/>
    <p:sldId id="293" r:id="rId23"/>
    <p:sldId id="294" r:id="rId24"/>
    <p:sldId id="295" r:id="rId25"/>
    <p:sldId id="296" r:id="rId26"/>
    <p:sldId id="297" r:id="rId27"/>
    <p:sldId id="300" r:id="rId28"/>
    <p:sldId id="299" r:id="rId29"/>
    <p:sldId id="298" r:id="rId30"/>
    <p:sldId id="306" r:id="rId31"/>
    <p:sldId id="307" r:id="rId32"/>
    <p:sldId id="259" r:id="rId33"/>
    <p:sldId id="308" r:id="rId34"/>
    <p:sldId id="265" r:id="rId35"/>
    <p:sldId id="266" r:id="rId36"/>
    <p:sldId id="309" r:id="rId37"/>
    <p:sldId id="268" r:id="rId38"/>
    <p:sldId id="311" r:id="rId39"/>
    <p:sldId id="310" r:id="rId40"/>
    <p:sldId id="312" r:id="rId41"/>
    <p:sldId id="277" r:id="rId42"/>
  </p:sldIdLst>
  <p:sldSz cx="14630400" cy="8229600"/>
  <p:notesSz cx="8229600" cy="14630400"/>
  <p:embeddedFontLst>
    <p:embeddedFont>
      <p:font typeface="Aptos Narrow" panose="020B0004020202020204" pitchFamily="34" charset="0"/>
      <p:regular r:id="rId45"/>
      <p:bold r:id="rId46"/>
      <p:italic r:id="rId47"/>
      <p:boldItalic r:id="rId48"/>
    </p:embeddedFont>
    <p:embeddedFont>
      <p:font typeface="Arimo Medium" panose="020B0604020202020204" charset="0"/>
      <p:regular r:id="rId49"/>
    </p:embeddedFont>
    <p:embeddedFont>
      <p:font typeface="Arimo Semi Bold" panose="020B0604020202020204" charset="0"/>
      <p:regular r:id="rId5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10"/>
  </p:normalViewPr>
  <p:slideViewPr>
    <p:cSldViewPr snapToGrid="0" snapToObjects="1">
      <p:cViewPr>
        <p:scale>
          <a:sx n="66" d="100"/>
          <a:sy n="66" d="100"/>
        </p:scale>
        <p:origin x="912" y="36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829BB6B-058E-4A01-B93B-AEA259F295A5}"/>
              </a:ext>
            </a:extLst>
          </p:cNvPr>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AC069DE-B1F6-C9E1-14B8-1437A327DF42}"/>
              </a:ext>
            </a:extLst>
          </p:cNvPr>
          <p:cNvSpPr>
            <a:spLocks noGrp="1"/>
          </p:cNvSpPr>
          <p:nvPr>
            <p:ph type="dt" sz="quarter" idx="1"/>
          </p:nvPr>
        </p:nvSpPr>
        <p:spPr>
          <a:xfrm>
            <a:off x="4660900" y="0"/>
            <a:ext cx="3567113" cy="733425"/>
          </a:xfrm>
          <a:prstGeom prst="rect">
            <a:avLst/>
          </a:prstGeom>
        </p:spPr>
        <p:txBody>
          <a:bodyPr vert="horz" lIns="91440" tIns="45720" rIns="91440" bIns="45720" rtlCol="0"/>
          <a:lstStyle>
            <a:lvl1pPr algn="r">
              <a:defRPr sz="1200"/>
            </a:lvl1pPr>
          </a:lstStyle>
          <a:p>
            <a:fld id="{C58B6E47-9018-45E5-9ABF-83088785E00A}" type="datetimeFigureOut">
              <a:rPr lang="en-US" smtClean="0"/>
              <a:t>04/23/26</a:t>
            </a:fld>
            <a:endParaRPr lang="en-US"/>
          </a:p>
        </p:txBody>
      </p:sp>
      <p:sp>
        <p:nvSpPr>
          <p:cNvPr id="4" name="Footer Placeholder 3">
            <a:extLst>
              <a:ext uri="{FF2B5EF4-FFF2-40B4-BE49-F238E27FC236}">
                <a16:creationId xmlns:a16="http://schemas.microsoft.com/office/drawing/2014/main" id="{25A1AEC7-9472-2710-1970-D3FC17E4A856}"/>
              </a:ext>
            </a:extLst>
          </p:cNvPr>
          <p:cNvSpPr>
            <a:spLocks noGrp="1"/>
          </p:cNvSpPr>
          <p:nvPr>
            <p:ph type="ftr" sz="quarter" idx="2"/>
          </p:nvPr>
        </p:nvSpPr>
        <p:spPr>
          <a:xfrm>
            <a:off x="0" y="13896975"/>
            <a:ext cx="3565525" cy="7334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864914D-2B3C-D2C8-99AF-CC0381CE633E}"/>
              </a:ext>
            </a:extLst>
          </p:cNvPr>
          <p:cNvSpPr>
            <a:spLocks noGrp="1"/>
          </p:cNvSpPr>
          <p:nvPr>
            <p:ph type="sldNum" sz="quarter" idx="3"/>
          </p:nvPr>
        </p:nvSpPr>
        <p:spPr>
          <a:xfrm>
            <a:off x="4660900" y="13896975"/>
            <a:ext cx="3567113" cy="733425"/>
          </a:xfrm>
          <a:prstGeom prst="rect">
            <a:avLst/>
          </a:prstGeom>
        </p:spPr>
        <p:txBody>
          <a:bodyPr vert="horz" lIns="91440" tIns="45720" rIns="91440" bIns="45720" rtlCol="0" anchor="b"/>
          <a:lstStyle>
            <a:lvl1pPr algn="r">
              <a:defRPr sz="1200"/>
            </a:lvl1pPr>
          </a:lstStyle>
          <a:p>
            <a:fld id="{3C3DBA55-FFDC-4821-AC1D-577E0407E2B3}" type="slidenum">
              <a:rPr lang="en-US" smtClean="0"/>
              <a:t>‹#›</a:t>
            </a:fld>
            <a:endParaRPr lang="en-US"/>
          </a:p>
        </p:txBody>
      </p:sp>
    </p:spTree>
    <p:extLst>
      <p:ext uri="{BB962C8B-B14F-4D97-AF65-F5344CB8AC3E}">
        <p14:creationId xmlns:p14="http://schemas.microsoft.com/office/powerpoint/2010/main" val="251413025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431083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02BC9-AABF-86B6-971A-DAEE37C12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0A176E-EA77-31DE-0802-30A9300F82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3614A-1CF5-5B40-E04E-D7D77632409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843557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B398C-D2BC-C383-BCD0-55AA3B5C1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EE9500-3C85-8868-2440-2C25E5CE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0C25E5-DCF1-A4E4-2738-EC7972CDCB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53648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FA5B6-63D2-E6DA-6373-E12A982DF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F6079-6F22-3533-66DC-05E4EC376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F3FCB-CBD4-5CE3-86ED-6C451A2211A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11624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B5D4D-EAB0-467A-2011-D9782F4E2A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5F5B9F-150F-EFB7-DB41-AD7A83F109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310414-5B11-F110-0E5B-944817C5076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15963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442F7-9E53-BD43-445F-F6AB4D5F62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0E417B-3DF2-0335-76FA-C67B6B357F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8A74BD-0B91-64D2-1C5E-0E1500A6865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756493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E0AEA-E417-86AA-E466-A7A8C471C5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1206C3-9B5E-0CF6-77B8-3A5A3C18A9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A752A-B618-F7BE-0497-9888116209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106934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C877A-0A96-7E5C-6E23-1748CE945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ACF8-CF90-7391-81D0-BDC99AD6E3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194D-185D-A7D8-1E45-4EE861E2592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814166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2CF05-2379-1006-D50A-43D5B7C85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0E9E7D-133B-7C49-BCCD-CF7B1A66F7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07BD64-AADC-AB41-136E-CA4DF8D5E8F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281805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276AB-C479-00FB-E4F6-B115ABB3DD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1ED641-C517-6271-4CEB-816F1197F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D28F2C-C487-FF51-E9F3-CB073C28077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24716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74F8E-5059-BDD9-C49C-C87F3EAE5D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45681-D26C-D478-B7D9-8045F05C52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62937-7110-F592-B5D1-204D8BA7991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6893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275BB-F8B7-B442-B3C6-C2CF9F4C35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5A7927-74CD-06F2-73C3-74A748EC65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DDD14C-F994-8E61-7549-FA5D2E65C8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859533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215C8-D94F-72F5-3C81-7F45E5EA13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AFE663-FDCD-3F21-BC67-BA82B9B08F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948FC-2120-CAA0-2E42-0DC727713C9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021468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B37E2-E500-8543-34FB-0ABC18586F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2253A-18CD-2703-D509-7AA44B3D5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0A9E5-895F-9FDF-4618-F11595469C8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575789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3C7E3-F9A6-F9CE-71D9-717D4CD71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C75F5-3EA1-A1BA-4058-D4AB27470D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35246-28F0-0217-0CF8-A1F0F1FCD3B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793773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098FD-BBDC-6A11-4623-C58355324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CBF1F-3838-C30D-7281-D0359D93B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DCCC6C-0D0F-851D-E8DB-5D8CEB18D7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641897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35681-D355-CB8F-19FF-5C2D6A79B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F47D45-3810-A12A-2490-FDD0726CD8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624BCC-FEEF-CE9A-D432-CB17C617566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0631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C3DF7-5690-F580-102C-B28573AE88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CFD1B9-5023-3F7B-D20A-530274A4C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CB9AAA-37AC-D5AE-B576-B5B8F50099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72875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E1F4A-08C8-CCED-9E0E-55D2C1649A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9D3992-C093-873E-1976-86400CAF3B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4158D-E6BE-9907-54A6-E0AC92034B0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58386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7F2D0-CB43-D465-75C0-732458362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476EE-B303-D409-DDC1-EFC62D36F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1666D3-2AF2-4692-058C-33E33D2ED1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095955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26EC-12FA-A345-41CE-1049560DD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175A2-709C-B4B5-04D9-8404DBC9F0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96713E-29F5-863E-6941-AC51292EAAB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919758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CA21E-DF2B-084B-15E7-7174B1BE38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BCB307-6201-8C64-F605-D821CF014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ACFB75-E69F-854A-AB3E-12D998CF630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104339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FC522-EEF3-504A-C872-F2E791CA6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4D8D22-15A7-3011-159D-C424C76E9E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215BA0-F909-B4C3-B48C-C1EFC13A936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473477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03455-FC9B-651B-2217-2BEA553A5C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1A7C7E-15BF-7B25-9243-F19B2BCBE9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7C4343-C274-2188-E426-909EC4607E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06253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40937-24BB-F92A-9EAF-58116E10E1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3E8399-89F6-CA96-2623-1DD171E864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C89F66-AEAD-B4EA-F597-00B53D4E9FE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682186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6E4B8-959E-7660-8DB2-28138778AE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9EBC2-BCB3-23D0-8BAE-D3BAABA4A1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75D7-F64E-17B4-9318-F1962A457D4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358483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3D169-8131-AC33-2668-0B781CF121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7224CC-C71E-D62B-5DF9-1CC39E4F61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82A85E-1990-0EFF-AD8B-4DD18E3CBB4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90068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8427A-A867-CA00-C911-C9C747818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C61EF-8A02-44A5-18A2-4FFA1825B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8185F-3831-786A-3D95-1D61F377E47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28734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15.jpe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hyperlink" Target="https://netron.app/" TargetMode="External"/><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5.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254720" y="1372675"/>
            <a:ext cx="7556421" cy="2126337"/>
          </a:xfrm>
          <a:prstGeom prst="rect">
            <a:avLst/>
          </a:prstGeom>
          <a:noFill/>
          <a:ln/>
        </p:spPr>
        <p:txBody>
          <a:bodyPr wrap="square" lIns="0" tIns="0" rIns="0" bIns="0" rtlCol="0" anchor="t"/>
          <a:lstStyle/>
          <a:p>
            <a:pPr marL="0" indent="0" algn="r">
              <a:lnSpc>
                <a:spcPts val="5550"/>
              </a:lnSpc>
              <a:buNone/>
            </a:pPr>
            <a:r>
              <a:rPr lang="en-US" sz="4450" b="1" dirty="0">
                <a:solidFill>
                  <a:srgbClr val="030303"/>
                </a:solidFill>
                <a:latin typeface="Arimo Semi Bold" pitchFamily="34" charset="0"/>
                <a:ea typeface="Arimo Semi Bold" pitchFamily="34" charset="-122"/>
                <a:cs typeface="Arimo Semi Bold" pitchFamily="34" charset="-120"/>
              </a:rPr>
              <a:t>Báo </a:t>
            </a:r>
            <a:r>
              <a:rPr lang="en-US" sz="4450" b="1">
                <a:solidFill>
                  <a:srgbClr val="030303"/>
                </a:solidFill>
                <a:latin typeface="Arimo Semi Bold" pitchFamily="34" charset="0"/>
                <a:ea typeface="Arimo Semi Bold" pitchFamily="34" charset="-122"/>
                <a:cs typeface="Arimo Semi Bold" pitchFamily="34" charset="-120"/>
              </a:rPr>
              <a:t>cáo dự án: </a:t>
            </a:r>
          </a:p>
          <a:p>
            <a:pPr marL="0" indent="0" algn="r">
              <a:lnSpc>
                <a:spcPts val="5550"/>
              </a:lnSpc>
              <a:buNone/>
            </a:pPr>
            <a:r>
              <a:rPr lang="en-US" sz="4450">
                <a:solidFill>
                  <a:srgbClr val="030303"/>
                </a:solidFill>
                <a:latin typeface="Arimo Semi Bold" pitchFamily="34" charset="0"/>
                <a:ea typeface="Arimo Semi Bold" pitchFamily="34" charset="-122"/>
                <a:cs typeface="Arimo Semi Bold" pitchFamily="34" charset="-120"/>
              </a:rPr>
              <a:t>Hệ thống nhận diện mức độ nguy hiểm của động vật</a:t>
            </a:r>
            <a:endParaRPr lang="en-US" sz="4450" dirty="0"/>
          </a:p>
        </p:txBody>
      </p:sp>
      <p:sp>
        <p:nvSpPr>
          <p:cNvPr id="4" name="Text 1"/>
          <p:cNvSpPr/>
          <p:nvPr/>
        </p:nvSpPr>
        <p:spPr>
          <a:xfrm>
            <a:off x="366233" y="4223840"/>
            <a:ext cx="7556421" cy="3901587"/>
          </a:xfrm>
          <a:prstGeom prst="rect">
            <a:avLst/>
          </a:prstGeom>
          <a:noFill/>
          <a:ln/>
        </p:spPr>
        <p:txBody>
          <a:bodyPr wrap="square" lIns="0" tIns="0" rIns="0" bIns="0" rtlCol="0" anchor="t"/>
          <a:lstStyle/>
          <a:p>
            <a:pPr marL="0" indent="0" algn="l">
              <a:lnSpc>
                <a:spcPct val="150000"/>
              </a:lnSpc>
              <a:buNone/>
            </a:pPr>
            <a:r>
              <a:rPr lang="en-US" sz="2400" dirty="0">
                <a:solidFill>
                  <a:srgbClr val="464646"/>
                </a:solidFill>
                <a:latin typeface="Arimo Medium" pitchFamily="34" charset="0"/>
                <a:ea typeface="Arimo Medium" pitchFamily="34" charset="-122"/>
                <a:cs typeface="Arimo Medium" pitchFamily="34" charset="-120"/>
              </a:rPr>
              <a:t>Môn học</a:t>
            </a:r>
            <a:r>
              <a:rPr lang="en-US" sz="2400">
                <a:solidFill>
                  <a:srgbClr val="464646"/>
                </a:solidFill>
                <a:latin typeface="Arimo Medium" pitchFamily="34" charset="0"/>
                <a:ea typeface="Arimo Medium" pitchFamily="34" charset="-122"/>
                <a:cs typeface="Arimo Medium" pitchFamily="34" charset="-120"/>
              </a:rPr>
              <a:t>: </a:t>
            </a:r>
            <a:r>
              <a:rPr lang="en-US" sz="2400" b="1">
                <a:solidFill>
                  <a:srgbClr val="464646"/>
                </a:solidFill>
                <a:latin typeface="Arimo Medium" pitchFamily="34" charset="0"/>
                <a:ea typeface="Arimo Medium" pitchFamily="34" charset="-122"/>
                <a:cs typeface="Arimo Medium" pitchFamily="34" charset="-120"/>
              </a:rPr>
              <a:t>Hệ thống thông minh</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Sinh </a:t>
            </a:r>
            <a:r>
              <a:rPr lang="en-US" sz="2400" dirty="0">
                <a:solidFill>
                  <a:srgbClr val="464646"/>
                </a:solidFill>
                <a:latin typeface="Arimo Medium" pitchFamily="34" charset="0"/>
                <a:ea typeface="Arimo Medium" pitchFamily="34" charset="-122"/>
                <a:cs typeface="Arimo Medium" pitchFamily="34" charset="-120"/>
              </a:rPr>
              <a:t>viên</a:t>
            </a:r>
            <a:r>
              <a:rPr lang="en-US" sz="2400">
                <a:solidFill>
                  <a:srgbClr val="464646"/>
                </a:solidFill>
                <a:latin typeface="Arimo Medium" pitchFamily="34" charset="0"/>
                <a:ea typeface="Arimo Medium" pitchFamily="34" charset="-122"/>
                <a:cs typeface="Arimo Medium" pitchFamily="34" charset="-120"/>
              </a:rPr>
              <a:t>: </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Lý Lâm Vũ (23050102)</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Lê Tuấn Hải ( 23050115)</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Nguyễn </a:t>
            </a:r>
            <a:r>
              <a:rPr lang="en-US" sz="2400" dirty="0">
                <a:solidFill>
                  <a:srgbClr val="464646"/>
                </a:solidFill>
                <a:latin typeface="Arimo Medium" pitchFamily="34" charset="0"/>
                <a:ea typeface="Arimo Medium" pitchFamily="34" charset="-122"/>
                <a:cs typeface="Arimo Medium" pitchFamily="34" charset="-120"/>
              </a:rPr>
              <a:t>Tuấn Anh (</a:t>
            </a:r>
            <a:r>
              <a:rPr lang="en-US" sz="2400">
                <a:solidFill>
                  <a:srgbClr val="464646"/>
                </a:solidFill>
                <a:latin typeface="Arimo Medium" pitchFamily="34" charset="0"/>
                <a:ea typeface="Arimo Medium" pitchFamily="34" charset="-122"/>
                <a:cs typeface="Arimo Medium" pitchFamily="34" charset="-120"/>
              </a:rPr>
              <a:t>23050118)</a:t>
            </a:r>
          </a:p>
          <a:p>
            <a:pPr marL="0" indent="0" algn="l">
              <a:lnSpc>
                <a:spcPct val="150000"/>
              </a:lnSpc>
              <a:buNone/>
            </a:pPr>
            <a:endParaRPr lang="en-US" sz="2400">
              <a:solidFill>
                <a:srgbClr val="464646"/>
              </a:solidFill>
              <a:latin typeface="Arimo Medium" pitchFamily="34" charset="0"/>
              <a:ea typeface="Arimo Medium" pitchFamily="34" charset="-122"/>
              <a:cs typeface="Arimo Medium" pitchFamily="34" charset="-120"/>
            </a:endParaRP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GVHD: </a:t>
            </a:r>
            <a:r>
              <a:rPr lang="en-US" sz="2400" b="1" dirty="0">
                <a:solidFill>
                  <a:srgbClr val="464646"/>
                </a:solidFill>
                <a:latin typeface="Arimo Medium" pitchFamily="34" charset="0"/>
                <a:ea typeface="Arimo Medium" pitchFamily="34" charset="-122"/>
                <a:cs typeface="Arimo Medium" pitchFamily="34" charset="-120"/>
              </a:rPr>
              <a:t>ThS</a:t>
            </a:r>
            <a:r>
              <a:rPr lang="en-US" sz="2400" b="1">
                <a:solidFill>
                  <a:srgbClr val="464646"/>
                </a:solidFill>
                <a:latin typeface="Arimo Medium" pitchFamily="34" charset="0"/>
                <a:ea typeface="Arimo Medium" pitchFamily="34" charset="-122"/>
                <a:cs typeface="Arimo Medium" pitchFamily="34" charset="-120"/>
              </a:rPr>
              <a:t>. Lê Duy Hùng</a:t>
            </a:r>
            <a:endParaRPr lang="en-US" sz="2400" b="1" dirty="0"/>
          </a:p>
        </p:txBody>
      </p:sp>
      <p:pic>
        <p:nvPicPr>
          <p:cNvPr id="5" name="Picture 4">
            <a:extLst>
              <a:ext uri="{FF2B5EF4-FFF2-40B4-BE49-F238E27FC236}">
                <a16:creationId xmlns:a16="http://schemas.microsoft.com/office/drawing/2014/main" id="{9B145724-077A-D8C6-289C-845E801A02B6}"/>
              </a:ext>
            </a:extLst>
          </p:cNvPr>
          <p:cNvPicPr>
            <a:picLocks noChangeAspect="1"/>
          </p:cNvPicPr>
          <p:nvPr/>
        </p:nvPicPr>
        <p:blipFill>
          <a:blip r:embed="rId3"/>
          <a:stretch>
            <a:fillRect/>
          </a:stretch>
        </p:blipFill>
        <p:spPr>
          <a:xfrm>
            <a:off x="0" y="0"/>
            <a:ext cx="3629608" cy="1119571"/>
          </a:xfrm>
          <a:prstGeom prst="rect">
            <a:avLst/>
          </a:prstGeom>
        </p:spPr>
      </p:pic>
      <p:pic>
        <p:nvPicPr>
          <p:cNvPr id="7" name="Picture 6">
            <a:extLst>
              <a:ext uri="{FF2B5EF4-FFF2-40B4-BE49-F238E27FC236}">
                <a16:creationId xmlns:a16="http://schemas.microsoft.com/office/drawing/2014/main" id="{C2AF5DA5-D666-8DB6-E747-06618D056F8C}"/>
              </a:ext>
            </a:extLst>
          </p:cNvPr>
          <p:cNvPicPr>
            <a:picLocks noChangeAspect="1"/>
          </p:cNvPicPr>
          <p:nvPr/>
        </p:nvPicPr>
        <p:blipFill>
          <a:blip r:embed="rId4"/>
          <a:stretch>
            <a:fillRect/>
          </a:stretch>
        </p:blipFill>
        <p:spPr>
          <a:xfrm>
            <a:off x="10001250" y="0"/>
            <a:ext cx="4629150" cy="822960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32" y="419933"/>
            <a:ext cx="13638133" cy="443032"/>
          </a:xfrm>
          <a:prstGeom prst="rect">
            <a:avLst/>
          </a:prstGeom>
          <a:noFill/>
          <a:ln/>
        </p:spPr>
        <p:txBody>
          <a:bodyPr wrap="none" lIns="0" tIns="0" rIns="0" bIns="0" rtlCol="0" anchor="t"/>
          <a:lstStyle/>
          <a:p>
            <a:pPr marL="0" indent="0" algn="ctr">
              <a:lnSpc>
                <a:spcPts val="3450"/>
              </a:lnSpc>
              <a:buNone/>
            </a:pPr>
            <a:r>
              <a:rPr lang="en-US" sz="3200" b="1">
                <a:solidFill>
                  <a:srgbClr val="030303"/>
                </a:solidFill>
                <a:latin typeface="Arimo Semi Bold" pitchFamily="34" charset="0"/>
                <a:ea typeface="Arimo Semi Bold" pitchFamily="34" charset="-122"/>
                <a:cs typeface="Arimo Semi Bold" pitchFamily="34" charset="-120"/>
              </a:rPr>
              <a:t>Nội dung báo cáo: </a:t>
            </a:r>
            <a:endParaRPr lang="en-US" sz="3200" b="1" dirty="0"/>
          </a:p>
        </p:txBody>
      </p:sp>
      <p:sp>
        <p:nvSpPr>
          <p:cNvPr id="4" name="Shape 2"/>
          <p:cNvSpPr/>
          <p:nvPr/>
        </p:nvSpPr>
        <p:spPr>
          <a:xfrm>
            <a:off x="636809" y="205850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5" name="Shape 3"/>
          <p:cNvSpPr/>
          <p:nvPr/>
        </p:nvSpPr>
        <p:spPr>
          <a:xfrm>
            <a:off x="652049" y="2086073"/>
            <a:ext cx="566976" cy="1151887"/>
          </a:xfrm>
          <a:prstGeom prst="roundRect">
            <a:avLst>
              <a:gd name="adj" fmla="val 7276"/>
            </a:avLst>
          </a:prstGeom>
          <a:solidFill>
            <a:srgbClr val="F2EEEE"/>
          </a:solidFill>
          <a:ln/>
        </p:spPr>
        <p:txBody>
          <a:bodyPr/>
          <a:lstStyle/>
          <a:p>
            <a:endParaRPr lang="en-US"/>
          </a:p>
        </p:txBody>
      </p:sp>
      <p:sp>
        <p:nvSpPr>
          <p:cNvPr id="6" name="Text 4"/>
          <p:cNvSpPr/>
          <p:nvPr/>
        </p:nvSpPr>
        <p:spPr>
          <a:xfrm>
            <a:off x="829214" y="261883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1</a:t>
            </a:r>
            <a:endParaRPr lang="en-US" sz="2400" b="1" dirty="0"/>
          </a:p>
        </p:txBody>
      </p:sp>
      <p:sp>
        <p:nvSpPr>
          <p:cNvPr id="7" name="Text 5"/>
          <p:cNvSpPr/>
          <p:nvPr/>
        </p:nvSpPr>
        <p:spPr>
          <a:xfrm>
            <a:off x="1307608" y="2420877"/>
            <a:ext cx="3062168" cy="184309"/>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Giới thiệu dự án</a:t>
            </a:r>
            <a:endParaRPr lang="en-US" sz="2800" b="1" dirty="0"/>
          </a:p>
        </p:txBody>
      </p:sp>
      <p:sp>
        <p:nvSpPr>
          <p:cNvPr id="8" name="Text 6"/>
          <p:cNvSpPr/>
          <p:nvPr/>
        </p:nvSpPr>
        <p:spPr>
          <a:xfrm>
            <a:off x="1307608" y="2938271"/>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Tổng </a:t>
            </a:r>
            <a:r>
              <a:rPr lang="en-US" sz="2400">
                <a:solidFill>
                  <a:srgbClr val="464646"/>
                </a:solidFill>
                <a:latin typeface="Arimo Medium" pitchFamily="34" charset="0"/>
                <a:ea typeface="Arimo Medium" pitchFamily="34" charset="-122"/>
                <a:cs typeface="Arimo Medium" pitchFamily="34" charset="-120"/>
              </a:rPr>
              <a:t>quan về dự án cũng như các thành viên.</a:t>
            </a:r>
            <a:endParaRPr lang="en-US" sz="2400" dirty="0"/>
          </a:p>
        </p:txBody>
      </p:sp>
      <p:sp>
        <p:nvSpPr>
          <p:cNvPr id="9" name="Shape 7"/>
          <p:cNvSpPr/>
          <p:nvPr/>
        </p:nvSpPr>
        <p:spPr>
          <a:xfrm>
            <a:off x="636807" y="3822996"/>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0" name="Shape 8"/>
          <p:cNvSpPr/>
          <p:nvPr/>
        </p:nvSpPr>
        <p:spPr>
          <a:xfrm>
            <a:off x="652047" y="3850566"/>
            <a:ext cx="566976" cy="1151887"/>
          </a:xfrm>
          <a:prstGeom prst="roundRect">
            <a:avLst>
              <a:gd name="adj" fmla="val 7276"/>
            </a:avLst>
          </a:prstGeom>
          <a:solidFill>
            <a:srgbClr val="F2EEEE"/>
          </a:solidFill>
          <a:ln/>
        </p:spPr>
        <p:txBody>
          <a:bodyPr/>
          <a:lstStyle/>
          <a:p>
            <a:endParaRPr lang="en-US"/>
          </a:p>
        </p:txBody>
      </p:sp>
      <p:sp>
        <p:nvSpPr>
          <p:cNvPr id="11" name="Text 9"/>
          <p:cNvSpPr/>
          <p:nvPr/>
        </p:nvSpPr>
        <p:spPr>
          <a:xfrm>
            <a:off x="829212" y="4383328"/>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2</a:t>
            </a:r>
            <a:endParaRPr lang="en-US" sz="2400" b="1" dirty="0"/>
          </a:p>
        </p:txBody>
      </p:sp>
      <p:sp>
        <p:nvSpPr>
          <p:cNvPr id="12" name="Text 10"/>
          <p:cNvSpPr/>
          <p:nvPr/>
        </p:nvSpPr>
        <p:spPr>
          <a:xfrm>
            <a:off x="1307606" y="4229200"/>
            <a:ext cx="186023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Kiến trúc hệ thống, workflow</a:t>
            </a:r>
            <a:endParaRPr lang="en-US" sz="2800" b="1" dirty="0"/>
          </a:p>
        </p:txBody>
      </p:sp>
      <p:sp>
        <p:nvSpPr>
          <p:cNvPr id="13" name="Text 11"/>
          <p:cNvSpPr/>
          <p:nvPr/>
        </p:nvSpPr>
        <p:spPr>
          <a:xfrm>
            <a:off x="1307606" y="4702764"/>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Kế hoạch triển khai dự án, luồng hoạt động logic của dự án</a:t>
            </a:r>
            <a:endParaRPr lang="en-US" sz="2400" dirty="0"/>
          </a:p>
        </p:txBody>
      </p:sp>
      <p:sp>
        <p:nvSpPr>
          <p:cNvPr id="14" name="Shape 12"/>
          <p:cNvSpPr/>
          <p:nvPr/>
        </p:nvSpPr>
        <p:spPr>
          <a:xfrm>
            <a:off x="636806" y="5521911"/>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5" name="Shape 13"/>
          <p:cNvSpPr/>
          <p:nvPr/>
        </p:nvSpPr>
        <p:spPr>
          <a:xfrm>
            <a:off x="652046" y="5549481"/>
            <a:ext cx="566976" cy="1151887"/>
          </a:xfrm>
          <a:prstGeom prst="roundRect">
            <a:avLst>
              <a:gd name="adj" fmla="val 7276"/>
            </a:avLst>
          </a:prstGeom>
          <a:solidFill>
            <a:srgbClr val="F2EEEE"/>
          </a:solidFill>
          <a:ln/>
        </p:spPr>
        <p:txBody>
          <a:bodyPr/>
          <a:lstStyle/>
          <a:p>
            <a:endParaRPr lang="en-US"/>
          </a:p>
        </p:txBody>
      </p:sp>
      <p:sp>
        <p:nvSpPr>
          <p:cNvPr id="16" name="Text 14"/>
          <p:cNvSpPr/>
          <p:nvPr/>
        </p:nvSpPr>
        <p:spPr>
          <a:xfrm>
            <a:off x="829211" y="6082243"/>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3</a:t>
            </a:r>
            <a:endParaRPr lang="en-US" sz="2400" b="1" dirty="0"/>
          </a:p>
        </p:txBody>
      </p:sp>
      <p:sp>
        <p:nvSpPr>
          <p:cNvPr id="17" name="Text 15"/>
          <p:cNvSpPr/>
          <p:nvPr/>
        </p:nvSpPr>
        <p:spPr>
          <a:xfrm>
            <a:off x="1307608" y="5948857"/>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Nguồn dữ liệu</a:t>
            </a:r>
            <a:endParaRPr lang="en-US" sz="2800" b="1" dirty="0"/>
          </a:p>
        </p:txBody>
      </p:sp>
      <p:sp>
        <p:nvSpPr>
          <p:cNvPr id="18" name="Text 16"/>
          <p:cNvSpPr/>
          <p:nvPr/>
        </p:nvSpPr>
        <p:spPr>
          <a:xfrm>
            <a:off x="1307605" y="6401679"/>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Quá trình nhóm tìm kiếm và thu thập dữ liệu.</a:t>
            </a:r>
            <a:endParaRPr lang="en-US" sz="2400" dirty="0"/>
          </a:p>
        </p:txBody>
      </p:sp>
      <p:grpSp>
        <p:nvGrpSpPr>
          <p:cNvPr id="39" name="Group 38">
            <a:extLst>
              <a:ext uri="{FF2B5EF4-FFF2-40B4-BE49-F238E27FC236}">
                <a16:creationId xmlns:a16="http://schemas.microsoft.com/office/drawing/2014/main" id="{6D5A444C-3104-40BF-D807-58F13E0015EC}"/>
              </a:ext>
            </a:extLst>
          </p:cNvPr>
          <p:cNvGrpSpPr/>
          <p:nvPr/>
        </p:nvGrpSpPr>
        <p:grpSpPr>
          <a:xfrm>
            <a:off x="-15128560" y="2177435"/>
            <a:ext cx="13638133" cy="1194698"/>
            <a:chOff x="526613" y="6164793"/>
            <a:chExt cx="13638133" cy="1194698"/>
          </a:xfrm>
        </p:grpSpPr>
        <p:sp>
          <p:nvSpPr>
            <p:cNvPr id="19" name="Shape 17"/>
            <p:cNvSpPr/>
            <p:nvPr/>
          </p:nvSpPr>
          <p:spPr>
            <a:xfrm>
              <a:off x="526613" y="616479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0" name="Shape 18"/>
            <p:cNvSpPr/>
            <p:nvPr/>
          </p:nvSpPr>
          <p:spPr>
            <a:xfrm>
              <a:off x="541853" y="6192363"/>
              <a:ext cx="566976" cy="1151887"/>
            </a:xfrm>
            <a:prstGeom prst="roundRect">
              <a:avLst>
                <a:gd name="adj" fmla="val 7276"/>
              </a:avLst>
            </a:prstGeom>
            <a:solidFill>
              <a:srgbClr val="F2EEEE"/>
            </a:solidFill>
            <a:ln/>
          </p:spPr>
          <p:txBody>
            <a:bodyPr/>
            <a:lstStyle/>
            <a:p>
              <a:endParaRPr lang="en-US"/>
            </a:p>
          </p:txBody>
        </p:sp>
        <p:sp>
          <p:nvSpPr>
            <p:cNvPr id="21" name="Text 19"/>
            <p:cNvSpPr/>
            <p:nvPr/>
          </p:nvSpPr>
          <p:spPr>
            <a:xfrm>
              <a:off x="719018" y="672512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4</a:t>
              </a:r>
              <a:endParaRPr lang="en-US" sz="2400" b="1" dirty="0"/>
            </a:p>
          </p:txBody>
        </p:sp>
        <p:sp>
          <p:nvSpPr>
            <p:cNvPr id="22" name="Text 20"/>
            <p:cNvSpPr/>
            <p:nvPr/>
          </p:nvSpPr>
          <p:spPr>
            <a:xfrm>
              <a:off x="1197412" y="6546637"/>
              <a:ext cx="188702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Các thành phần quan trọng</a:t>
              </a:r>
              <a:endParaRPr lang="en-US" sz="2800" b="1" dirty="0"/>
            </a:p>
          </p:txBody>
        </p:sp>
        <p:sp>
          <p:nvSpPr>
            <p:cNvPr id="23" name="Text 21"/>
            <p:cNvSpPr/>
            <p:nvPr/>
          </p:nvSpPr>
          <p:spPr>
            <a:xfrm>
              <a:off x="1197412" y="7044561"/>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Phân tích sâu hơn về IOT, AI models, Fuzzy Logic</a:t>
              </a:r>
              <a:endParaRPr lang="en-US" sz="2400" dirty="0"/>
            </a:p>
          </p:txBody>
        </p:sp>
      </p:grpSp>
      <p:grpSp>
        <p:nvGrpSpPr>
          <p:cNvPr id="49" name="Group 48">
            <a:extLst>
              <a:ext uri="{FF2B5EF4-FFF2-40B4-BE49-F238E27FC236}">
                <a16:creationId xmlns:a16="http://schemas.microsoft.com/office/drawing/2014/main" id="{17663BB8-E167-3156-2791-D3E57DC72AB7}"/>
              </a:ext>
            </a:extLst>
          </p:cNvPr>
          <p:cNvGrpSpPr/>
          <p:nvPr/>
        </p:nvGrpSpPr>
        <p:grpSpPr>
          <a:xfrm>
            <a:off x="-15128559" y="5305511"/>
            <a:ext cx="13638133" cy="1194697"/>
            <a:chOff x="-15128558" y="5225629"/>
            <a:chExt cx="13638133" cy="1194697"/>
          </a:xfrm>
        </p:grpSpPr>
        <p:sp>
          <p:nvSpPr>
            <p:cNvPr id="29" name="Shape 27"/>
            <p:cNvSpPr/>
            <p:nvPr/>
          </p:nvSpPr>
          <p:spPr>
            <a:xfrm>
              <a:off x="-15128558" y="5225629"/>
              <a:ext cx="13638133" cy="1194697"/>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30" name="Shape 28"/>
            <p:cNvSpPr/>
            <p:nvPr/>
          </p:nvSpPr>
          <p:spPr>
            <a:xfrm>
              <a:off x="-15113318" y="5253201"/>
              <a:ext cx="566976" cy="1151886"/>
            </a:xfrm>
            <a:prstGeom prst="roundRect">
              <a:avLst>
                <a:gd name="adj" fmla="val 7276"/>
              </a:avLst>
            </a:prstGeom>
            <a:solidFill>
              <a:srgbClr val="F2EEEE"/>
            </a:solidFill>
            <a:ln/>
          </p:spPr>
          <p:txBody>
            <a:bodyPr/>
            <a:lstStyle/>
            <a:p>
              <a:endParaRPr lang="en-US"/>
            </a:p>
          </p:txBody>
        </p:sp>
        <p:sp>
          <p:nvSpPr>
            <p:cNvPr id="31" name="Text 29"/>
            <p:cNvSpPr/>
            <p:nvPr/>
          </p:nvSpPr>
          <p:spPr>
            <a:xfrm>
              <a:off x="-14936153" y="5781302"/>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6</a:t>
              </a:r>
              <a:endParaRPr lang="en-US" sz="2400" b="1" dirty="0"/>
            </a:p>
          </p:txBody>
        </p:sp>
        <p:sp>
          <p:nvSpPr>
            <p:cNvPr id="32" name="Text 30"/>
            <p:cNvSpPr/>
            <p:nvPr/>
          </p:nvSpPr>
          <p:spPr>
            <a:xfrm>
              <a:off x="-14457759" y="5559846"/>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Demo</a:t>
              </a:r>
              <a:endParaRPr lang="en-US" sz="2800" b="1" dirty="0"/>
            </a:p>
          </p:txBody>
        </p:sp>
        <p:sp>
          <p:nvSpPr>
            <p:cNvPr id="33" name="Text 31"/>
            <p:cNvSpPr/>
            <p:nvPr/>
          </p:nvSpPr>
          <p:spPr>
            <a:xfrm>
              <a:off x="-14457759" y="6105397"/>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Trình diễn hoạt động và đánh giá các tính năng của mô phỏng.</a:t>
              </a:r>
              <a:endParaRPr lang="en-US" sz="2400" dirty="0"/>
            </a:p>
          </p:txBody>
        </p:sp>
      </p:grpSp>
      <p:grpSp>
        <p:nvGrpSpPr>
          <p:cNvPr id="51" name="Group 50">
            <a:extLst>
              <a:ext uri="{FF2B5EF4-FFF2-40B4-BE49-F238E27FC236}">
                <a16:creationId xmlns:a16="http://schemas.microsoft.com/office/drawing/2014/main" id="{0BE9EA2A-CB60-37C0-96AD-E209B5E5A475}"/>
              </a:ext>
            </a:extLst>
          </p:cNvPr>
          <p:cNvGrpSpPr/>
          <p:nvPr/>
        </p:nvGrpSpPr>
        <p:grpSpPr>
          <a:xfrm>
            <a:off x="-15113318" y="3860457"/>
            <a:ext cx="13638133" cy="1194697"/>
            <a:chOff x="-15113318" y="3860457"/>
            <a:chExt cx="13638133" cy="1194697"/>
          </a:xfrm>
        </p:grpSpPr>
        <p:sp>
          <p:nvSpPr>
            <p:cNvPr id="24" name="Shape 22"/>
            <p:cNvSpPr/>
            <p:nvPr/>
          </p:nvSpPr>
          <p:spPr>
            <a:xfrm>
              <a:off x="-15113318" y="3860457"/>
              <a:ext cx="13638133" cy="1194697"/>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7" name="Text 25"/>
            <p:cNvSpPr/>
            <p:nvPr/>
          </p:nvSpPr>
          <p:spPr>
            <a:xfrm>
              <a:off x="-14457760" y="4194674"/>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Kết luận dự án</a:t>
              </a:r>
              <a:endParaRPr lang="en-US" sz="2800" b="1" dirty="0"/>
            </a:p>
          </p:txBody>
        </p:sp>
        <p:sp>
          <p:nvSpPr>
            <p:cNvPr id="28" name="Text 26"/>
            <p:cNvSpPr/>
            <p:nvPr/>
          </p:nvSpPr>
          <p:spPr>
            <a:xfrm>
              <a:off x="-14442519" y="4740225"/>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Biến đổi phân cấp, chiếu sáng Phong, kỹ </a:t>
              </a:r>
              <a:r>
                <a:rPr lang="en-US" sz="2400">
                  <a:solidFill>
                    <a:srgbClr val="464646"/>
                  </a:solidFill>
                  <a:latin typeface="Arimo Medium" pitchFamily="34" charset="0"/>
                  <a:ea typeface="Arimo Medium" pitchFamily="34" charset="-122"/>
                  <a:cs typeface="Arimo Medium" pitchFamily="34" charset="-120"/>
                </a:rPr>
                <a:t>thuật camera.</a:t>
              </a:r>
              <a:endParaRPr lang="en-US" sz="2400" dirty="0"/>
            </a:p>
          </p:txBody>
        </p:sp>
        <p:sp>
          <p:nvSpPr>
            <p:cNvPr id="25" name="Shape 23"/>
            <p:cNvSpPr/>
            <p:nvPr/>
          </p:nvSpPr>
          <p:spPr>
            <a:xfrm>
              <a:off x="-15098078" y="3889575"/>
              <a:ext cx="566976" cy="1151886"/>
            </a:xfrm>
            <a:prstGeom prst="roundRect">
              <a:avLst>
                <a:gd name="adj" fmla="val 7276"/>
              </a:avLst>
            </a:prstGeom>
            <a:solidFill>
              <a:srgbClr val="F2EEEE"/>
            </a:solidFill>
            <a:ln/>
          </p:spPr>
          <p:txBody>
            <a:bodyPr/>
            <a:lstStyle/>
            <a:p>
              <a:endParaRPr lang="en-US"/>
            </a:p>
          </p:txBody>
        </p:sp>
      </p:grpSp>
      <p:sp>
        <p:nvSpPr>
          <p:cNvPr id="26" name="Text 24"/>
          <p:cNvSpPr/>
          <p:nvPr/>
        </p:nvSpPr>
        <p:spPr>
          <a:xfrm>
            <a:off x="-14920913" y="439147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5</a:t>
            </a:r>
            <a:endParaRPr lang="en-US" sz="240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3D34-F208-369A-9B34-14A6F710222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2E8ED2E-C768-0B28-A245-B03E91AD2F77}"/>
              </a:ext>
            </a:extLst>
          </p:cNvPr>
          <p:cNvSpPr/>
          <p:nvPr/>
        </p:nvSpPr>
        <p:spPr>
          <a:xfrm>
            <a:off x="496132" y="419933"/>
            <a:ext cx="13638133" cy="443032"/>
          </a:xfrm>
          <a:prstGeom prst="rect">
            <a:avLst/>
          </a:prstGeom>
          <a:noFill/>
          <a:ln/>
        </p:spPr>
        <p:txBody>
          <a:bodyPr wrap="none" lIns="0" tIns="0" rIns="0" bIns="0" rtlCol="0" anchor="t"/>
          <a:lstStyle/>
          <a:p>
            <a:pPr marL="0" indent="0" algn="ctr">
              <a:lnSpc>
                <a:spcPts val="3450"/>
              </a:lnSpc>
              <a:buNone/>
            </a:pPr>
            <a:r>
              <a:rPr lang="en-US" sz="3200" b="1">
                <a:solidFill>
                  <a:srgbClr val="030303"/>
                </a:solidFill>
                <a:latin typeface="Arimo Semi Bold" pitchFamily="34" charset="0"/>
                <a:ea typeface="Arimo Semi Bold" pitchFamily="34" charset="-122"/>
                <a:cs typeface="Arimo Semi Bold" pitchFamily="34" charset="-120"/>
              </a:rPr>
              <a:t>Nội dung báo cáo: </a:t>
            </a:r>
            <a:endParaRPr lang="en-US" sz="3200" b="1" dirty="0"/>
          </a:p>
        </p:txBody>
      </p:sp>
      <p:sp>
        <p:nvSpPr>
          <p:cNvPr id="4" name="Shape 2">
            <a:extLst>
              <a:ext uri="{FF2B5EF4-FFF2-40B4-BE49-F238E27FC236}">
                <a16:creationId xmlns:a16="http://schemas.microsoft.com/office/drawing/2014/main" id="{0629D299-830C-236D-8A83-D82603C20F8E}"/>
              </a:ext>
            </a:extLst>
          </p:cNvPr>
          <p:cNvSpPr/>
          <p:nvPr/>
        </p:nvSpPr>
        <p:spPr>
          <a:xfrm>
            <a:off x="16212089" y="199754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5" name="Shape 3">
            <a:extLst>
              <a:ext uri="{FF2B5EF4-FFF2-40B4-BE49-F238E27FC236}">
                <a16:creationId xmlns:a16="http://schemas.microsoft.com/office/drawing/2014/main" id="{83032965-61C2-7FEF-2320-543B821B1784}"/>
              </a:ext>
            </a:extLst>
          </p:cNvPr>
          <p:cNvSpPr/>
          <p:nvPr/>
        </p:nvSpPr>
        <p:spPr>
          <a:xfrm>
            <a:off x="16227329" y="2025113"/>
            <a:ext cx="566976" cy="1151887"/>
          </a:xfrm>
          <a:prstGeom prst="roundRect">
            <a:avLst>
              <a:gd name="adj" fmla="val 7276"/>
            </a:avLst>
          </a:prstGeom>
          <a:solidFill>
            <a:srgbClr val="F2EEEE"/>
          </a:solidFill>
          <a:ln/>
        </p:spPr>
        <p:txBody>
          <a:bodyPr/>
          <a:lstStyle/>
          <a:p>
            <a:endParaRPr lang="en-US"/>
          </a:p>
        </p:txBody>
      </p:sp>
      <p:sp>
        <p:nvSpPr>
          <p:cNvPr id="6" name="Text 4">
            <a:extLst>
              <a:ext uri="{FF2B5EF4-FFF2-40B4-BE49-F238E27FC236}">
                <a16:creationId xmlns:a16="http://schemas.microsoft.com/office/drawing/2014/main" id="{2909765E-9C1D-73C1-833C-917C5F33ADF6}"/>
              </a:ext>
            </a:extLst>
          </p:cNvPr>
          <p:cNvSpPr/>
          <p:nvPr/>
        </p:nvSpPr>
        <p:spPr>
          <a:xfrm>
            <a:off x="16404494" y="255787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1</a:t>
            </a:r>
            <a:endParaRPr lang="en-US" sz="2400" b="1" dirty="0"/>
          </a:p>
        </p:txBody>
      </p:sp>
      <p:sp>
        <p:nvSpPr>
          <p:cNvPr id="7" name="Text 5">
            <a:extLst>
              <a:ext uri="{FF2B5EF4-FFF2-40B4-BE49-F238E27FC236}">
                <a16:creationId xmlns:a16="http://schemas.microsoft.com/office/drawing/2014/main" id="{D2F7AFF3-4A82-B41E-7691-CCB9F021B514}"/>
              </a:ext>
            </a:extLst>
          </p:cNvPr>
          <p:cNvSpPr/>
          <p:nvPr/>
        </p:nvSpPr>
        <p:spPr>
          <a:xfrm>
            <a:off x="16882888" y="2359917"/>
            <a:ext cx="3062168" cy="184309"/>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Giới thiệu dự án</a:t>
            </a:r>
            <a:endParaRPr lang="en-US" sz="2800" b="1" dirty="0"/>
          </a:p>
        </p:txBody>
      </p:sp>
      <p:sp>
        <p:nvSpPr>
          <p:cNvPr id="8" name="Text 6">
            <a:extLst>
              <a:ext uri="{FF2B5EF4-FFF2-40B4-BE49-F238E27FC236}">
                <a16:creationId xmlns:a16="http://schemas.microsoft.com/office/drawing/2014/main" id="{A24AEE0C-D6F8-3D7B-4E7C-2B890596DA86}"/>
              </a:ext>
            </a:extLst>
          </p:cNvPr>
          <p:cNvSpPr/>
          <p:nvPr/>
        </p:nvSpPr>
        <p:spPr>
          <a:xfrm>
            <a:off x="16882888" y="2877311"/>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Tổng </a:t>
            </a:r>
            <a:r>
              <a:rPr lang="en-US" sz="2400">
                <a:solidFill>
                  <a:srgbClr val="464646"/>
                </a:solidFill>
                <a:latin typeface="Arimo Medium" pitchFamily="34" charset="0"/>
                <a:ea typeface="Arimo Medium" pitchFamily="34" charset="-122"/>
                <a:cs typeface="Arimo Medium" pitchFamily="34" charset="-120"/>
              </a:rPr>
              <a:t>quan về dự án cũng như các thành viên.</a:t>
            </a:r>
            <a:endParaRPr lang="en-US" sz="2400" dirty="0"/>
          </a:p>
        </p:txBody>
      </p:sp>
      <p:sp>
        <p:nvSpPr>
          <p:cNvPr id="9" name="Shape 7">
            <a:extLst>
              <a:ext uri="{FF2B5EF4-FFF2-40B4-BE49-F238E27FC236}">
                <a16:creationId xmlns:a16="http://schemas.microsoft.com/office/drawing/2014/main" id="{38D5BF88-A391-5667-E8D8-B8B1D4ED2B07}"/>
              </a:ext>
            </a:extLst>
          </p:cNvPr>
          <p:cNvSpPr/>
          <p:nvPr/>
        </p:nvSpPr>
        <p:spPr>
          <a:xfrm>
            <a:off x="16212087" y="3762036"/>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0" name="Shape 8">
            <a:extLst>
              <a:ext uri="{FF2B5EF4-FFF2-40B4-BE49-F238E27FC236}">
                <a16:creationId xmlns:a16="http://schemas.microsoft.com/office/drawing/2014/main" id="{D7818785-6B30-058D-ABA8-E9A93A0BCDE8}"/>
              </a:ext>
            </a:extLst>
          </p:cNvPr>
          <p:cNvSpPr/>
          <p:nvPr/>
        </p:nvSpPr>
        <p:spPr>
          <a:xfrm>
            <a:off x="16227327" y="3789606"/>
            <a:ext cx="566976" cy="1151887"/>
          </a:xfrm>
          <a:prstGeom prst="roundRect">
            <a:avLst>
              <a:gd name="adj" fmla="val 7276"/>
            </a:avLst>
          </a:prstGeom>
          <a:solidFill>
            <a:srgbClr val="F2EEEE"/>
          </a:solidFill>
          <a:ln/>
        </p:spPr>
        <p:txBody>
          <a:bodyPr/>
          <a:lstStyle/>
          <a:p>
            <a:endParaRPr lang="en-US"/>
          </a:p>
        </p:txBody>
      </p:sp>
      <p:sp>
        <p:nvSpPr>
          <p:cNvPr id="11" name="Text 9">
            <a:extLst>
              <a:ext uri="{FF2B5EF4-FFF2-40B4-BE49-F238E27FC236}">
                <a16:creationId xmlns:a16="http://schemas.microsoft.com/office/drawing/2014/main" id="{0AE80017-7F02-01CF-C526-F43F4DFBDB4B}"/>
              </a:ext>
            </a:extLst>
          </p:cNvPr>
          <p:cNvSpPr/>
          <p:nvPr/>
        </p:nvSpPr>
        <p:spPr>
          <a:xfrm>
            <a:off x="16404492" y="4322368"/>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2</a:t>
            </a:r>
            <a:endParaRPr lang="en-US" sz="2400" b="1" dirty="0"/>
          </a:p>
        </p:txBody>
      </p:sp>
      <p:sp>
        <p:nvSpPr>
          <p:cNvPr id="12" name="Text 10">
            <a:extLst>
              <a:ext uri="{FF2B5EF4-FFF2-40B4-BE49-F238E27FC236}">
                <a16:creationId xmlns:a16="http://schemas.microsoft.com/office/drawing/2014/main" id="{7F50B9D9-DCDC-2619-0AB2-F4CD5092C387}"/>
              </a:ext>
            </a:extLst>
          </p:cNvPr>
          <p:cNvSpPr/>
          <p:nvPr/>
        </p:nvSpPr>
        <p:spPr>
          <a:xfrm>
            <a:off x="16882886" y="4168240"/>
            <a:ext cx="186023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Kiến trúc hệ thống, workflow</a:t>
            </a:r>
            <a:endParaRPr lang="en-US" sz="2800" b="1" dirty="0"/>
          </a:p>
        </p:txBody>
      </p:sp>
      <p:sp>
        <p:nvSpPr>
          <p:cNvPr id="13" name="Text 11">
            <a:extLst>
              <a:ext uri="{FF2B5EF4-FFF2-40B4-BE49-F238E27FC236}">
                <a16:creationId xmlns:a16="http://schemas.microsoft.com/office/drawing/2014/main" id="{FAD1CCD1-283D-7CDF-5FC3-92845A62F513}"/>
              </a:ext>
            </a:extLst>
          </p:cNvPr>
          <p:cNvSpPr/>
          <p:nvPr/>
        </p:nvSpPr>
        <p:spPr>
          <a:xfrm>
            <a:off x="16882886" y="4641804"/>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Kế hoạch triển khai dự án, luồng hoạt động logic của dự án</a:t>
            </a:r>
            <a:endParaRPr lang="en-US" sz="2400" dirty="0"/>
          </a:p>
        </p:txBody>
      </p:sp>
      <p:sp>
        <p:nvSpPr>
          <p:cNvPr id="14" name="Shape 12">
            <a:extLst>
              <a:ext uri="{FF2B5EF4-FFF2-40B4-BE49-F238E27FC236}">
                <a16:creationId xmlns:a16="http://schemas.microsoft.com/office/drawing/2014/main" id="{2CB98C61-6D41-DA95-F5E0-6647972E1161}"/>
              </a:ext>
            </a:extLst>
          </p:cNvPr>
          <p:cNvSpPr/>
          <p:nvPr/>
        </p:nvSpPr>
        <p:spPr>
          <a:xfrm>
            <a:off x="16212086" y="5460951"/>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5" name="Shape 13">
            <a:extLst>
              <a:ext uri="{FF2B5EF4-FFF2-40B4-BE49-F238E27FC236}">
                <a16:creationId xmlns:a16="http://schemas.microsoft.com/office/drawing/2014/main" id="{6FFD6029-8A0D-C7FB-5314-D0CA85884ED1}"/>
              </a:ext>
            </a:extLst>
          </p:cNvPr>
          <p:cNvSpPr/>
          <p:nvPr/>
        </p:nvSpPr>
        <p:spPr>
          <a:xfrm>
            <a:off x="16227326" y="5488521"/>
            <a:ext cx="566976" cy="1151887"/>
          </a:xfrm>
          <a:prstGeom prst="roundRect">
            <a:avLst>
              <a:gd name="adj" fmla="val 7276"/>
            </a:avLst>
          </a:prstGeom>
          <a:solidFill>
            <a:srgbClr val="F2EEEE"/>
          </a:solidFill>
          <a:ln/>
        </p:spPr>
        <p:txBody>
          <a:bodyPr/>
          <a:lstStyle/>
          <a:p>
            <a:endParaRPr lang="en-US"/>
          </a:p>
        </p:txBody>
      </p:sp>
      <p:sp>
        <p:nvSpPr>
          <p:cNvPr id="16" name="Text 14">
            <a:extLst>
              <a:ext uri="{FF2B5EF4-FFF2-40B4-BE49-F238E27FC236}">
                <a16:creationId xmlns:a16="http://schemas.microsoft.com/office/drawing/2014/main" id="{E1BCE897-8BB0-B7FD-6A9E-845BC9D39FE8}"/>
              </a:ext>
            </a:extLst>
          </p:cNvPr>
          <p:cNvSpPr/>
          <p:nvPr/>
        </p:nvSpPr>
        <p:spPr>
          <a:xfrm>
            <a:off x="16404491" y="6021283"/>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3</a:t>
            </a:r>
            <a:endParaRPr lang="en-US" sz="2400" b="1" dirty="0"/>
          </a:p>
        </p:txBody>
      </p:sp>
      <p:sp>
        <p:nvSpPr>
          <p:cNvPr id="17" name="Text 15">
            <a:extLst>
              <a:ext uri="{FF2B5EF4-FFF2-40B4-BE49-F238E27FC236}">
                <a16:creationId xmlns:a16="http://schemas.microsoft.com/office/drawing/2014/main" id="{096082C0-789D-493A-39DB-BA6BA753C02C}"/>
              </a:ext>
            </a:extLst>
          </p:cNvPr>
          <p:cNvSpPr/>
          <p:nvPr/>
        </p:nvSpPr>
        <p:spPr>
          <a:xfrm>
            <a:off x="16882888" y="5887897"/>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Nguồn dữ liệu</a:t>
            </a:r>
            <a:endParaRPr lang="en-US" sz="2800" b="1" dirty="0"/>
          </a:p>
        </p:txBody>
      </p:sp>
      <p:sp>
        <p:nvSpPr>
          <p:cNvPr id="18" name="Text 16">
            <a:extLst>
              <a:ext uri="{FF2B5EF4-FFF2-40B4-BE49-F238E27FC236}">
                <a16:creationId xmlns:a16="http://schemas.microsoft.com/office/drawing/2014/main" id="{322CAD50-7B26-F471-73A5-06A208A7D3A0}"/>
              </a:ext>
            </a:extLst>
          </p:cNvPr>
          <p:cNvSpPr/>
          <p:nvPr/>
        </p:nvSpPr>
        <p:spPr>
          <a:xfrm>
            <a:off x="16882885" y="6340719"/>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Quá trình nhóm tìm kiếm và thu thập dữ liệu.</a:t>
            </a:r>
            <a:endParaRPr lang="en-US" sz="2400" dirty="0"/>
          </a:p>
        </p:txBody>
      </p:sp>
      <p:grpSp>
        <p:nvGrpSpPr>
          <p:cNvPr id="39" name="Group 38">
            <a:extLst>
              <a:ext uri="{FF2B5EF4-FFF2-40B4-BE49-F238E27FC236}">
                <a16:creationId xmlns:a16="http://schemas.microsoft.com/office/drawing/2014/main" id="{7CE41841-9DFF-4481-8F11-D2F06B4700BB}"/>
              </a:ext>
            </a:extLst>
          </p:cNvPr>
          <p:cNvGrpSpPr/>
          <p:nvPr/>
        </p:nvGrpSpPr>
        <p:grpSpPr>
          <a:xfrm>
            <a:off x="461960" y="2220560"/>
            <a:ext cx="13638133" cy="1194698"/>
            <a:chOff x="526613" y="6164793"/>
            <a:chExt cx="13638133" cy="1194698"/>
          </a:xfrm>
        </p:grpSpPr>
        <p:sp>
          <p:nvSpPr>
            <p:cNvPr id="19" name="Shape 17">
              <a:extLst>
                <a:ext uri="{FF2B5EF4-FFF2-40B4-BE49-F238E27FC236}">
                  <a16:creationId xmlns:a16="http://schemas.microsoft.com/office/drawing/2014/main" id="{7A577C94-3F54-9D97-2030-9F52E14DEF00}"/>
                </a:ext>
              </a:extLst>
            </p:cNvPr>
            <p:cNvSpPr/>
            <p:nvPr/>
          </p:nvSpPr>
          <p:spPr>
            <a:xfrm>
              <a:off x="526613" y="616479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0" name="Shape 18">
              <a:extLst>
                <a:ext uri="{FF2B5EF4-FFF2-40B4-BE49-F238E27FC236}">
                  <a16:creationId xmlns:a16="http://schemas.microsoft.com/office/drawing/2014/main" id="{C8AD1E9E-5D44-AB3A-444C-D31841B3DE66}"/>
                </a:ext>
              </a:extLst>
            </p:cNvPr>
            <p:cNvSpPr/>
            <p:nvPr/>
          </p:nvSpPr>
          <p:spPr>
            <a:xfrm>
              <a:off x="541853" y="6192363"/>
              <a:ext cx="566976" cy="1151887"/>
            </a:xfrm>
            <a:prstGeom prst="roundRect">
              <a:avLst>
                <a:gd name="adj" fmla="val 7276"/>
              </a:avLst>
            </a:prstGeom>
            <a:solidFill>
              <a:srgbClr val="F2EEEE"/>
            </a:solidFill>
            <a:ln/>
          </p:spPr>
          <p:txBody>
            <a:bodyPr/>
            <a:lstStyle/>
            <a:p>
              <a:endParaRPr lang="en-US"/>
            </a:p>
          </p:txBody>
        </p:sp>
        <p:sp>
          <p:nvSpPr>
            <p:cNvPr id="21" name="Text 19">
              <a:extLst>
                <a:ext uri="{FF2B5EF4-FFF2-40B4-BE49-F238E27FC236}">
                  <a16:creationId xmlns:a16="http://schemas.microsoft.com/office/drawing/2014/main" id="{3C7BDDB3-82FA-7E5B-DC23-AF11D5D5E30C}"/>
                </a:ext>
              </a:extLst>
            </p:cNvPr>
            <p:cNvSpPr/>
            <p:nvPr/>
          </p:nvSpPr>
          <p:spPr>
            <a:xfrm>
              <a:off x="719018" y="672512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4</a:t>
              </a:r>
              <a:endParaRPr lang="en-US" sz="2400" b="1" dirty="0"/>
            </a:p>
          </p:txBody>
        </p:sp>
        <p:sp>
          <p:nvSpPr>
            <p:cNvPr id="22" name="Text 20">
              <a:extLst>
                <a:ext uri="{FF2B5EF4-FFF2-40B4-BE49-F238E27FC236}">
                  <a16:creationId xmlns:a16="http://schemas.microsoft.com/office/drawing/2014/main" id="{3E70DCB1-520F-BBC1-D5ED-A07100C3F537}"/>
                </a:ext>
              </a:extLst>
            </p:cNvPr>
            <p:cNvSpPr/>
            <p:nvPr/>
          </p:nvSpPr>
          <p:spPr>
            <a:xfrm>
              <a:off x="1197412" y="6546637"/>
              <a:ext cx="188702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Các thành phần quan trọng</a:t>
              </a:r>
              <a:endParaRPr lang="en-US" sz="2800" b="1" dirty="0"/>
            </a:p>
          </p:txBody>
        </p:sp>
        <p:sp>
          <p:nvSpPr>
            <p:cNvPr id="23" name="Text 21">
              <a:extLst>
                <a:ext uri="{FF2B5EF4-FFF2-40B4-BE49-F238E27FC236}">
                  <a16:creationId xmlns:a16="http://schemas.microsoft.com/office/drawing/2014/main" id="{8B9D392E-14BC-1A6D-1503-80D9FF3D30D2}"/>
                </a:ext>
              </a:extLst>
            </p:cNvPr>
            <p:cNvSpPr/>
            <p:nvPr/>
          </p:nvSpPr>
          <p:spPr>
            <a:xfrm>
              <a:off x="1197412" y="7044561"/>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Phân tích sâu hơn về IOT, AI models, Fuzzy Logic</a:t>
              </a:r>
              <a:endParaRPr lang="en-US" sz="2400" dirty="0"/>
            </a:p>
          </p:txBody>
        </p:sp>
      </p:grpSp>
      <p:grpSp>
        <p:nvGrpSpPr>
          <p:cNvPr id="49" name="Group 48">
            <a:extLst>
              <a:ext uri="{FF2B5EF4-FFF2-40B4-BE49-F238E27FC236}">
                <a16:creationId xmlns:a16="http://schemas.microsoft.com/office/drawing/2014/main" id="{22010E90-3F83-6767-B477-FF23D7C8CEDE}"/>
              </a:ext>
            </a:extLst>
          </p:cNvPr>
          <p:cNvGrpSpPr/>
          <p:nvPr/>
        </p:nvGrpSpPr>
        <p:grpSpPr>
          <a:xfrm>
            <a:off x="446721" y="5244551"/>
            <a:ext cx="13638133" cy="1194697"/>
            <a:chOff x="-15128558" y="5225629"/>
            <a:chExt cx="13638133" cy="1194697"/>
          </a:xfrm>
        </p:grpSpPr>
        <p:sp>
          <p:nvSpPr>
            <p:cNvPr id="29" name="Shape 27">
              <a:extLst>
                <a:ext uri="{FF2B5EF4-FFF2-40B4-BE49-F238E27FC236}">
                  <a16:creationId xmlns:a16="http://schemas.microsoft.com/office/drawing/2014/main" id="{F7964B52-35AB-A292-A638-2CF79B9A2201}"/>
                </a:ext>
              </a:extLst>
            </p:cNvPr>
            <p:cNvSpPr/>
            <p:nvPr/>
          </p:nvSpPr>
          <p:spPr>
            <a:xfrm>
              <a:off x="-15128558" y="5225629"/>
              <a:ext cx="13638133" cy="1194697"/>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30" name="Shape 28">
              <a:extLst>
                <a:ext uri="{FF2B5EF4-FFF2-40B4-BE49-F238E27FC236}">
                  <a16:creationId xmlns:a16="http://schemas.microsoft.com/office/drawing/2014/main" id="{5A3645AA-E752-436F-8E6B-8500E1BE9FD3}"/>
                </a:ext>
              </a:extLst>
            </p:cNvPr>
            <p:cNvSpPr/>
            <p:nvPr/>
          </p:nvSpPr>
          <p:spPr>
            <a:xfrm>
              <a:off x="-15113318" y="5253201"/>
              <a:ext cx="566976" cy="1151886"/>
            </a:xfrm>
            <a:prstGeom prst="roundRect">
              <a:avLst>
                <a:gd name="adj" fmla="val 7276"/>
              </a:avLst>
            </a:prstGeom>
            <a:solidFill>
              <a:srgbClr val="F2EEEE"/>
            </a:solidFill>
            <a:ln/>
          </p:spPr>
          <p:txBody>
            <a:bodyPr/>
            <a:lstStyle/>
            <a:p>
              <a:endParaRPr lang="en-US"/>
            </a:p>
          </p:txBody>
        </p:sp>
        <p:sp>
          <p:nvSpPr>
            <p:cNvPr id="31" name="Text 29">
              <a:extLst>
                <a:ext uri="{FF2B5EF4-FFF2-40B4-BE49-F238E27FC236}">
                  <a16:creationId xmlns:a16="http://schemas.microsoft.com/office/drawing/2014/main" id="{03E92E09-912A-AE92-3BF1-C8A2748DAF0F}"/>
                </a:ext>
              </a:extLst>
            </p:cNvPr>
            <p:cNvSpPr/>
            <p:nvPr/>
          </p:nvSpPr>
          <p:spPr>
            <a:xfrm>
              <a:off x="-14936153" y="5781302"/>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6</a:t>
              </a:r>
              <a:endParaRPr lang="en-US" sz="2400" b="1" dirty="0"/>
            </a:p>
          </p:txBody>
        </p:sp>
        <p:sp>
          <p:nvSpPr>
            <p:cNvPr id="32" name="Text 30">
              <a:extLst>
                <a:ext uri="{FF2B5EF4-FFF2-40B4-BE49-F238E27FC236}">
                  <a16:creationId xmlns:a16="http://schemas.microsoft.com/office/drawing/2014/main" id="{931FD664-5A79-6DC2-1C0F-EEC7ED6B6820}"/>
                </a:ext>
              </a:extLst>
            </p:cNvPr>
            <p:cNvSpPr/>
            <p:nvPr/>
          </p:nvSpPr>
          <p:spPr>
            <a:xfrm>
              <a:off x="-14457759" y="5559846"/>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Demo</a:t>
              </a:r>
              <a:endParaRPr lang="en-US" sz="2800" b="1" dirty="0"/>
            </a:p>
          </p:txBody>
        </p:sp>
        <p:sp>
          <p:nvSpPr>
            <p:cNvPr id="33" name="Text 31">
              <a:extLst>
                <a:ext uri="{FF2B5EF4-FFF2-40B4-BE49-F238E27FC236}">
                  <a16:creationId xmlns:a16="http://schemas.microsoft.com/office/drawing/2014/main" id="{F75EDDFD-C414-E24C-E16E-2AD0D724E9B2}"/>
                </a:ext>
              </a:extLst>
            </p:cNvPr>
            <p:cNvSpPr/>
            <p:nvPr/>
          </p:nvSpPr>
          <p:spPr>
            <a:xfrm>
              <a:off x="-14457759" y="6105397"/>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Khởi chạy mô hình</a:t>
              </a:r>
              <a:endParaRPr lang="en-US" sz="2400" dirty="0"/>
            </a:p>
          </p:txBody>
        </p:sp>
      </p:grpSp>
      <p:grpSp>
        <p:nvGrpSpPr>
          <p:cNvPr id="51" name="Group 50">
            <a:extLst>
              <a:ext uri="{FF2B5EF4-FFF2-40B4-BE49-F238E27FC236}">
                <a16:creationId xmlns:a16="http://schemas.microsoft.com/office/drawing/2014/main" id="{A051D194-0953-B813-D449-09070B012228}"/>
              </a:ext>
            </a:extLst>
          </p:cNvPr>
          <p:cNvGrpSpPr/>
          <p:nvPr/>
        </p:nvGrpSpPr>
        <p:grpSpPr>
          <a:xfrm>
            <a:off x="461962" y="3799497"/>
            <a:ext cx="13638133" cy="1194697"/>
            <a:chOff x="-15113318" y="3860457"/>
            <a:chExt cx="13638133" cy="1194697"/>
          </a:xfrm>
        </p:grpSpPr>
        <p:sp>
          <p:nvSpPr>
            <p:cNvPr id="24" name="Shape 22">
              <a:extLst>
                <a:ext uri="{FF2B5EF4-FFF2-40B4-BE49-F238E27FC236}">
                  <a16:creationId xmlns:a16="http://schemas.microsoft.com/office/drawing/2014/main" id="{4A863C2D-695B-998D-423A-276B6CAF9300}"/>
                </a:ext>
              </a:extLst>
            </p:cNvPr>
            <p:cNvSpPr/>
            <p:nvPr/>
          </p:nvSpPr>
          <p:spPr>
            <a:xfrm>
              <a:off x="-15113318" y="3860457"/>
              <a:ext cx="13638133" cy="1194697"/>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7" name="Text 25">
              <a:extLst>
                <a:ext uri="{FF2B5EF4-FFF2-40B4-BE49-F238E27FC236}">
                  <a16:creationId xmlns:a16="http://schemas.microsoft.com/office/drawing/2014/main" id="{3A5C3B05-7672-F98B-0E11-DAB7F2FBC216}"/>
                </a:ext>
              </a:extLst>
            </p:cNvPr>
            <p:cNvSpPr/>
            <p:nvPr/>
          </p:nvSpPr>
          <p:spPr>
            <a:xfrm>
              <a:off x="-14457760" y="4194674"/>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Kết luận dự án</a:t>
              </a:r>
              <a:endParaRPr lang="en-US" sz="2800" b="1" dirty="0"/>
            </a:p>
          </p:txBody>
        </p:sp>
        <p:sp>
          <p:nvSpPr>
            <p:cNvPr id="28" name="Text 26">
              <a:extLst>
                <a:ext uri="{FF2B5EF4-FFF2-40B4-BE49-F238E27FC236}">
                  <a16:creationId xmlns:a16="http://schemas.microsoft.com/office/drawing/2014/main" id="{52AAA06A-74CC-38B6-7825-22E378D4F30D}"/>
                </a:ext>
              </a:extLst>
            </p:cNvPr>
            <p:cNvSpPr/>
            <p:nvPr/>
          </p:nvSpPr>
          <p:spPr>
            <a:xfrm>
              <a:off x="-14442519" y="4740225"/>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Nhóm đã làm được những gì, cần cải thiện những gì, hướng phát triển</a:t>
              </a:r>
              <a:endParaRPr lang="en-US" sz="2400" dirty="0"/>
            </a:p>
          </p:txBody>
        </p:sp>
        <p:sp>
          <p:nvSpPr>
            <p:cNvPr id="25" name="Shape 23">
              <a:extLst>
                <a:ext uri="{FF2B5EF4-FFF2-40B4-BE49-F238E27FC236}">
                  <a16:creationId xmlns:a16="http://schemas.microsoft.com/office/drawing/2014/main" id="{6D1F8244-FFE5-F355-938E-A5F59B3051EA}"/>
                </a:ext>
              </a:extLst>
            </p:cNvPr>
            <p:cNvSpPr/>
            <p:nvPr/>
          </p:nvSpPr>
          <p:spPr>
            <a:xfrm>
              <a:off x="-15098078" y="3889575"/>
              <a:ext cx="566976" cy="1151886"/>
            </a:xfrm>
            <a:prstGeom prst="roundRect">
              <a:avLst>
                <a:gd name="adj" fmla="val 7276"/>
              </a:avLst>
            </a:prstGeom>
            <a:solidFill>
              <a:srgbClr val="F2EEEE"/>
            </a:solidFill>
            <a:ln/>
          </p:spPr>
          <p:txBody>
            <a:bodyPr/>
            <a:lstStyle/>
            <a:p>
              <a:endParaRPr lang="en-US"/>
            </a:p>
          </p:txBody>
        </p:sp>
      </p:grpSp>
      <p:sp>
        <p:nvSpPr>
          <p:cNvPr id="26" name="Text 24">
            <a:extLst>
              <a:ext uri="{FF2B5EF4-FFF2-40B4-BE49-F238E27FC236}">
                <a16:creationId xmlns:a16="http://schemas.microsoft.com/office/drawing/2014/main" id="{B482AFB9-5496-6AEB-BFF5-1A4F7DA938DC}"/>
              </a:ext>
            </a:extLst>
          </p:cNvPr>
          <p:cNvSpPr/>
          <p:nvPr/>
        </p:nvSpPr>
        <p:spPr>
          <a:xfrm>
            <a:off x="654367" y="433051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5</a:t>
            </a:r>
            <a:endParaRPr lang="en-US" sz="2400" b="1" dirty="0"/>
          </a:p>
        </p:txBody>
      </p:sp>
    </p:spTree>
    <p:extLst>
      <p:ext uri="{BB962C8B-B14F-4D97-AF65-F5344CB8AC3E}">
        <p14:creationId xmlns:p14="http://schemas.microsoft.com/office/powerpoint/2010/main" val="31073489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148829" y="137886"/>
            <a:ext cx="4536519" cy="566976"/>
          </a:xfrm>
          <a:prstGeom prst="rect">
            <a:avLst/>
          </a:prstGeom>
          <a:noFill/>
          <a:ln/>
        </p:spPr>
        <p:txBody>
          <a:bodyPr wrap="none" lIns="0" tIns="0" rIns="0" bIns="0" rtlCol="0" anchor="t"/>
          <a:lstStyle/>
          <a:p>
            <a:pPr marL="0" indent="0" algn="l">
              <a:lnSpc>
                <a:spcPts val="4450"/>
              </a:lnSpc>
              <a:buNone/>
            </a:pPr>
            <a:r>
              <a:rPr lang="en-US" sz="3550" b="1">
                <a:solidFill>
                  <a:srgbClr val="030303"/>
                </a:solidFill>
                <a:latin typeface="Arimo Semi Bold" pitchFamily="34" charset="0"/>
                <a:ea typeface="Arimo Semi Bold" pitchFamily="34" charset="-122"/>
                <a:cs typeface="Arimo Semi Bold" pitchFamily="34" charset="-120"/>
              </a:rPr>
              <a:t>1: Giới thiệu dự án </a:t>
            </a:r>
            <a:endParaRPr lang="en-US" sz="3550" b="1" dirty="0"/>
          </a:p>
        </p:txBody>
      </p:sp>
      <p:sp>
        <p:nvSpPr>
          <p:cNvPr id="4" name="Shape 1"/>
          <p:cNvSpPr/>
          <p:nvPr/>
        </p:nvSpPr>
        <p:spPr>
          <a:xfrm>
            <a:off x="793790" y="3007638"/>
            <a:ext cx="13219390" cy="3896082"/>
          </a:xfrm>
          <a:prstGeom prst="roundRect">
            <a:avLst>
              <a:gd name="adj" fmla="val 3052"/>
            </a:avLst>
          </a:prstGeom>
          <a:solidFill>
            <a:srgbClr val="F2EEEE"/>
          </a:solidFill>
          <a:ln/>
        </p:spPr>
        <p:txBody>
          <a:bodyPr/>
          <a:lstStyle/>
          <a:p>
            <a:endParaRPr lang="en-US"/>
          </a:p>
        </p:txBody>
      </p:sp>
      <p:sp>
        <p:nvSpPr>
          <p:cNvPr id="5" name="Text 2"/>
          <p:cNvSpPr/>
          <p:nvPr/>
        </p:nvSpPr>
        <p:spPr>
          <a:xfrm>
            <a:off x="1192054" y="3209940"/>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Các mục tiêu dự án</a:t>
            </a:r>
            <a:endParaRPr lang="en-US" sz="2400" b="1" dirty="0"/>
          </a:p>
        </p:txBody>
      </p:sp>
      <p:sp>
        <p:nvSpPr>
          <p:cNvPr id="6" name="Text 3"/>
          <p:cNvSpPr/>
          <p:nvPr/>
        </p:nvSpPr>
        <p:spPr>
          <a:xfrm>
            <a:off x="1020604" y="3724870"/>
            <a:ext cx="12603956" cy="3018250"/>
          </a:xfrm>
          <a:prstGeom prst="rect">
            <a:avLst/>
          </a:prstGeom>
          <a:noFill/>
          <a:ln/>
        </p:spPr>
        <p:txBody>
          <a:bodyPr wrap="square" lIns="0" tIns="0" rIns="0" bIns="0" rtlCol="0" anchor="t"/>
          <a:lstStyle/>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Xác định danh sách các loài động vật cần nhận diện, thu thập dữ liệu hình ảnh, dữ liệu các thông số cần thiết ( độ hung dữ,...). </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Xây dựng mô hình nhận diện CNN với độ chính xác &gt;= 75%.</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Xây dựng hệ thống Logic mờ với 2 input( độ hung dữ và khoảng cách)</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Xây dựng hệ thống IOT với chip điều khiển ESP32 -CAM và các sensor: hrs04 ( đo khoảng cách), còi, đèn, phục vụ cho hệ thống. </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Xây dựng hệ giao tiếp MQTT cho mã nguồn chính Python và mã nguồn Arduino của Iot. </a:t>
            </a:r>
          </a:p>
        </p:txBody>
      </p:sp>
      <p:sp>
        <p:nvSpPr>
          <p:cNvPr id="11" name="Shape 1">
            <a:extLst>
              <a:ext uri="{FF2B5EF4-FFF2-40B4-BE49-F238E27FC236}">
                <a16:creationId xmlns:a16="http://schemas.microsoft.com/office/drawing/2014/main" id="{7A319361-6032-924E-F6A7-6E82E11240ED}"/>
              </a:ext>
            </a:extLst>
          </p:cNvPr>
          <p:cNvSpPr/>
          <p:nvPr/>
        </p:nvSpPr>
        <p:spPr>
          <a:xfrm>
            <a:off x="793789" y="840950"/>
            <a:ext cx="13219391" cy="1530670"/>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6312C376-0B40-7DBB-BB18-E143909AAF3C}"/>
              </a:ext>
            </a:extLst>
          </p:cNvPr>
          <p:cNvSpPr/>
          <p:nvPr/>
        </p:nvSpPr>
        <p:spPr>
          <a:xfrm>
            <a:off x="1020604" y="999632"/>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Mục đích dự án</a:t>
            </a:r>
            <a:endParaRPr lang="en-US" sz="2400" b="1" dirty="0"/>
          </a:p>
        </p:txBody>
      </p:sp>
      <p:sp>
        <p:nvSpPr>
          <p:cNvPr id="13" name="Text 3">
            <a:extLst>
              <a:ext uri="{FF2B5EF4-FFF2-40B4-BE49-F238E27FC236}">
                <a16:creationId xmlns:a16="http://schemas.microsoft.com/office/drawing/2014/main" id="{78F9E65D-CBD9-C9C9-880F-76577740F998}"/>
              </a:ext>
            </a:extLst>
          </p:cNvPr>
          <p:cNvSpPr/>
          <p:nvPr/>
        </p:nvSpPr>
        <p:spPr>
          <a:xfrm>
            <a:off x="1280160" y="1486480"/>
            <a:ext cx="12814980" cy="513263"/>
          </a:xfrm>
          <a:prstGeom prst="rect">
            <a:avLst/>
          </a:prstGeom>
          <a:noFill/>
          <a:ln/>
        </p:spPr>
        <p:txBody>
          <a:bodyPr wrap="square" lIns="0" tIns="0" rIns="0" bIns="0" rtlCol="0" anchor="t"/>
          <a:lstStyle/>
          <a:p>
            <a:pPr marL="0" indent="0" algn="l">
              <a:lnSpc>
                <a:spcPts val="2850"/>
              </a:lnSpc>
              <a:buNone/>
            </a:pPr>
            <a:r>
              <a:rPr lang="vi-VN" sz="2000">
                <a:solidFill>
                  <a:srgbClr val="464646"/>
                </a:solidFill>
                <a:latin typeface="Arimo Medium" pitchFamily="34" charset="0"/>
                <a:ea typeface="Arimo Medium" pitchFamily="34" charset="-122"/>
                <a:cs typeface="Arimo Medium" pitchFamily="34" charset="-120"/>
              </a:rPr>
              <a:t>Giúp con người (khách du lịch, người đi rừng,..) nhận biết nhanh chóng các loài động vật nguy hiểm để phòng tránh.</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800B3-51FE-6A7F-1617-55F40E47DA3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3315A814-28A2-A6C4-2FB5-30E129290E66}"/>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Các thành viên </a:t>
            </a:r>
            <a:endParaRPr lang="en-US" sz="3550" b="1" dirty="0"/>
          </a:p>
        </p:txBody>
      </p:sp>
      <p:sp>
        <p:nvSpPr>
          <p:cNvPr id="7" name="Shape 4">
            <a:extLst>
              <a:ext uri="{FF2B5EF4-FFF2-40B4-BE49-F238E27FC236}">
                <a16:creationId xmlns:a16="http://schemas.microsoft.com/office/drawing/2014/main" id="{CEDD28D7-5216-A2A5-1CD0-DC9F3D1ED507}"/>
              </a:ext>
            </a:extLst>
          </p:cNvPr>
          <p:cNvSpPr/>
          <p:nvPr/>
        </p:nvSpPr>
        <p:spPr>
          <a:xfrm>
            <a:off x="17585249" y="1100292"/>
            <a:ext cx="3664863" cy="3415464"/>
          </a:xfrm>
          <a:prstGeom prst="roundRect">
            <a:avLst>
              <a:gd name="adj" fmla="val 3052"/>
            </a:avLst>
          </a:prstGeom>
          <a:solidFill>
            <a:srgbClr val="F2EEEE"/>
          </a:solidFill>
          <a:ln/>
        </p:spPr>
        <p:txBody>
          <a:bodyPr/>
          <a:lstStyle/>
          <a:p>
            <a:endParaRPr lang="en-US"/>
          </a:p>
        </p:txBody>
      </p:sp>
      <p:sp>
        <p:nvSpPr>
          <p:cNvPr id="8" name="Text 5">
            <a:extLst>
              <a:ext uri="{FF2B5EF4-FFF2-40B4-BE49-F238E27FC236}">
                <a16:creationId xmlns:a16="http://schemas.microsoft.com/office/drawing/2014/main" id="{91BED9E4-F2D4-EDAE-8FE8-6A3711DA68CA}"/>
              </a:ext>
            </a:extLst>
          </p:cNvPr>
          <p:cNvSpPr/>
          <p:nvPr/>
        </p:nvSpPr>
        <p:spPr>
          <a:xfrm>
            <a:off x="17812063" y="1327106"/>
            <a:ext cx="2835235" cy="354330"/>
          </a:xfrm>
          <a:prstGeom prst="rect">
            <a:avLst/>
          </a:prstGeom>
          <a:noFill/>
          <a:ln/>
        </p:spPr>
        <p:txBody>
          <a:bodyPr wrap="none" lIns="0" tIns="0" rIns="0" bIns="0" rtlCol="0" anchor="t"/>
          <a:lstStyle/>
          <a:p>
            <a:pPr marL="0" indent="0" algn="l">
              <a:lnSpc>
                <a:spcPts val="2750"/>
              </a:lnSpc>
              <a:buNone/>
            </a:pPr>
            <a:r>
              <a:rPr lang="en-US" sz="2400" b="1" dirty="0">
                <a:solidFill>
                  <a:srgbClr val="464646"/>
                </a:solidFill>
                <a:latin typeface="Arimo Semi Bold" pitchFamily="34" charset="0"/>
                <a:ea typeface="Arimo Semi Bold" pitchFamily="34" charset="-122"/>
                <a:cs typeface="Arimo Semi Bold" pitchFamily="34" charset="-120"/>
              </a:rPr>
              <a:t>Mục tiêu kỹ thuật</a:t>
            </a:r>
            <a:endParaRPr lang="en-US" sz="2400" b="1" dirty="0"/>
          </a:p>
        </p:txBody>
      </p:sp>
      <p:sp>
        <p:nvSpPr>
          <p:cNvPr id="9" name="Text 6">
            <a:extLst>
              <a:ext uri="{FF2B5EF4-FFF2-40B4-BE49-F238E27FC236}">
                <a16:creationId xmlns:a16="http://schemas.microsoft.com/office/drawing/2014/main" id="{18CA9938-CA09-1409-AFEB-42BA32222656}"/>
              </a:ext>
            </a:extLst>
          </p:cNvPr>
          <p:cNvSpPr/>
          <p:nvPr/>
        </p:nvSpPr>
        <p:spPr>
          <a:xfrm>
            <a:off x="17812063" y="1817524"/>
            <a:ext cx="3211235" cy="2177415"/>
          </a:xfrm>
          <a:prstGeom prst="rect">
            <a:avLst/>
          </a:prstGeom>
          <a:noFill/>
          <a:ln/>
        </p:spPr>
        <p:txBody>
          <a:bodyPr wrap="square" lIns="0" tIns="0" rIns="0" bIns="0" rtlCol="0" anchor="t"/>
          <a:lstStyle/>
          <a:p>
            <a:pPr marL="0" indent="0" algn="l">
              <a:lnSpc>
                <a:spcPts val="2850"/>
              </a:lnSpc>
              <a:buNone/>
            </a:pPr>
            <a:r>
              <a:rPr lang="en-US" sz="2000" dirty="0">
                <a:solidFill>
                  <a:srgbClr val="464646"/>
                </a:solidFill>
                <a:latin typeface="Arimo Medium" pitchFamily="34" charset="0"/>
                <a:ea typeface="Arimo Medium" pitchFamily="34" charset="-122"/>
                <a:cs typeface="Arimo Medium" pitchFamily="34" charset="-120"/>
              </a:rPr>
              <a:t>Triển khai hierarchical transforms (push/pop matrix), Phong shading cho ánh sáng, và texture mapping để bề mặt các hành tinh trông chân thực hơn.</a:t>
            </a:r>
            <a:endParaRPr lang="en-US" sz="2000" dirty="0"/>
          </a:p>
        </p:txBody>
      </p:sp>
      <p:sp>
        <p:nvSpPr>
          <p:cNvPr id="11" name="Shape 1">
            <a:extLst>
              <a:ext uri="{FF2B5EF4-FFF2-40B4-BE49-F238E27FC236}">
                <a16:creationId xmlns:a16="http://schemas.microsoft.com/office/drawing/2014/main" id="{67CDE4E3-1DD4-FAEB-87B7-D822F280DB67}"/>
              </a:ext>
            </a:extLst>
          </p:cNvPr>
          <p:cNvSpPr/>
          <p:nvPr/>
        </p:nvSpPr>
        <p:spPr>
          <a:xfrm>
            <a:off x="-8769916" y="0"/>
            <a:ext cx="4912529" cy="3314077"/>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DC323A60-457B-CFB8-4557-CECAE06E213B}"/>
              </a:ext>
            </a:extLst>
          </p:cNvPr>
          <p:cNvSpPr/>
          <p:nvPr/>
        </p:nvSpPr>
        <p:spPr>
          <a:xfrm>
            <a:off x="-8616584" y="140969"/>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Hải</a:t>
            </a:r>
            <a:endParaRPr lang="en-US" sz="2400" b="1" dirty="0"/>
          </a:p>
        </p:txBody>
      </p:sp>
      <p:sp>
        <p:nvSpPr>
          <p:cNvPr id="13" name="Text 3">
            <a:extLst>
              <a:ext uri="{FF2B5EF4-FFF2-40B4-BE49-F238E27FC236}">
                <a16:creationId xmlns:a16="http://schemas.microsoft.com/office/drawing/2014/main" id="{0E45CF9C-83FF-5C35-0E2B-26EC3729224B}"/>
              </a:ext>
            </a:extLst>
          </p:cNvPr>
          <p:cNvSpPr/>
          <p:nvPr/>
        </p:nvSpPr>
        <p:spPr>
          <a:xfrm>
            <a:off x="-8393621" y="486157"/>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Chọn đề tài, phân công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lập môi trường MQTT &amp;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mô hình phần cứng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Viết phần lớn nội dung  báo cáo từng đợt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dataset thông số.</a:t>
            </a:r>
          </a:p>
        </p:txBody>
      </p:sp>
      <p:sp>
        <p:nvSpPr>
          <p:cNvPr id="16" name="Shape 1">
            <a:extLst>
              <a:ext uri="{FF2B5EF4-FFF2-40B4-BE49-F238E27FC236}">
                <a16:creationId xmlns:a16="http://schemas.microsoft.com/office/drawing/2014/main" id="{C3E3610F-E0F0-843D-E320-A7840A6EA0D7}"/>
              </a:ext>
            </a:extLst>
          </p:cNvPr>
          <p:cNvSpPr/>
          <p:nvPr/>
        </p:nvSpPr>
        <p:spPr>
          <a:xfrm>
            <a:off x="12739804" y="-3879680"/>
            <a:ext cx="4912529" cy="331407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D8654BC8-0950-0966-8285-E0A7E336F9F1}"/>
              </a:ext>
            </a:extLst>
          </p:cNvPr>
          <p:cNvSpPr/>
          <p:nvPr/>
        </p:nvSpPr>
        <p:spPr>
          <a:xfrm>
            <a:off x="12893136" y="-3738711"/>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Anh</a:t>
            </a:r>
            <a:endParaRPr lang="en-US" sz="2400" b="1" dirty="0"/>
          </a:p>
        </p:txBody>
      </p:sp>
      <p:sp>
        <p:nvSpPr>
          <p:cNvPr id="18" name="Text 3">
            <a:extLst>
              <a:ext uri="{FF2B5EF4-FFF2-40B4-BE49-F238E27FC236}">
                <a16:creationId xmlns:a16="http://schemas.microsoft.com/office/drawing/2014/main" id="{2AEB5E26-3493-116D-AE2B-98F22C977025}"/>
              </a:ext>
            </a:extLst>
          </p:cNvPr>
          <p:cNvSpPr/>
          <p:nvPr/>
        </p:nvSpPr>
        <p:spPr>
          <a:xfrm>
            <a:off x="13116099" y="-3393523"/>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tiền xử lý, quản lý dataset ảnh</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&amp; quản lý dataset thông số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 Huấn luyện mô hình YoLov8.</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viết báo cáo</a:t>
            </a:r>
          </a:p>
        </p:txBody>
      </p:sp>
      <p:sp>
        <p:nvSpPr>
          <p:cNvPr id="19" name="Shape 1">
            <a:extLst>
              <a:ext uri="{FF2B5EF4-FFF2-40B4-BE49-F238E27FC236}">
                <a16:creationId xmlns:a16="http://schemas.microsoft.com/office/drawing/2014/main" id="{C81BC4DD-328E-902E-3FD2-8F2016986384}"/>
              </a:ext>
            </a:extLst>
          </p:cNvPr>
          <p:cNvSpPr/>
          <p:nvPr/>
        </p:nvSpPr>
        <p:spPr>
          <a:xfrm>
            <a:off x="-10137225" y="4502713"/>
            <a:ext cx="4912529" cy="3314077"/>
          </a:xfrm>
          <a:prstGeom prst="roundRect">
            <a:avLst>
              <a:gd name="adj" fmla="val 12013"/>
            </a:avLst>
          </a:prstGeom>
          <a:solidFill>
            <a:srgbClr val="F2EEEE"/>
          </a:solidFill>
          <a:ln/>
        </p:spPr>
        <p:txBody>
          <a:bodyPr/>
          <a:lstStyle/>
          <a:p>
            <a:endParaRPr lang="en-US"/>
          </a:p>
        </p:txBody>
      </p:sp>
      <p:sp>
        <p:nvSpPr>
          <p:cNvPr id="20" name="Text 2">
            <a:extLst>
              <a:ext uri="{FF2B5EF4-FFF2-40B4-BE49-F238E27FC236}">
                <a16:creationId xmlns:a16="http://schemas.microsoft.com/office/drawing/2014/main" id="{D27A6A3F-4E8F-C633-A31E-873B61DE01A7}"/>
              </a:ext>
            </a:extLst>
          </p:cNvPr>
          <p:cNvSpPr/>
          <p:nvPr/>
        </p:nvSpPr>
        <p:spPr>
          <a:xfrm>
            <a:off x="-9983893" y="4643682"/>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Lâm Vũ</a:t>
            </a:r>
            <a:endParaRPr lang="en-US" sz="2400" b="1" dirty="0"/>
          </a:p>
        </p:txBody>
      </p:sp>
      <p:sp>
        <p:nvSpPr>
          <p:cNvPr id="21" name="Text 3">
            <a:extLst>
              <a:ext uri="{FF2B5EF4-FFF2-40B4-BE49-F238E27FC236}">
                <a16:creationId xmlns:a16="http://schemas.microsoft.com/office/drawing/2014/main" id="{3DAE5697-2FA9-5E0D-B496-57C23436B654}"/>
              </a:ext>
            </a:extLst>
          </p:cNvPr>
          <p:cNvSpPr/>
          <p:nvPr/>
        </p:nvSpPr>
        <p:spPr>
          <a:xfrm>
            <a:off x="-9760930" y="4988870"/>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hệ thống Logic mờ.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xử lý các lỗi liên quan đến lưu trữ, quản lý mã nguồn.</a:t>
            </a:r>
          </a:p>
        </p:txBody>
      </p:sp>
      <p:pic>
        <p:nvPicPr>
          <p:cNvPr id="6" name="Picture 5">
            <a:extLst>
              <a:ext uri="{FF2B5EF4-FFF2-40B4-BE49-F238E27FC236}">
                <a16:creationId xmlns:a16="http://schemas.microsoft.com/office/drawing/2014/main" id="{DF15030C-6C54-5AC3-73FE-93EB2E925FB2}"/>
              </a:ext>
            </a:extLst>
          </p:cNvPr>
          <p:cNvPicPr>
            <a:picLocks noChangeAspect="1"/>
          </p:cNvPicPr>
          <p:nvPr/>
        </p:nvPicPr>
        <p:blipFill>
          <a:blip r:embed="rId3"/>
          <a:stretch>
            <a:fillRect/>
          </a:stretch>
        </p:blipFill>
        <p:spPr>
          <a:xfrm>
            <a:off x="590718" y="1109385"/>
            <a:ext cx="13448964" cy="6160111"/>
          </a:xfrm>
          <a:prstGeom prst="rect">
            <a:avLst/>
          </a:prstGeom>
        </p:spPr>
      </p:pic>
    </p:spTree>
    <p:extLst>
      <p:ext uri="{BB962C8B-B14F-4D97-AF65-F5344CB8AC3E}">
        <p14:creationId xmlns:p14="http://schemas.microsoft.com/office/powerpoint/2010/main" val="1972260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9A01E-1D18-C2E7-3959-75310010F80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D30D397-36F3-2254-2558-832995666693}"/>
              </a:ext>
            </a:extLst>
          </p:cNvPr>
          <p:cNvPicPr>
            <a:picLocks noChangeAspect="1"/>
          </p:cNvPicPr>
          <p:nvPr/>
        </p:nvPicPr>
        <p:blipFill>
          <a:blip r:embed="rId3"/>
          <a:stretch>
            <a:fillRect/>
          </a:stretch>
        </p:blipFill>
        <p:spPr>
          <a:xfrm>
            <a:off x="368967" y="933174"/>
            <a:ext cx="17619021" cy="8070149"/>
          </a:xfrm>
          <a:prstGeom prst="rect">
            <a:avLst/>
          </a:prstGeom>
        </p:spPr>
      </p:pic>
      <p:sp>
        <p:nvSpPr>
          <p:cNvPr id="3" name="Text 0">
            <a:extLst>
              <a:ext uri="{FF2B5EF4-FFF2-40B4-BE49-F238E27FC236}">
                <a16:creationId xmlns:a16="http://schemas.microsoft.com/office/drawing/2014/main" id="{150BB845-B3AC-9F6D-DC38-EAD1D6394E4D}"/>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Các thành viên </a:t>
            </a:r>
            <a:endParaRPr lang="en-US" sz="3550" b="1" dirty="0"/>
          </a:p>
        </p:txBody>
      </p:sp>
      <p:sp>
        <p:nvSpPr>
          <p:cNvPr id="7" name="Shape 4">
            <a:extLst>
              <a:ext uri="{FF2B5EF4-FFF2-40B4-BE49-F238E27FC236}">
                <a16:creationId xmlns:a16="http://schemas.microsoft.com/office/drawing/2014/main" id="{C5C8235E-0810-292B-E4C2-1E5874F7204A}"/>
              </a:ext>
            </a:extLst>
          </p:cNvPr>
          <p:cNvSpPr/>
          <p:nvPr/>
        </p:nvSpPr>
        <p:spPr>
          <a:xfrm>
            <a:off x="17585249" y="1100292"/>
            <a:ext cx="3664863" cy="3415464"/>
          </a:xfrm>
          <a:prstGeom prst="roundRect">
            <a:avLst>
              <a:gd name="adj" fmla="val 3052"/>
            </a:avLst>
          </a:prstGeom>
          <a:solidFill>
            <a:srgbClr val="F2EEEE"/>
          </a:solidFill>
          <a:ln/>
        </p:spPr>
        <p:txBody>
          <a:bodyPr/>
          <a:lstStyle/>
          <a:p>
            <a:endParaRPr lang="en-US"/>
          </a:p>
        </p:txBody>
      </p:sp>
      <p:sp>
        <p:nvSpPr>
          <p:cNvPr id="8" name="Text 5">
            <a:extLst>
              <a:ext uri="{FF2B5EF4-FFF2-40B4-BE49-F238E27FC236}">
                <a16:creationId xmlns:a16="http://schemas.microsoft.com/office/drawing/2014/main" id="{4DBBF156-7DD4-19B8-0007-59BF9EE7840C}"/>
              </a:ext>
            </a:extLst>
          </p:cNvPr>
          <p:cNvSpPr/>
          <p:nvPr/>
        </p:nvSpPr>
        <p:spPr>
          <a:xfrm>
            <a:off x="17812063" y="1327106"/>
            <a:ext cx="2835235" cy="354330"/>
          </a:xfrm>
          <a:prstGeom prst="rect">
            <a:avLst/>
          </a:prstGeom>
          <a:noFill/>
          <a:ln/>
        </p:spPr>
        <p:txBody>
          <a:bodyPr wrap="none" lIns="0" tIns="0" rIns="0" bIns="0" rtlCol="0" anchor="t"/>
          <a:lstStyle/>
          <a:p>
            <a:pPr marL="0" indent="0" algn="l">
              <a:lnSpc>
                <a:spcPts val="2750"/>
              </a:lnSpc>
              <a:buNone/>
            </a:pPr>
            <a:r>
              <a:rPr lang="en-US" sz="2400" b="1" dirty="0">
                <a:solidFill>
                  <a:srgbClr val="464646"/>
                </a:solidFill>
                <a:latin typeface="Arimo Semi Bold" pitchFamily="34" charset="0"/>
                <a:ea typeface="Arimo Semi Bold" pitchFamily="34" charset="-122"/>
                <a:cs typeface="Arimo Semi Bold" pitchFamily="34" charset="-120"/>
              </a:rPr>
              <a:t>Mục tiêu kỹ thuật</a:t>
            </a:r>
            <a:endParaRPr lang="en-US" sz="2400" b="1" dirty="0"/>
          </a:p>
        </p:txBody>
      </p:sp>
      <p:sp>
        <p:nvSpPr>
          <p:cNvPr id="9" name="Text 6">
            <a:extLst>
              <a:ext uri="{FF2B5EF4-FFF2-40B4-BE49-F238E27FC236}">
                <a16:creationId xmlns:a16="http://schemas.microsoft.com/office/drawing/2014/main" id="{06F97E3D-9E32-9850-55CC-241CC56A6D35}"/>
              </a:ext>
            </a:extLst>
          </p:cNvPr>
          <p:cNvSpPr/>
          <p:nvPr/>
        </p:nvSpPr>
        <p:spPr>
          <a:xfrm>
            <a:off x="17812063" y="1817524"/>
            <a:ext cx="3211235" cy="2177415"/>
          </a:xfrm>
          <a:prstGeom prst="rect">
            <a:avLst/>
          </a:prstGeom>
          <a:noFill/>
          <a:ln/>
        </p:spPr>
        <p:txBody>
          <a:bodyPr wrap="square" lIns="0" tIns="0" rIns="0" bIns="0" rtlCol="0" anchor="t"/>
          <a:lstStyle/>
          <a:p>
            <a:pPr marL="0" indent="0" algn="l">
              <a:lnSpc>
                <a:spcPts val="2850"/>
              </a:lnSpc>
              <a:buNone/>
            </a:pPr>
            <a:r>
              <a:rPr lang="en-US" sz="2000" dirty="0">
                <a:solidFill>
                  <a:srgbClr val="464646"/>
                </a:solidFill>
                <a:latin typeface="Arimo Medium" pitchFamily="34" charset="0"/>
                <a:ea typeface="Arimo Medium" pitchFamily="34" charset="-122"/>
                <a:cs typeface="Arimo Medium" pitchFamily="34" charset="-120"/>
              </a:rPr>
              <a:t>Triển khai hierarchical transforms (push/pop matrix), Phong shading cho ánh sáng, và texture mapping để bề mặt các hành tinh trông chân thực hơn.</a:t>
            </a:r>
            <a:endParaRPr lang="en-US" sz="2000" dirty="0"/>
          </a:p>
        </p:txBody>
      </p:sp>
      <p:sp>
        <p:nvSpPr>
          <p:cNvPr id="11" name="Shape 1">
            <a:extLst>
              <a:ext uri="{FF2B5EF4-FFF2-40B4-BE49-F238E27FC236}">
                <a16:creationId xmlns:a16="http://schemas.microsoft.com/office/drawing/2014/main" id="{3237976B-EF00-3BD5-4C29-7450C6C82780}"/>
              </a:ext>
            </a:extLst>
          </p:cNvPr>
          <p:cNvSpPr/>
          <p:nvPr/>
        </p:nvSpPr>
        <p:spPr>
          <a:xfrm>
            <a:off x="7827275" y="3331831"/>
            <a:ext cx="4912529" cy="3314077"/>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C35EF223-C1E7-3019-EC42-CAF202C37B75}"/>
              </a:ext>
            </a:extLst>
          </p:cNvPr>
          <p:cNvSpPr/>
          <p:nvPr/>
        </p:nvSpPr>
        <p:spPr>
          <a:xfrm>
            <a:off x="7980607" y="3472800"/>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Hải</a:t>
            </a:r>
            <a:endParaRPr lang="en-US" sz="2400" b="1" dirty="0"/>
          </a:p>
        </p:txBody>
      </p:sp>
      <p:sp>
        <p:nvSpPr>
          <p:cNvPr id="13" name="Text 3">
            <a:extLst>
              <a:ext uri="{FF2B5EF4-FFF2-40B4-BE49-F238E27FC236}">
                <a16:creationId xmlns:a16="http://schemas.microsoft.com/office/drawing/2014/main" id="{4CE58EB8-F13E-A737-C94A-9B89F6AAA3DF}"/>
              </a:ext>
            </a:extLst>
          </p:cNvPr>
          <p:cNvSpPr/>
          <p:nvPr/>
        </p:nvSpPr>
        <p:spPr>
          <a:xfrm>
            <a:off x="8203570" y="3915435"/>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Chọn đề tài, phân công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lập môi trường MQTT &amp;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mô hình phần cứng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Viết phần lớn nội dung  báo cáo từng đợt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dataset thông số.</a:t>
            </a:r>
          </a:p>
        </p:txBody>
      </p:sp>
      <p:sp>
        <p:nvSpPr>
          <p:cNvPr id="16" name="Shape 1">
            <a:extLst>
              <a:ext uri="{FF2B5EF4-FFF2-40B4-BE49-F238E27FC236}">
                <a16:creationId xmlns:a16="http://schemas.microsoft.com/office/drawing/2014/main" id="{9C8793BC-7707-81B4-73D6-D8451DE3BBA0}"/>
              </a:ext>
            </a:extLst>
          </p:cNvPr>
          <p:cNvSpPr/>
          <p:nvPr/>
        </p:nvSpPr>
        <p:spPr>
          <a:xfrm>
            <a:off x="12739804" y="-3879680"/>
            <a:ext cx="4912529" cy="331407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575ED751-7DDE-12AD-B9FC-E8DADA549B2D}"/>
              </a:ext>
            </a:extLst>
          </p:cNvPr>
          <p:cNvSpPr/>
          <p:nvPr/>
        </p:nvSpPr>
        <p:spPr>
          <a:xfrm>
            <a:off x="12893136" y="-3738711"/>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Anh</a:t>
            </a:r>
            <a:endParaRPr lang="en-US" sz="2400" b="1" dirty="0"/>
          </a:p>
        </p:txBody>
      </p:sp>
      <p:sp>
        <p:nvSpPr>
          <p:cNvPr id="18" name="Text 3">
            <a:extLst>
              <a:ext uri="{FF2B5EF4-FFF2-40B4-BE49-F238E27FC236}">
                <a16:creationId xmlns:a16="http://schemas.microsoft.com/office/drawing/2014/main" id="{F8CA418D-3711-F135-481C-49AB7D437C8E}"/>
              </a:ext>
            </a:extLst>
          </p:cNvPr>
          <p:cNvSpPr/>
          <p:nvPr/>
        </p:nvSpPr>
        <p:spPr>
          <a:xfrm>
            <a:off x="13116099" y="-3393523"/>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tiền xử lý, quản lý dataset ảnh</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&amp; quản lý dataset thông số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 Huấn luyện mô hình YoLov8.</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viết báo cáo</a:t>
            </a:r>
          </a:p>
        </p:txBody>
      </p:sp>
      <p:sp>
        <p:nvSpPr>
          <p:cNvPr id="19" name="Shape 1">
            <a:extLst>
              <a:ext uri="{FF2B5EF4-FFF2-40B4-BE49-F238E27FC236}">
                <a16:creationId xmlns:a16="http://schemas.microsoft.com/office/drawing/2014/main" id="{5EF3EA78-2C8D-07F7-1F99-7CB3A170684D}"/>
              </a:ext>
            </a:extLst>
          </p:cNvPr>
          <p:cNvSpPr/>
          <p:nvPr/>
        </p:nvSpPr>
        <p:spPr>
          <a:xfrm>
            <a:off x="-10137225" y="4502713"/>
            <a:ext cx="4912529" cy="3314077"/>
          </a:xfrm>
          <a:prstGeom prst="roundRect">
            <a:avLst>
              <a:gd name="adj" fmla="val 12013"/>
            </a:avLst>
          </a:prstGeom>
          <a:solidFill>
            <a:srgbClr val="F2EEEE"/>
          </a:solidFill>
          <a:ln/>
        </p:spPr>
        <p:txBody>
          <a:bodyPr/>
          <a:lstStyle/>
          <a:p>
            <a:endParaRPr lang="en-US"/>
          </a:p>
        </p:txBody>
      </p:sp>
      <p:sp>
        <p:nvSpPr>
          <p:cNvPr id="20" name="Text 2">
            <a:extLst>
              <a:ext uri="{FF2B5EF4-FFF2-40B4-BE49-F238E27FC236}">
                <a16:creationId xmlns:a16="http://schemas.microsoft.com/office/drawing/2014/main" id="{62010C70-086E-1135-7666-C53FCC26A30D}"/>
              </a:ext>
            </a:extLst>
          </p:cNvPr>
          <p:cNvSpPr/>
          <p:nvPr/>
        </p:nvSpPr>
        <p:spPr>
          <a:xfrm>
            <a:off x="-9983893" y="4643682"/>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Lâm Vũ</a:t>
            </a:r>
            <a:endParaRPr lang="en-US" sz="2400" b="1" dirty="0"/>
          </a:p>
        </p:txBody>
      </p:sp>
      <p:sp>
        <p:nvSpPr>
          <p:cNvPr id="21" name="Text 3">
            <a:extLst>
              <a:ext uri="{FF2B5EF4-FFF2-40B4-BE49-F238E27FC236}">
                <a16:creationId xmlns:a16="http://schemas.microsoft.com/office/drawing/2014/main" id="{EE73378F-3C6A-F15D-46AA-FC191BD182AB}"/>
              </a:ext>
            </a:extLst>
          </p:cNvPr>
          <p:cNvSpPr/>
          <p:nvPr/>
        </p:nvSpPr>
        <p:spPr>
          <a:xfrm>
            <a:off x="-9760930" y="4988870"/>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hệ thống Logic mờ.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xử lý các lỗi liên quan đến lưu trữ, quản lý mã nguồn.</a:t>
            </a:r>
          </a:p>
        </p:txBody>
      </p:sp>
    </p:spTree>
    <p:extLst>
      <p:ext uri="{BB962C8B-B14F-4D97-AF65-F5344CB8AC3E}">
        <p14:creationId xmlns:p14="http://schemas.microsoft.com/office/powerpoint/2010/main" val="3443834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99A44-721E-4EF2-822E-870A04E395F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CE82D49-D1C4-2776-C90B-F0BA0A43B1AB}"/>
              </a:ext>
            </a:extLst>
          </p:cNvPr>
          <p:cNvPicPr>
            <a:picLocks noChangeAspect="1"/>
          </p:cNvPicPr>
          <p:nvPr/>
        </p:nvPicPr>
        <p:blipFill>
          <a:blip r:embed="rId3"/>
          <a:stretch>
            <a:fillRect/>
          </a:stretch>
        </p:blipFill>
        <p:spPr>
          <a:xfrm>
            <a:off x="-15719935" y="-1367939"/>
            <a:ext cx="20990478" cy="9614398"/>
          </a:xfrm>
          <a:prstGeom prst="rect">
            <a:avLst/>
          </a:prstGeom>
        </p:spPr>
      </p:pic>
      <p:sp>
        <p:nvSpPr>
          <p:cNvPr id="3" name="Text 0">
            <a:extLst>
              <a:ext uri="{FF2B5EF4-FFF2-40B4-BE49-F238E27FC236}">
                <a16:creationId xmlns:a16="http://schemas.microsoft.com/office/drawing/2014/main" id="{0E271BBE-663F-C447-7D55-CAFD3A8BF76D}"/>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Các thành viên </a:t>
            </a:r>
            <a:endParaRPr lang="en-US" sz="3550" b="1" dirty="0"/>
          </a:p>
        </p:txBody>
      </p:sp>
      <p:sp>
        <p:nvSpPr>
          <p:cNvPr id="7" name="Shape 4">
            <a:extLst>
              <a:ext uri="{FF2B5EF4-FFF2-40B4-BE49-F238E27FC236}">
                <a16:creationId xmlns:a16="http://schemas.microsoft.com/office/drawing/2014/main" id="{A1A0C4F2-69E8-8921-664F-1D3BCAEA34C3}"/>
              </a:ext>
            </a:extLst>
          </p:cNvPr>
          <p:cNvSpPr/>
          <p:nvPr/>
        </p:nvSpPr>
        <p:spPr>
          <a:xfrm>
            <a:off x="17585249" y="1100292"/>
            <a:ext cx="3664863" cy="3415464"/>
          </a:xfrm>
          <a:prstGeom prst="roundRect">
            <a:avLst>
              <a:gd name="adj" fmla="val 3052"/>
            </a:avLst>
          </a:prstGeom>
          <a:solidFill>
            <a:srgbClr val="F2EEEE"/>
          </a:solidFill>
          <a:ln/>
        </p:spPr>
        <p:txBody>
          <a:bodyPr/>
          <a:lstStyle/>
          <a:p>
            <a:endParaRPr lang="en-US"/>
          </a:p>
        </p:txBody>
      </p:sp>
      <p:sp>
        <p:nvSpPr>
          <p:cNvPr id="8" name="Text 5">
            <a:extLst>
              <a:ext uri="{FF2B5EF4-FFF2-40B4-BE49-F238E27FC236}">
                <a16:creationId xmlns:a16="http://schemas.microsoft.com/office/drawing/2014/main" id="{EF94415D-7D73-F026-A17D-D2C8FE4B4002}"/>
              </a:ext>
            </a:extLst>
          </p:cNvPr>
          <p:cNvSpPr/>
          <p:nvPr/>
        </p:nvSpPr>
        <p:spPr>
          <a:xfrm>
            <a:off x="17812063" y="1327106"/>
            <a:ext cx="2835235" cy="354330"/>
          </a:xfrm>
          <a:prstGeom prst="rect">
            <a:avLst/>
          </a:prstGeom>
          <a:noFill/>
          <a:ln/>
        </p:spPr>
        <p:txBody>
          <a:bodyPr wrap="none" lIns="0" tIns="0" rIns="0" bIns="0" rtlCol="0" anchor="t"/>
          <a:lstStyle/>
          <a:p>
            <a:pPr marL="0" indent="0" algn="l">
              <a:lnSpc>
                <a:spcPts val="2750"/>
              </a:lnSpc>
              <a:buNone/>
            </a:pPr>
            <a:r>
              <a:rPr lang="en-US" sz="2400" b="1" dirty="0">
                <a:solidFill>
                  <a:srgbClr val="464646"/>
                </a:solidFill>
                <a:latin typeface="Arimo Semi Bold" pitchFamily="34" charset="0"/>
                <a:ea typeface="Arimo Semi Bold" pitchFamily="34" charset="-122"/>
                <a:cs typeface="Arimo Semi Bold" pitchFamily="34" charset="-120"/>
              </a:rPr>
              <a:t>Mục tiêu kỹ thuật</a:t>
            </a:r>
            <a:endParaRPr lang="en-US" sz="2400" b="1" dirty="0"/>
          </a:p>
        </p:txBody>
      </p:sp>
      <p:sp>
        <p:nvSpPr>
          <p:cNvPr id="9" name="Text 6">
            <a:extLst>
              <a:ext uri="{FF2B5EF4-FFF2-40B4-BE49-F238E27FC236}">
                <a16:creationId xmlns:a16="http://schemas.microsoft.com/office/drawing/2014/main" id="{76C768F8-48F8-249F-2AE7-08A50A834E64}"/>
              </a:ext>
            </a:extLst>
          </p:cNvPr>
          <p:cNvSpPr/>
          <p:nvPr/>
        </p:nvSpPr>
        <p:spPr>
          <a:xfrm>
            <a:off x="17812063" y="1817524"/>
            <a:ext cx="3211235" cy="2177415"/>
          </a:xfrm>
          <a:prstGeom prst="rect">
            <a:avLst/>
          </a:prstGeom>
          <a:noFill/>
          <a:ln/>
        </p:spPr>
        <p:txBody>
          <a:bodyPr wrap="square" lIns="0" tIns="0" rIns="0" bIns="0" rtlCol="0" anchor="t"/>
          <a:lstStyle/>
          <a:p>
            <a:pPr marL="0" indent="0" algn="l">
              <a:lnSpc>
                <a:spcPts val="2850"/>
              </a:lnSpc>
              <a:buNone/>
            </a:pPr>
            <a:r>
              <a:rPr lang="en-US" sz="2000" dirty="0">
                <a:solidFill>
                  <a:srgbClr val="464646"/>
                </a:solidFill>
                <a:latin typeface="Arimo Medium" pitchFamily="34" charset="0"/>
                <a:ea typeface="Arimo Medium" pitchFamily="34" charset="-122"/>
                <a:cs typeface="Arimo Medium" pitchFamily="34" charset="-120"/>
              </a:rPr>
              <a:t>Triển khai hierarchical transforms (push/pop matrix), Phong shading cho ánh sáng, và texture mapping để bề mặt các hành tinh trông chân thực hơn.</a:t>
            </a:r>
            <a:endParaRPr lang="en-US" sz="2000" dirty="0"/>
          </a:p>
        </p:txBody>
      </p:sp>
      <p:sp>
        <p:nvSpPr>
          <p:cNvPr id="11" name="Shape 1">
            <a:extLst>
              <a:ext uri="{FF2B5EF4-FFF2-40B4-BE49-F238E27FC236}">
                <a16:creationId xmlns:a16="http://schemas.microsoft.com/office/drawing/2014/main" id="{C39BA21C-EBA3-2BBA-41EB-C9C255A0E96B}"/>
              </a:ext>
            </a:extLst>
          </p:cNvPr>
          <p:cNvSpPr/>
          <p:nvPr/>
        </p:nvSpPr>
        <p:spPr>
          <a:xfrm>
            <a:off x="-8266165" y="-3879680"/>
            <a:ext cx="4912529" cy="3314077"/>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D457CD13-FA1E-4A52-726C-2EB125B24BC6}"/>
              </a:ext>
            </a:extLst>
          </p:cNvPr>
          <p:cNvSpPr/>
          <p:nvPr/>
        </p:nvSpPr>
        <p:spPr>
          <a:xfrm>
            <a:off x="-8112833" y="-3738711"/>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Hải</a:t>
            </a:r>
            <a:endParaRPr lang="en-US" sz="2400" b="1" dirty="0"/>
          </a:p>
        </p:txBody>
      </p:sp>
      <p:sp>
        <p:nvSpPr>
          <p:cNvPr id="13" name="Text 3">
            <a:extLst>
              <a:ext uri="{FF2B5EF4-FFF2-40B4-BE49-F238E27FC236}">
                <a16:creationId xmlns:a16="http://schemas.microsoft.com/office/drawing/2014/main" id="{4E6AF9D1-B8D9-AC4D-5684-67100C98E4A1}"/>
              </a:ext>
            </a:extLst>
          </p:cNvPr>
          <p:cNvSpPr/>
          <p:nvPr/>
        </p:nvSpPr>
        <p:spPr>
          <a:xfrm>
            <a:off x="-7889870" y="-3296076"/>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Chọn đề tài, phân công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lập môi trường MQTT &amp;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mô hình phần cứng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Viết phần lớn nội dung  báo cáo từng đợt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dataset thông số.</a:t>
            </a:r>
          </a:p>
        </p:txBody>
      </p:sp>
      <p:sp>
        <p:nvSpPr>
          <p:cNvPr id="16" name="Shape 1">
            <a:extLst>
              <a:ext uri="{FF2B5EF4-FFF2-40B4-BE49-F238E27FC236}">
                <a16:creationId xmlns:a16="http://schemas.microsoft.com/office/drawing/2014/main" id="{71F26C35-2C69-9205-6C90-A3C155B51CB6}"/>
              </a:ext>
            </a:extLst>
          </p:cNvPr>
          <p:cNvSpPr/>
          <p:nvPr/>
        </p:nvSpPr>
        <p:spPr>
          <a:xfrm>
            <a:off x="7315200" y="2845674"/>
            <a:ext cx="4912529" cy="331407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EEEBE5D1-4563-DB03-2B5E-77295896C851}"/>
              </a:ext>
            </a:extLst>
          </p:cNvPr>
          <p:cNvSpPr/>
          <p:nvPr/>
        </p:nvSpPr>
        <p:spPr>
          <a:xfrm>
            <a:off x="7468532" y="2986643"/>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Anh</a:t>
            </a:r>
            <a:endParaRPr lang="en-US" sz="2400" b="1" dirty="0"/>
          </a:p>
        </p:txBody>
      </p:sp>
      <p:sp>
        <p:nvSpPr>
          <p:cNvPr id="18" name="Text 3">
            <a:extLst>
              <a:ext uri="{FF2B5EF4-FFF2-40B4-BE49-F238E27FC236}">
                <a16:creationId xmlns:a16="http://schemas.microsoft.com/office/drawing/2014/main" id="{A82F1EE9-E16F-CF65-19D3-B0F2484BDC02}"/>
              </a:ext>
            </a:extLst>
          </p:cNvPr>
          <p:cNvSpPr/>
          <p:nvPr/>
        </p:nvSpPr>
        <p:spPr>
          <a:xfrm>
            <a:off x="7691495" y="3331831"/>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tiền xử lý, quản lý dataset ảnh</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&amp; quản lý dataset thông số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 Huấn luyện mô hình YoLov8.</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viết báo cáo</a:t>
            </a:r>
          </a:p>
        </p:txBody>
      </p:sp>
      <p:sp>
        <p:nvSpPr>
          <p:cNvPr id="19" name="Shape 1">
            <a:extLst>
              <a:ext uri="{FF2B5EF4-FFF2-40B4-BE49-F238E27FC236}">
                <a16:creationId xmlns:a16="http://schemas.microsoft.com/office/drawing/2014/main" id="{E5CD9D70-C82C-EA72-C667-07C7E0C6D82E}"/>
              </a:ext>
            </a:extLst>
          </p:cNvPr>
          <p:cNvSpPr/>
          <p:nvPr/>
        </p:nvSpPr>
        <p:spPr>
          <a:xfrm>
            <a:off x="-10137225" y="4502713"/>
            <a:ext cx="4912529" cy="3314077"/>
          </a:xfrm>
          <a:prstGeom prst="roundRect">
            <a:avLst>
              <a:gd name="adj" fmla="val 12013"/>
            </a:avLst>
          </a:prstGeom>
          <a:solidFill>
            <a:srgbClr val="F2EEEE"/>
          </a:solidFill>
          <a:ln/>
        </p:spPr>
        <p:txBody>
          <a:bodyPr/>
          <a:lstStyle/>
          <a:p>
            <a:endParaRPr lang="en-US"/>
          </a:p>
        </p:txBody>
      </p:sp>
      <p:sp>
        <p:nvSpPr>
          <p:cNvPr id="20" name="Text 2">
            <a:extLst>
              <a:ext uri="{FF2B5EF4-FFF2-40B4-BE49-F238E27FC236}">
                <a16:creationId xmlns:a16="http://schemas.microsoft.com/office/drawing/2014/main" id="{B7D9C174-8488-F81B-C75F-B01779603B60}"/>
              </a:ext>
            </a:extLst>
          </p:cNvPr>
          <p:cNvSpPr/>
          <p:nvPr/>
        </p:nvSpPr>
        <p:spPr>
          <a:xfrm>
            <a:off x="-9983893" y="4643682"/>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Lâm Vũ</a:t>
            </a:r>
            <a:endParaRPr lang="en-US" sz="2400" b="1" dirty="0"/>
          </a:p>
        </p:txBody>
      </p:sp>
      <p:sp>
        <p:nvSpPr>
          <p:cNvPr id="21" name="Text 3">
            <a:extLst>
              <a:ext uri="{FF2B5EF4-FFF2-40B4-BE49-F238E27FC236}">
                <a16:creationId xmlns:a16="http://schemas.microsoft.com/office/drawing/2014/main" id="{3E4DB5F7-3A0D-2D4D-F4B7-9D28EE5CFABF}"/>
              </a:ext>
            </a:extLst>
          </p:cNvPr>
          <p:cNvSpPr/>
          <p:nvPr/>
        </p:nvSpPr>
        <p:spPr>
          <a:xfrm>
            <a:off x="-9760930" y="4988870"/>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hệ thống Logic mờ.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xử lý các lỗi liên quan đến lưu trữ, quản lý mã nguồn.</a:t>
            </a:r>
          </a:p>
        </p:txBody>
      </p:sp>
    </p:spTree>
    <p:extLst>
      <p:ext uri="{BB962C8B-B14F-4D97-AF65-F5344CB8AC3E}">
        <p14:creationId xmlns:p14="http://schemas.microsoft.com/office/powerpoint/2010/main" val="40721787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1DD6-332E-AC5F-962A-D5D743646BD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7BB4847-ABB5-85A4-C509-37FDDF5C0F29}"/>
              </a:ext>
            </a:extLst>
          </p:cNvPr>
          <p:cNvPicPr>
            <a:picLocks noChangeAspect="1"/>
          </p:cNvPicPr>
          <p:nvPr/>
        </p:nvPicPr>
        <p:blipFill>
          <a:blip r:embed="rId3"/>
          <a:stretch>
            <a:fillRect/>
          </a:stretch>
        </p:blipFill>
        <p:spPr>
          <a:xfrm>
            <a:off x="-5886198" y="798739"/>
            <a:ext cx="19960061" cy="9142430"/>
          </a:xfrm>
          <a:prstGeom prst="rect">
            <a:avLst/>
          </a:prstGeom>
        </p:spPr>
      </p:pic>
      <p:sp>
        <p:nvSpPr>
          <p:cNvPr id="3" name="Text 0">
            <a:extLst>
              <a:ext uri="{FF2B5EF4-FFF2-40B4-BE49-F238E27FC236}">
                <a16:creationId xmlns:a16="http://schemas.microsoft.com/office/drawing/2014/main" id="{8C6D44D3-00DB-A5C8-45CD-BDF1F8B542FB}"/>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Các thành viên </a:t>
            </a:r>
            <a:endParaRPr lang="en-US" sz="3550" b="1" dirty="0"/>
          </a:p>
        </p:txBody>
      </p:sp>
      <p:sp>
        <p:nvSpPr>
          <p:cNvPr id="7" name="Shape 4">
            <a:extLst>
              <a:ext uri="{FF2B5EF4-FFF2-40B4-BE49-F238E27FC236}">
                <a16:creationId xmlns:a16="http://schemas.microsoft.com/office/drawing/2014/main" id="{EE38BEAD-7DC0-CBF8-F041-DC25EF2B9429}"/>
              </a:ext>
            </a:extLst>
          </p:cNvPr>
          <p:cNvSpPr/>
          <p:nvPr/>
        </p:nvSpPr>
        <p:spPr>
          <a:xfrm>
            <a:off x="17585249" y="1100292"/>
            <a:ext cx="3664863" cy="3415464"/>
          </a:xfrm>
          <a:prstGeom prst="roundRect">
            <a:avLst>
              <a:gd name="adj" fmla="val 3052"/>
            </a:avLst>
          </a:prstGeom>
          <a:solidFill>
            <a:srgbClr val="F2EEEE"/>
          </a:solidFill>
          <a:ln/>
        </p:spPr>
        <p:txBody>
          <a:bodyPr/>
          <a:lstStyle/>
          <a:p>
            <a:endParaRPr lang="en-US"/>
          </a:p>
        </p:txBody>
      </p:sp>
      <p:sp>
        <p:nvSpPr>
          <p:cNvPr id="8" name="Text 5">
            <a:extLst>
              <a:ext uri="{FF2B5EF4-FFF2-40B4-BE49-F238E27FC236}">
                <a16:creationId xmlns:a16="http://schemas.microsoft.com/office/drawing/2014/main" id="{F396EB34-115A-C7C9-002A-587860AE8FC6}"/>
              </a:ext>
            </a:extLst>
          </p:cNvPr>
          <p:cNvSpPr/>
          <p:nvPr/>
        </p:nvSpPr>
        <p:spPr>
          <a:xfrm>
            <a:off x="17812063" y="1327106"/>
            <a:ext cx="2835235" cy="354330"/>
          </a:xfrm>
          <a:prstGeom prst="rect">
            <a:avLst/>
          </a:prstGeom>
          <a:noFill/>
          <a:ln/>
        </p:spPr>
        <p:txBody>
          <a:bodyPr wrap="none" lIns="0" tIns="0" rIns="0" bIns="0" rtlCol="0" anchor="t"/>
          <a:lstStyle/>
          <a:p>
            <a:pPr marL="0" indent="0" algn="l">
              <a:lnSpc>
                <a:spcPts val="2750"/>
              </a:lnSpc>
              <a:buNone/>
            </a:pPr>
            <a:r>
              <a:rPr lang="en-US" sz="2400" b="1" dirty="0">
                <a:solidFill>
                  <a:srgbClr val="464646"/>
                </a:solidFill>
                <a:latin typeface="Arimo Semi Bold" pitchFamily="34" charset="0"/>
                <a:ea typeface="Arimo Semi Bold" pitchFamily="34" charset="-122"/>
                <a:cs typeface="Arimo Semi Bold" pitchFamily="34" charset="-120"/>
              </a:rPr>
              <a:t>Mục tiêu kỹ thuật</a:t>
            </a:r>
            <a:endParaRPr lang="en-US" sz="2400" b="1" dirty="0"/>
          </a:p>
        </p:txBody>
      </p:sp>
      <p:sp>
        <p:nvSpPr>
          <p:cNvPr id="9" name="Text 6">
            <a:extLst>
              <a:ext uri="{FF2B5EF4-FFF2-40B4-BE49-F238E27FC236}">
                <a16:creationId xmlns:a16="http://schemas.microsoft.com/office/drawing/2014/main" id="{28D35501-DBA7-50FA-6E0A-557F2D5037D3}"/>
              </a:ext>
            </a:extLst>
          </p:cNvPr>
          <p:cNvSpPr/>
          <p:nvPr/>
        </p:nvSpPr>
        <p:spPr>
          <a:xfrm>
            <a:off x="17812063" y="1817524"/>
            <a:ext cx="3211235" cy="2177415"/>
          </a:xfrm>
          <a:prstGeom prst="rect">
            <a:avLst/>
          </a:prstGeom>
          <a:noFill/>
          <a:ln/>
        </p:spPr>
        <p:txBody>
          <a:bodyPr wrap="square" lIns="0" tIns="0" rIns="0" bIns="0" rtlCol="0" anchor="t"/>
          <a:lstStyle/>
          <a:p>
            <a:pPr marL="0" indent="0" algn="l">
              <a:lnSpc>
                <a:spcPts val="2850"/>
              </a:lnSpc>
              <a:buNone/>
            </a:pPr>
            <a:r>
              <a:rPr lang="en-US" sz="2000" dirty="0">
                <a:solidFill>
                  <a:srgbClr val="464646"/>
                </a:solidFill>
                <a:latin typeface="Arimo Medium" pitchFamily="34" charset="0"/>
                <a:ea typeface="Arimo Medium" pitchFamily="34" charset="-122"/>
                <a:cs typeface="Arimo Medium" pitchFamily="34" charset="-120"/>
              </a:rPr>
              <a:t>Triển khai hierarchical transforms (push/pop matrix), Phong shading cho ánh sáng, và texture mapping để bề mặt các hành tinh trông chân thực hơn.</a:t>
            </a:r>
            <a:endParaRPr lang="en-US" sz="2000" dirty="0"/>
          </a:p>
        </p:txBody>
      </p:sp>
      <p:sp>
        <p:nvSpPr>
          <p:cNvPr id="11" name="Shape 1">
            <a:extLst>
              <a:ext uri="{FF2B5EF4-FFF2-40B4-BE49-F238E27FC236}">
                <a16:creationId xmlns:a16="http://schemas.microsoft.com/office/drawing/2014/main" id="{3DB927CB-F0F8-ECFD-98E3-9BA01CCDF617}"/>
              </a:ext>
            </a:extLst>
          </p:cNvPr>
          <p:cNvSpPr/>
          <p:nvPr/>
        </p:nvSpPr>
        <p:spPr>
          <a:xfrm>
            <a:off x="-8266165" y="-3879680"/>
            <a:ext cx="4912529" cy="3314077"/>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FDF7BA2C-A671-856A-581C-41582B60BC65}"/>
              </a:ext>
            </a:extLst>
          </p:cNvPr>
          <p:cNvSpPr/>
          <p:nvPr/>
        </p:nvSpPr>
        <p:spPr>
          <a:xfrm>
            <a:off x="-8112833" y="-3738711"/>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Hải</a:t>
            </a:r>
            <a:endParaRPr lang="en-US" sz="2400" b="1" dirty="0"/>
          </a:p>
        </p:txBody>
      </p:sp>
      <p:sp>
        <p:nvSpPr>
          <p:cNvPr id="13" name="Text 3">
            <a:extLst>
              <a:ext uri="{FF2B5EF4-FFF2-40B4-BE49-F238E27FC236}">
                <a16:creationId xmlns:a16="http://schemas.microsoft.com/office/drawing/2014/main" id="{3EEC7996-DE40-F567-3F29-295756C11D87}"/>
              </a:ext>
            </a:extLst>
          </p:cNvPr>
          <p:cNvSpPr/>
          <p:nvPr/>
        </p:nvSpPr>
        <p:spPr>
          <a:xfrm>
            <a:off x="-7889870" y="-3296076"/>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Chọn đề tài, phân công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lập môi trường MQTT &amp;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mô hình phần cứng</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Viết phần lớn nội dung  báo cáo từng đợt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dataset thông số.</a:t>
            </a:r>
          </a:p>
        </p:txBody>
      </p:sp>
      <p:sp>
        <p:nvSpPr>
          <p:cNvPr id="16" name="Shape 1">
            <a:extLst>
              <a:ext uri="{FF2B5EF4-FFF2-40B4-BE49-F238E27FC236}">
                <a16:creationId xmlns:a16="http://schemas.microsoft.com/office/drawing/2014/main" id="{8B4DC027-6463-FDD8-88DC-1F9DC95AC07D}"/>
              </a:ext>
            </a:extLst>
          </p:cNvPr>
          <p:cNvSpPr/>
          <p:nvPr/>
        </p:nvSpPr>
        <p:spPr>
          <a:xfrm>
            <a:off x="16337583" y="-2783870"/>
            <a:ext cx="4912529" cy="331407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268D901D-0778-92BF-B852-DC4AB88800A1}"/>
              </a:ext>
            </a:extLst>
          </p:cNvPr>
          <p:cNvSpPr/>
          <p:nvPr/>
        </p:nvSpPr>
        <p:spPr>
          <a:xfrm>
            <a:off x="16490915" y="-2642901"/>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Tuấn Anh</a:t>
            </a:r>
            <a:endParaRPr lang="en-US" sz="2400" b="1" dirty="0"/>
          </a:p>
        </p:txBody>
      </p:sp>
      <p:sp>
        <p:nvSpPr>
          <p:cNvPr id="18" name="Text 3">
            <a:extLst>
              <a:ext uri="{FF2B5EF4-FFF2-40B4-BE49-F238E27FC236}">
                <a16:creationId xmlns:a16="http://schemas.microsoft.com/office/drawing/2014/main" id="{21E62D22-A12D-6B03-46B0-86E4BDBDD9C6}"/>
              </a:ext>
            </a:extLst>
          </p:cNvPr>
          <p:cNvSpPr/>
          <p:nvPr/>
        </p:nvSpPr>
        <p:spPr>
          <a:xfrm>
            <a:off x="16713878" y="-2297713"/>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Thu thập, tiền xử lý, quản lý dataset ảnh</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&amp; quản lý dataset thông số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 Huấn luyện mô hình YoLov8.</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viết báo cáo</a:t>
            </a:r>
          </a:p>
        </p:txBody>
      </p:sp>
      <p:sp>
        <p:nvSpPr>
          <p:cNvPr id="19" name="Shape 1">
            <a:extLst>
              <a:ext uri="{FF2B5EF4-FFF2-40B4-BE49-F238E27FC236}">
                <a16:creationId xmlns:a16="http://schemas.microsoft.com/office/drawing/2014/main" id="{94AC47AE-297F-BF4C-167C-47F1C22624E8}"/>
              </a:ext>
            </a:extLst>
          </p:cNvPr>
          <p:cNvSpPr/>
          <p:nvPr/>
        </p:nvSpPr>
        <p:spPr>
          <a:xfrm>
            <a:off x="6413415" y="4777638"/>
            <a:ext cx="4912529" cy="3314077"/>
          </a:xfrm>
          <a:prstGeom prst="roundRect">
            <a:avLst>
              <a:gd name="adj" fmla="val 12013"/>
            </a:avLst>
          </a:prstGeom>
          <a:solidFill>
            <a:srgbClr val="F2EEEE"/>
          </a:solidFill>
          <a:ln/>
        </p:spPr>
        <p:txBody>
          <a:bodyPr/>
          <a:lstStyle/>
          <a:p>
            <a:endParaRPr lang="en-US"/>
          </a:p>
        </p:txBody>
      </p:sp>
      <p:sp>
        <p:nvSpPr>
          <p:cNvPr id="20" name="Text 2">
            <a:extLst>
              <a:ext uri="{FF2B5EF4-FFF2-40B4-BE49-F238E27FC236}">
                <a16:creationId xmlns:a16="http://schemas.microsoft.com/office/drawing/2014/main" id="{7DD2F1B3-E7C1-8AA2-A50E-D818E423FEA3}"/>
              </a:ext>
            </a:extLst>
          </p:cNvPr>
          <p:cNvSpPr/>
          <p:nvPr/>
        </p:nvSpPr>
        <p:spPr>
          <a:xfrm>
            <a:off x="6566747" y="4918607"/>
            <a:ext cx="458557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Lâm Vũ</a:t>
            </a:r>
            <a:endParaRPr lang="en-US" sz="2400" b="1" dirty="0"/>
          </a:p>
        </p:txBody>
      </p:sp>
      <p:sp>
        <p:nvSpPr>
          <p:cNvPr id="21" name="Text 3">
            <a:extLst>
              <a:ext uri="{FF2B5EF4-FFF2-40B4-BE49-F238E27FC236}">
                <a16:creationId xmlns:a16="http://schemas.microsoft.com/office/drawing/2014/main" id="{93D964B4-1E43-B7D3-9607-5704D1B59D5A}"/>
              </a:ext>
            </a:extLst>
          </p:cNvPr>
          <p:cNvSpPr/>
          <p:nvPr/>
        </p:nvSpPr>
        <p:spPr>
          <a:xfrm>
            <a:off x="6789710" y="5263795"/>
            <a:ext cx="4188994" cy="2490155"/>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Thiết kế kế hoạch triển khai.</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Xây dựng hệ thống Logic mờ. </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Kết nối MQTT đến phần cứng IOT.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Hỗ trợ  xử lý các lỗi liên quan đến lưu trữ, quản lý mã nguồn.</a:t>
            </a:r>
          </a:p>
        </p:txBody>
      </p:sp>
    </p:spTree>
    <p:extLst>
      <p:ext uri="{BB962C8B-B14F-4D97-AF65-F5344CB8AC3E}">
        <p14:creationId xmlns:p14="http://schemas.microsoft.com/office/powerpoint/2010/main" val="117764339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13" name="image7.png">
            <a:extLst>
              <a:ext uri="{FF2B5EF4-FFF2-40B4-BE49-F238E27FC236}">
                <a16:creationId xmlns:a16="http://schemas.microsoft.com/office/drawing/2014/main" id="{17D10FFE-65B6-ED0C-5C26-4ABF80B4DB24}"/>
              </a:ext>
            </a:extLst>
          </p:cNvPr>
          <p:cNvPicPr/>
          <p:nvPr/>
        </p:nvPicPr>
        <p:blipFill>
          <a:blip r:embed="rId3"/>
          <a:srcRect t="11865"/>
          <a:stretch>
            <a:fillRect/>
          </a:stretch>
        </p:blipFill>
        <p:spPr>
          <a:xfrm>
            <a:off x="636608" y="587066"/>
            <a:ext cx="13601776" cy="7513946"/>
          </a:xfrm>
          <a:prstGeom prst="rect">
            <a:avLst/>
          </a:prstGeom>
          <a:ln/>
        </p:spPr>
        <p:style>
          <a:lnRef idx="2">
            <a:schemeClr val="dk1"/>
          </a:lnRef>
          <a:fillRef idx="1">
            <a:schemeClr val="lt1"/>
          </a:fillRef>
          <a:effectRef idx="0">
            <a:schemeClr val="dk1"/>
          </a:effectRef>
          <a:fontRef idx="minor">
            <a:schemeClr val="dk1"/>
          </a:fontRef>
        </p:style>
      </p:pic>
      <p:sp>
        <p:nvSpPr>
          <p:cNvPr id="3" name="Text 0"/>
          <p:cNvSpPr/>
          <p:nvPr/>
        </p:nvSpPr>
        <p:spPr>
          <a:xfrm>
            <a:off x="0" y="20090"/>
            <a:ext cx="1463040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2: Kiến trúc hệ thống, workflow</a:t>
            </a:r>
            <a:endParaRPr lang="en-US" sz="3550" b="1" dirty="0"/>
          </a:p>
        </p:txBody>
      </p:sp>
      <p:grpSp>
        <p:nvGrpSpPr>
          <p:cNvPr id="14" name="Group 13">
            <a:extLst>
              <a:ext uri="{FF2B5EF4-FFF2-40B4-BE49-F238E27FC236}">
                <a16:creationId xmlns:a16="http://schemas.microsoft.com/office/drawing/2014/main" id="{070871E6-8556-C434-DABC-3E1997219FC8}"/>
              </a:ext>
            </a:extLst>
          </p:cNvPr>
          <p:cNvGrpSpPr/>
          <p:nvPr/>
        </p:nvGrpSpPr>
        <p:grpSpPr>
          <a:xfrm>
            <a:off x="1084783" y="805063"/>
            <a:ext cx="5304442" cy="566976"/>
            <a:chOff x="240731" y="1657079"/>
            <a:chExt cx="5304442" cy="566976"/>
          </a:xfrm>
        </p:grpSpPr>
        <p:sp>
          <p:nvSpPr>
            <p:cNvPr id="10" name="Shape 1">
              <a:extLst>
                <a:ext uri="{FF2B5EF4-FFF2-40B4-BE49-F238E27FC236}">
                  <a16:creationId xmlns:a16="http://schemas.microsoft.com/office/drawing/2014/main" id="{4651689C-364A-CC20-9FE2-CA3B99077643}"/>
                </a:ext>
              </a:extLst>
            </p:cNvPr>
            <p:cNvSpPr/>
            <p:nvPr/>
          </p:nvSpPr>
          <p:spPr>
            <a:xfrm>
              <a:off x="240731" y="1657079"/>
              <a:ext cx="5304442" cy="566976"/>
            </a:xfrm>
            <a:prstGeom prst="roundRect">
              <a:avLst>
                <a:gd name="adj" fmla="val 12013"/>
              </a:avLst>
            </a:prstGeom>
            <a:solidFill>
              <a:srgbClr val="F2EEEE"/>
            </a:solidFill>
            <a:ln/>
          </p:spPr>
          <p:txBody>
            <a:bodyPr/>
            <a:lstStyle/>
            <a:p>
              <a:endParaRPr lang="en-US"/>
            </a:p>
          </p:txBody>
        </p:sp>
        <p:sp>
          <p:nvSpPr>
            <p:cNvPr id="11" name="Text 2">
              <a:extLst>
                <a:ext uri="{FF2B5EF4-FFF2-40B4-BE49-F238E27FC236}">
                  <a16:creationId xmlns:a16="http://schemas.microsoft.com/office/drawing/2014/main" id="{8E469446-C970-D118-FCCA-64BA8A8F2D54}"/>
                </a:ext>
              </a:extLst>
            </p:cNvPr>
            <p:cNvSpPr/>
            <p:nvPr/>
          </p:nvSpPr>
          <p:spPr>
            <a:xfrm>
              <a:off x="240731" y="1798047"/>
              <a:ext cx="5142397" cy="327474"/>
            </a:xfrm>
            <a:prstGeom prst="rect">
              <a:avLst/>
            </a:prstGeom>
            <a:noFill/>
            <a:ln/>
          </p:spPr>
          <p:txBody>
            <a:bodyPr wrap="none" lIns="0" tIns="0" rIns="0" bIns="0" rtlCol="0" anchor="t"/>
            <a:lstStyle/>
            <a:p>
              <a:pPr marL="0" indent="0" algn="ctr">
                <a:lnSpc>
                  <a:spcPts val="2750"/>
                </a:lnSpc>
                <a:buNone/>
              </a:pPr>
              <a:r>
                <a:rPr lang="en-US" sz="2400" b="1">
                  <a:solidFill>
                    <a:srgbClr val="464646"/>
                  </a:solidFill>
                  <a:latin typeface="Arimo Semi Bold" pitchFamily="34" charset="0"/>
                  <a:ea typeface="Arimo Semi Bold" pitchFamily="34" charset="-122"/>
                  <a:cs typeface="Arimo Semi Bold" pitchFamily="34" charset="-120"/>
                </a:rPr>
                <a:t>Quy trình thực hiện</a:t>
              </a:r>
              <a:endParaRPr lang="en-US" sz="2400" b="1" dirty="0"/>
            </a:p>
          </p:txBody>
        </p:sp>
      </p:gr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4D77F-6C76-310E-CA83-10CE2DA2D8C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A3CFA7E1-6778-61A2-A98A-4E0868558C22}"/>
              </a:ext>
            </a:extLst>
          </p:cNvPr>
          <p:cNvSpPr/>
          <p:nvPr/>
        </p:nvSpPr>
        <p:spPr>
          <a:xfrm>
            <a:off x="0" y="20090"/>
            <a:ext cx="1463040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Luồng chạy dữ liệu</a:t>
            </a:r>
            <a:endParaRPr lang="en-US" sz="3550" b="1" dirty="0"/>
          </a:p>
        </p:txBody>
      </p:sp>
      <p:sp>
        <p:nvSpPr>
          <p:cNvPr id="4" name="Shape 1">
            <a:extLst>
              <a:ext uri="{FF2B5EF4-FFF2-40B4-BE49-F238E27FC236}">
                <a16:creationId xmlns:a16="http://schemas.microsoft.com/office/drawing/2014/main" id="{2CB03A51-35C1-53D0-B6BD-36A0C9D707BF}"/>
              </a:ext>
            </a:extLst>
          </p:cNvPr>
          <p:cNvSpPr/>
          <p:nvPr/>
        </p:nvSpPr>
        <p:spPr>
          <a:xfrm>
            <a:off x="260547" y="658159"/>
            <a:ext cx="13918440" cy="2490155"/>
          </a:xfrm>
          <a:prstGeom prst="roundRect">
            <a:avLst>
              <a:gd name="adj" fmla="val 12013"/>
            </a:avLst>
          </a:prstGeom>
          <a:solidFill>
            <a:srgbClr val="F2EEEE"/>
          </a:solidFill>
          <a:ln/>
        </p:spPr>
        <p:txBody>
          <a:bodyPr/>
          <a:lstStyle/>
          <a:p>
            <a:endParaRPr lang="en-US"/>
          </a:p>
        </p:txBody>
      </p:sp>
      <p:sp>
        <p:nvSpPr>
          <p:cNvPr id="6" name="Text 3">
            <a:extLst>
              <a:ext uri="{FF2B5EF4-FFF2-40B4-BE49-F238E27FC236}">
                <a16:creationId xmlns:a16="http://schemas.microsoft.com/office/drawing/2014/main" id="{F13A8820-2CFB-4DA8-6C8F-FE7BF4C4DAB9}"/>
              </a:ext>
            </a:extLst>
          </p:cNvPr>
          <p:cNvSpPr/>
          <p:nvPr/>
        </p:nvSpPr>
        <p:spPr>
          <a:xfrm>
            <a:off x="678277" y="791547"/>
            <a:ext cx="12285368" cy="2490155"/>
          </a:xfrm>
          <a:prstGeom prst="rect">
            <a:avLst/>
          </a:prstGeom>
          <a:noFill/>
          <a:ln/>
        </p:spPr>
        <p:txBody>
          <a:bodyPr wrap="square" lIns="0" tIns="0" rIns="0" bIns="0" rtlCol="0" anchor="t"/>
          <a:lstStyle/>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Hệ thống khởi chạy Mqtt, đọc file dataset csv </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Cảm biến hrs04 đo khoảng cách và publish thông tin liên tục (500 ms/ lần) lên kênh “khoangcach”, kết quả  được lưu liên tục vào biến current_distance</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Tiến hành bắt frame qua Ip của camera qua thư viện cv2, khởi tạo khung camera quan sát trên màn hình.</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Đẩy frame ảnh cho model AI quét nhận </a:t>
            </a:r>
            <a:r>
              <a:rPr lang="en-US" sz="2000">
                <a:solidFill>
                  <a:srgbClr val="464646"/>
                </a:solidFill>
                <a:latin typeface="Arimo Medium" pitchFamily="34" charset="0"/>
                <a:ea typeface="Arimo Medium" pitchFamily="34" charset="-122"/>
                <a:cs typeface="Arimo Medium" pitchFamily="34" charset="-120"/>
              </a:rPr>
              <a:t>diện</a:t>
            </a:r>
            <a:endParaRPr lang="vi-VN" sz="2000">
              <a:solidFill>
                <a:srgbClr val="464646"/>
              </a:solidFill>
              <a:latin typeface="Arimo Medium" pitchFamily="34" charset="0"/>
              <a:ea typeface="Arimo Medium" pitchFamily="34" charset="-122"/>
              <a:cs typeface="Arimo Medium" pitchFamily="34" charset="-120"/>
            </a:endParaRPr>
          </a:p>
        </p:txBody>
      </p:sp>
      <p:pic>
        <p:nvPicPr>
          <p:cNvPr id="7" name="Picture 6">
            <a:extLst>
              <a:ext uri="{FF2B5EF4-FFF2-40B4-BE49-F238E27FC236}">
                <a16:creationId xmlns:a16="http://schemas.microsoft.com/office/drawing/2014/main" id="{ED24218B-0505-0C7B-77FC-D5C7C8335DA0}"/>
              </a:ext>
            </a:extLst>
          </p:cNvPr>
          <p:cNvPicPr>
            <a:picLocks noChangeAspect="1"/>
          </p:cNvPicPr>
          <p:nvPr/>
        </p:nvPicPr>
        <p:blipFill>
          <a:blip r:embed="rId3"/>
          <a:stretch>
            <a:fillRect/>
          </a:stretch>
        </p:blipFill>
        <p:spPr>
          <a:xfrm>
            <a:off x="-337342" y="3415090"/>
            <a:ext cx="14977259" cy="4794420"/>
          </a:xfrm>
          <a:prstGeom prst="rect">
            <a:avLst/>
          </a:prstGeom>
        </p:spPr>
      </p:pic>
    </p:spTree>
    <p:extLst>
      <p:ext uri="{BB962C8B-B14F-4D97-AF65-F5344CB8AC3E}">
        <p14:creationId xmlns:p14="http://schemas.microsoft.com/office/powerpoint/2010/main" val="17266117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CA9E9-3375-DBF0-D136-AE2C42AB1020}"/>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B395982-8D61-125C-B350-0FF82543110A}"/>
              </a:ext>
            </a:extLst>
          </p:cNvPr>
          <p:cNvSpPr/>
          <p:nvPr/>
        </p:nvSpPr>
        <p:spPr>
          <a:xfrm>
            <a:off x="0" y="20090"/>
            <a:ext cx="1463040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Luồng chạy dữ liệu</a:t>
            </a:r>
            <a:endParaRPr lang="en-US" sz="3550" b="1" dirty="0"/>
          </a:p>
        </p:txBody>
      </p:sp>
      <p:sp>
        <p:nvSpPr>
          <p:cNvPr id="4" name="Shape 1">
            <a:extLst>
              <a:ext uri="{FF2B5EF4-FFF2-40B4-BE49-F238E27FC236}">
                <a16:creationId xmlns:a16="http://schemas.microsoft.com/office/drawing/2014/main" id="{CD700B4C-FCA0-4C9E-F170-E329002CAED8}"/>
              </a:ext>
            </a:extLst>
          </p:cNvPr>
          <p:cNvSpPr/>
          <p:nvPr/>
        </p:nvSpPr>
        <p:spPr>
          <a:xfrm>
            <a:off x="260547" y="658159"/>
            <a:ext cx="13918440" cy="2490155"/>
          </a:xfrm>
          <a:prstGeom prst="roundRect">
            <a:avLst>
              <a:gd name="adj" fmla="val 12013"/>
            </a:avLst>
          </a:prstGeom>
          <a:solidFill>
            <a:srgbClr val="F2EEEE"/>
          </a:solidFill>
          <a:ln/>
        </p:spPr>
        <p:txBody>
          <a:bodyPr/>
          <a:lstStyle/>
          <a:p>
            <a:endParaRPr lang="en-US"/>
          </a:p>
        </p:txBody>
      </p:sp>
      <p:sp>
        <p:nvSpPr>
          <p:cNvPr id="6" name="Text 3">
            <a:extLst>
              <a:ext uri="{FF2B5EF4-FFF2-40B4-BE49-F238E27FC236}">
                <a16:creationId xmlns:a16="http://schemas.microsoft.com/office/drawing/2014/main" id="{7AA771C8-F0CE-0656-785F-7B3DFFC5BAE4}"/>
              </a:ext>
            </a:extLst>
          </p:cNvPr>
          <p:cNvSpPr/>
          <p:nvPr/>
        </p:nvSpPr>
        <p:spPr>
          <a:xfrm>
            <a:off x="678277" y="791547"/>
            <a:ext cx="12285368" cy="2490155"/>
          </a:xfrm>
          <a:prstGeom prst="rect">
            <a:avLst/>
          </a:prstGeom>
          <a:noFill/>
          <a:ln/>
        </p:spPr>
        <p:txBody>
          <a:bodyPr wrap="square" lIns="0" tIns="0" rIns="0" bIns="0" rtlCol="0" anchor="t"/>
          <a:lstStyle/>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Hệ thống quét file csv lấy độ hung dữ của con vật vừa quét được. </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Đưa độ hung dữ và khoảng cách ( biến current_distance) vào hàm giải luật mờ, tính toán ra độ nguy hiểm. </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Gửi  độ nguy hiểm (publish) vào kênh “mucdo_nguyhiem”.</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Hệ thống IOT nhận được tín hiệu, phát ra tín hiệu tương ứng ( bật đèn, hú còi) </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Cập nhật các thông số: Tên loài, khoảng cách, mức độ cảnh báo ra màn hình. </a:t>
            </a:r>
          </a:p>
        </p:txBody>
      </p:sp>
      <p:pic>
        <p:nvPicPr>
          <p:cNvPr id="5" name="Picture 4">
            <a:extLst>
              <a:ext uri="{FF2B5EF4-FFF2-40B4-BE49-F238E27FC236}">
                <a16:creationId xmlns:a16="http://schemas.microsoft.com/office/drawing/2014/main" id="{3CA8CE57-C984-A7FC-5D30-984B7877EB6D}"/>
              </a:ext>
            </a:extLst>
          </p:cNvPr>
          <p:cNvPicPr>
            <a:picLocks noChangeAspect="1"/>
          </p:cNvPicPr>
          <p:nvPr/>
        </p:nvPicPr>
        <p:blipFill>
          <a:blip r:embed="rId3"/>
          <a:stretch>
            <a:fillRect/>
          </a:stretch>
        </p:blipFill>
        <p:spPr>
          <a:xfrm>
            <a:off x="-337342" y="3415090"/>
            <a:ext cx="14977259" cy="4794420"/>
          </a:xfrm>
          <a:prstGeom prst="rect">
            <a:avLst/>
          </a:prstGeom>
        </p:spPr>
      </p:pic>
    </p:spTree>
    <p:extLst>
      <p:ext uri="{BB962C8B-B14F-4D97-AF65-F5344CB8AC3E}">
        <p14:creationId xmlns:p14="http://schemas.microsoft.com/office/powerpoint/2010/main" val="35984588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3E74-9185-6BF6-1EFD-065F42BE34BF}"/>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45E3AD22-8A3F-897E-E8B5-1F0B0DB2D82C}"/>
              </a:ext>
            </a:extLst>
          </p:cNvPr>
          <p:cNvSpPr/>
          <p:nvPr/>
        </p:nvSpPr>
        <p:spPr>
          <a:xfrm>
            <a:off x="148829" y="137886"/>
            <a:ext cx="4536519" cy="566976"/>
          </a:xfrm>
          <a:prstGeom prst="rect">
            <a:avLst/>
          </a:prstGeom>
          <a:noFill/>
          <a:ln/>
        </p:spPr>
        <p:txBody>
          <a:bodyPr wrap="none" lIns="0" tIns="0" rIns="0" bIns="0" rtlCol="0" anchor="t"/>
          <a:lstStyle/>
          <a:p>
            <a:pPr marL="0" indent="0" algn="l">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Nguồn dữ liệu </a:t>
            </a:r>
            <a:endParaRPr lang="en-US" sz="3550" b="1" dirty="0"/>
          </a:p>
        </p:txBody>
      </p:sp>
      <p:sp>
        <p:nvSpPr>
          <p:cNvPr id="11" name="Shape 1">
            <a:extLst>
              <a:ext uri="{FF2B5EF4-FFF2-40B4-BE49-F238E27FC236}">
                <a16:creationId xmlns:a16="http://schemas.microsoft.com/office/drawing/2014/main" id="{E7D30053-B756-A334-8B74-54B4D33C5D60}"/>
              </a:ext>
            </a:extLst>
          </p:cNvPr>
          <p:cNvSpPr/>
          <p:nvPr/>
        </p:nvSpPr>
        <p:spPr>
          <a:xfrm>
            <a:off x="5167430" y="1314559"/>
            <a:ext cx="4912529" cy="193570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235F2282-0FD4-9C57-E113-9E0CDFBE2885}"/>
              </a:ext>
            </a:extLst>
          </p:cNvPr>
          <p:cNvSpPr/>
          <p:nvPr/>
        </p:nvSpPr>
        <p:spPr>
          <a:xfrm>
            <a:off x="5320762" y="1455528"/>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Dữ liệu thống kê</a:t>
            </a:r>
            <a:endParaRPr lang="en-US" sz="2400" b="1" dirty="0"/>
          </a:p>
        </p:txBody>
      </p:sp>
      <p:sp>
        <p:nvSpPr>
          <p:cNvPr id="13" name="Text 3">
            <a:extLst>
              <a:ext uri="{FF2B5EF4-FFF2-40B4-BE49-F238E27FC236}">
                <a16:creationId xmlns:a16="http://schemas.microsoft.com/office/drawing/2014/main" id="{7CE0478E-18B0-2602-E9D6-A569319B138E}"/>
              </a:ext>
            </a:extLst>
          </p:cNvPr>
          <p:cNvSpPr/>
          <p:nvPr/>
        </p:nvSpPr>
        <p:spPr>
          <a:xfrm>
            <a:off x="5543725" y="1800717"/>
            <a:ext cx="4188994" cy="1215372"/>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Dữ liệu thống kê về mức hung dữ, khoảng cách an toàn,.. của các loài động vật.</a:t>
            </a:r>
          </a:p>
        </p:txBody>
      </p:sp>
      <p:sp>
        <p:nvSpPr>
          <p:cNvPr id="16" name="Shape 1">
            <a:extLst>
              <a:ext uri="{FF2B5EF4-FFF2-40B4-BE49-F238E27FC236}">
                <a16:creationId xmlns:a16="http://schemas.microsoft.com/office/drawing/2014/main" id="{34FC5DE3-524C-3731-E77C-49AD321DD3EB}"/>
              </a:ext>
            </a:extLst>
          </p:cNvPr>
          <p:cNvSpPr/>
          <p:nvPr/>
        </p:nvSpPr>
        <p:spPr>
          <a:xfrm>
            <a:off x="20015599" y="3952760"/>
            <a:ext cx="4912529" cy="193570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E5C4A6C4-D3AC-AC37-2AFD-A8C232395E5B}"/>
              </a:ext>
            </a:extLst>
          </p:cNvPr>
          <p:cNvSpPr/>
          <p:nvPr/>
        </p:nvSpPr>
        <p:spPr>
          <a:xfrm>
            <a:off x="20168931" y="4093728"/>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Ảnh huấn luyện cho AI</a:t>
            </a:r>
            <a:endParaRPr lang="en-US" sz="2400" b="1" dirty="0"/>
          </a:p>
        </p:txBody>
      </p:sp>
      <p:sp>
        <p:nvSpPr>
          <p:cNvPr id="18" name="Text 3">
            <a:extLst>
              <a:ext uri="{FF2B5EF4-FFF2-40B4-BE49-F238E27FC236}">
                <a16:creationId xmlns:a16="http://schemas.microsoft.com/office/drawing/2014/main" id="{EFCD15D7-7FE9-0E00-6417-49EC51C95A83}"/>
              </a:ext>
            </a:extLst>
          </p:cNvPr>
          <p:cNvSpPr/>
          <p:nvPr/>
        </p:nvSpPr>
        <p:spPr>
          <a:xfrm>
            <a:off x="20391894" y="4535982"/>
            <a:ext cx="4188994" cy="1230493"/>
          </a:xfrm>
          <a:prstGeom prst="rect">
            <a:avLst/>
          </a:prstGeom>
          <a:noFill/>
          <a:ln/>
        </p:spPr>
        <p:txBody>
          <a:bodyPr wrap="square" lIns="0" tIns="0" rIns="0" bIns="0" rtlCol="0" anchor="t"/>
          <a:lstStyle/>
          <a:p>
            <a:pPr marL="0" indent="0">
              <a:lnSpc>
                <a:spcPts val="2850"/>
              </a:lnSpc>
              <a:buNone/>
            </a:pPr>
            <a:r>
              <a:rPr lang="en-US" sz="2000">
                <a:solidFill>
                  <a:srgbClr val="464646"/>
                </a:solidFill>
                <a:latin typeface="Arimo Medium" pitchFamily="34" charset="0"/>
                <a:ea typeface="Arimo Medium" pitchFamily="34" charset="-122"/>
                <a:cs typeface="Arimo Medium" pitchFamily="34" charset="-120"/>
              </a:rPr>
              <a:t>K</a:t>
            </a:r>
            <a:r>
              <a:rPr lang="vi-VN" sz="2000">
                <a:solidFill>
                  <a:srgbClr val="464646"/>
                </a:solidFill>
                <a:latin typeface="Arimo Medium" pitchFamily="34" charset="0"/>
                <a:ea typeface="Arimo Medium" pitchFamily="34" charset="-122"/>
                <a:cs typeface="Arimo Medium" pitchFamily="34" charset="-120"/>
              </a:rPr>
              <a:t>hoảng 8064 ảnh cho 8 loài động vật ( khoảng 1000 ảnh/loài) được thu thập từ Roboflow Universe.</a:t>
            </a:r>
          </a:p>
        </p:txBody>
      </p:sp>
      <p:graphicFrame>
        <p:nvGraphicFramePr>
          <p:cNvPr id="27" name="Table 26">
            <a:extLst>
              <a:ext uri="{FF2B5EF4-FFF2-40B4-BE49-F238E27FC236}">
                <a16:creationId xmlns:a16="http://schemas.microsoft.com/office/drawing/2014/main" id="{8D3F5F4B-DB54-49EB-9089-24EFFFA4906E}"/>
              </a:ext>
            </a:extLst>
          </p:cNvPr>
          <p:cNvGraphicFramePr>
            <a:graphicFrameLocks noGrp="1"/>
          </p:cNvGraphicFramePr>
          <p:nvPr>
            <p:extLst>
              <p:ext uri="{D42A27DB-BD31-4B8C-83A1-F6EECF244321}">
                <p14:modId xmlns:p14="http://schemas.microsoft.com/office/powerpoint/2010/main" val="942727977"/>
              </p:ext>
            </p:extLst>
          </p:nvPr>
        </p:nvGraphicFramePr>
        <p:xfrm>
          <a:off x="4158603" y="3952760"/>
          <a:ext cx="6909894" cy="3522980"/>
        </p:xfrm>
        <a:graphic>
          <a:graphicData uri="http://schemas.openxmlformats.org/drawingml/2006/table">
            <a:tbl>
              <a:tblPr firstRow="1" bandRow="1">
                <a:tableStyleId>{5940675A-B579-460E-94D1-54222C63F5DA}</a:tableStyleId>
              </a:tblPr>
              <a:tblGrid>
                <a:gridCol w="888234">
                  <a:extLst>
                    <a:ext uri="{9D8B030D-6E8A-4147-A177-3AD203B41FA5}">
                      <a16:colId xmlns:a16="http://schemas.microsoft.com/office/drawing/2014/main" val="424760078"/>
                    </a:ext>
                  </a:extLst>
                </a:gridCol>
                <a:gridCol w="1371600">
                  <a:extLst>
                    <a:ext uri="{9D8B030D-6E8A-4147-A177-3AD203B41FA5}">
                      <a16:colId xmlns:a16="http://schemas.microsoft.com/office/drawing/2014/main" val="1417128821"/>
                    </a:ext>
                  </a:extLst>
                </a:gridCol>
                <a:gridCol w="1393903">
                  <a:extLst>
                    <a:ext uri="{9D8B030D-6E8A-4147-A177-3AD203B41FA5}">
                      <a16:colId xmlns:a16="http://schemas.microsoft.com/office/drawing/2014/main" val="1228329708"/>
                    </a:ext>
                  </a:extLst>
                </a:gridCol>
                <a:gridCol w="1382751">
                  <a:extLst>
                    <a:ext uri="{9D8B030D-6E8A-4147-A177-3AD203B41FA5}">
                      <a16:colId xmlns:a16="http://schemas.microsoft.com/office/drawing/2014/main" val="3727490227"/>
                    </a:ext>
                  </a:extLst>
                </a:gridCol>
                <a:gridCol w="1873406">
                  <a:extLst>
                    <a:ext uri="{9D8B030D-6E8A-4147-A177-3AD203B41FA5}">
                      <a16:colId xmlns:a16="http://schemas.microsoft.com/office/drawing/2014/main" val="2468364354"/>
                    </a:ext>
                  </a:extLst>
                </a:gridCol>
              </a:tblGrid>
              <a:tr h="370840">
                <a:tc>
                  <a:txBody>
                    <a:bodyPr/>
                    <a:lstStyle/>
                    <a:p>
                      <a:pPr algn="ctr" fontAlgn="b">
                        <a:buNone/>
                      </a:pPr>
                      <a:r>
                        <a:rPr lang="en-US" sz="1800" b="1" i="0" u="none" strike="noStrike">
                          <a:solidFill>
                            <a:srgbClr val="000000"/>
                          </a:solidFill>
                          <a:effectLst/>
                          <a:latin typeface="Aptos Narrow" panose="020B0004020202020204" pitchFamily="34" charset="0"/>
                        </a:rPr>
                        <a:t>ID_Loai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Ten_Loai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Muc_Hung_Du</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Toc_Do (km/h)</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Khoang_Cach_An_Toan (m)</a:t>
                      </a:r>
                    </a:p>
                  </a:txBody>
                  <a:tcPr marL="7620" marR="7620" marT="7620" marB="0" anchor="ctr">
                    <a:solidFill>
                      <a:srgbClr val="92D050"/>
                    </a:solidFill>
                  </a:tcPr>
                </a:tc>
                <a:extLst>
                  <a:ext uri="{0D108BD9-81ED-4DB2-BD59-A6C34878D82A}">
                    <a16:rowId xmlns:a16="http://schemas.microsoft.com/office/drawing/2014/main" val="2544393828"/>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boar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30</a:t>
                      </a:r>
                    </a:p>
                  </a:txBody>
                  <a:tcPr marL="7620" marR="7620" marT="7620" marB="0" anchor="b"/>
                </a:tc>
                <a:extLst>
                  <a:ext uri="{0D108BD9-81ED-4DB2-BD59-A6C34878D82A}">
                    <a16:rowId xmlns:a16="http://schemas.microsoft.com/office/drawing/2014/main" val="250344243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2</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cat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0</a:t>
                      </a:r>
                    </a:p>
                  </a:txBody>
                  <a:tcPr marL="7620" marR="7620" marT="7620" marB="0" anchor="b"/>
                </a:tc>
                <a:extLst>
                  <a:ext uri="{0D108BD9-81ED-4DB2-BD59-A6C34878D82A}">
                    <a16:rowId xmlns:a16="http://schemas.microsoft.com/office/drawing/2014/main" val="103193261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3</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deer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2253220842"/>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elephant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1515277694"/>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kangaroo</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1085734541"/>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6</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snake</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19</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extLst>
                  <a:ext uri="{0D108BD9-81ED-4DB2-BD59-A6C34878D82A}">
                    <a16:rowId xmlns:a16="http://schemas.microsoft.com/office/drawing/2014/main" val="161633032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wolf</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3344603629"/>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zebra</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extLst>
                  <a:ext uri="{0D108BD9-81ED-4DB2-BD59-A6C34878D82A}">
                    <a16:rowId xmlns:a16="http://schemas.microsoft.com/office/drawing/2014/main" val="863576918"/>
                  </a:ext>
                </a:extLst>
              </a:tr>
            </a:tbl>
          </a:graphicData>
        </a:graphic>
      </p:graphicFrame>
      <p:pic>
        <p:nvPicPr>
          <p:cNvPr id="28" name="image4.png">
            <a:extLst>
              <a:ext uri="{FF2B5EF4-FFF2-40B4-BE49-F238E27FC236}">
                <a16:creationId xmlns:a16="http://schemas.microsoft.com/office/drawing/2014/main" id="{824F4647-250D-14A4-BE47-8CE4D9F93720}"/>
              </a:ext>
            </a:extLst>
          </p:cNvPr>
          <p:cNvPicPr/>
          <p:nvPr/>
        </p:nvPicPr>
        <p:blipFill>
          <a:blip r:embed="rId3"/>
          <a:srcRect/>
          <a:stretch>
            <a:fillRect/>
          </a:stretch>
        </p:blipFill>
        <p:spPr>
          <a:xfrm>
            <a:off x="18901742" y="6540275"/>
            <a:ext cx="8162267" cy="4808809"/>
          </a:xfrm>
          <a:prstGeom prst="rect">
            <a:avLst/>
          </a:prstGeom>
          <a:ln/>
        </p:spPr>
      </p:pic>
    </p:spTree>
    <p:extLst>
      <p:ext uri="{BB962C8B-B14F-4D97-AF65-F5344CB8AC3E}">
        <p14:creationId xmlns:p14="http://schemas.microsoft.com/office/powerpoint/2010/main" val="22047236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347D-B3D1-141A-521F-F3E9D3BB6932}"/>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FFC8B057-F8BF-CB8D-16C6-98CB124A8641}"/>
              </a:ext>
            </a:extLst>
          </p:cNvPr>
          <p:cNvSpPr/>
          <p:nvPr/>
        </p:nvSpPr>
        <p:spPr>
          <a:xfrm>
            <a:off x="148829" y="137886"/>
            <a:ext cx="4536519" cy="566976"/>
          </a:xfrm>
          <a:prstGeom prst="rect">
            <a:avLst/>
          </a:prstGeom>
          <a:noFill/>
          <a:ln/>
        </p:spPr>
        <p:txBody>
          <a:bodyPr wrap="none" lIns="0" tIns="0" rIns="0" bIns="0" rtlCol="0" anchor="t"/>
          <a:lstStyle/>
          <a:p>
            <a:pPr marL="0" indent="0" algn="l">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Nguồn dữ liệu </a:t>
            </a:r>
            <a:endParaRPr lang="en-US" sz="3550" b="1" dirty="0"/>
          </a:p>
        </p:txBody>
      </p:sp>
      <p:sp>
        <p:nvSpPr>
          <p:cNvPr id="11" name="Shape 1">
            <a:extLst>
              <a:ext uri="{FF2B5EF4-FFF2-40B4-BE49-F238E27FC236}">
                <a16:creationId xmlns:a16="http://schemas.microsoft.com/office/drawing/2014/main" id="{936791E9-C2BC-2506-353A-2DDD256B7BB4}"/>
              </a:ext>
            </a:extLst>
          </p:cNvPr>
          <p:cNvSpPr/>
          <p:nvPr/>
        </p:nvSpPr>
        <p:spPr>
          <a:xfrm>
            <a:off x="-9603647" y="1455527"/>
            <a:ext cx="4912529" cy="193570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6B67E1EB-1753-469A-3B81-89B339598A1D}"/>
              </a:ext>
            </a:extLst>
          </p:cNvPr>
          <p:cNvSpPr/>
          <p:nvPr/>
        </p:nvSpPr>
        <p:spPr>
          <a:xfrm>
            <a:off x="-9450315" y="1596496"/>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Dữ liệu thống kê</a:t>
            </a:r>
            <a:endParaRPr lang="en-US" sz="2400" b="1" dirty="0"/>
          </a:p>
        </p:txBody>
      </p:sp>
      <p:sp>
        <p:nvSpPr>
          <p:cNvPr id="13" name="Text 3">
            <a:extLst>
              <a:ext uri="{FF2B5EF4-FFF2-40B4-BE49-F238E27FC236}">
                <a16:creationId xmlns:a16="http://schemas.microsoft.com/office/drawing/2014/main" id="{CAA68387-787E-F4EB-EB60-EC6E7CE89451}"/>
              </a:ext>
            </a:extLst>
          </p:cNvPr>
          <p:cNvSpPr/>
          <p:nvPr/>
        </p:nvSpPr>
        <p:spPr>
          <a:xfrm>
            <a:off x="-9227352" y="1941685"/>
            <a:ext cx="4188994" cy="1215372"/>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Dữ liệu thống kê về mức hung dữ, khoảng cách an toàn,.. của các loài động vật.</a:t>
            </a:r>
          </a:p>
        </p:txBody>
      </p:sp>
      <p:sp>
        <p:nvSpPr>
          <p:cNvPr id="16" name="Shape 1">
            <a:extLst>
              <a:ext uri="{FF2B5EF4-FFF2-40B4-BE49-F238E27FC236}">
                <a16:creationId xmlns:a16="http://schemas.microsoft.com/office/drawing/2014/main" id="{1CC3A164-F612-9D44-B973-BF4728C6C5C6}"/>
              </a:ext>
            </a:extLst>
          </p:cNvPr>
          <p:cNvSpPr/>
          <p:nvPr/>
        </p:nvSpPr>
        <p:spPr>
          <a:xfrm>
            <a:off x="9257868" y="3729024"/>
            <a:ext cx="4912529" cy="193570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D79E2F5-B905-521D-67F0-EC1B95927978}"/>
              </a:ext>
            </a:extLst>
          </p:cNvPr>
          <p:cNvSpPr/>
          <p:nvPr/>
        </p:nvSpPr>
        <p:spPr>
          <a:xfrm>
            <a:off x="9411200" y="3869992"/>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Ảnh huấn luyện cho AI</a:t>
            </a:r>
            <a:endParaRPr lang="en-US" sz="2400" b="1" dirty="0"/>
          </a:p>
        </p:txBody>
      </p:sp>
      <p:sp>
        <p:nvSpPr>
          <p:cNvPr id="18" name="Text 3">
            <a:extLst>
              <a:ext uri="{FF2B5EF4-FFF2-40B4-BE49-F238E27FC236}">
                <a16:creationId xmlns:a16="http://schemas.microsoft.com/office/drawing/2014/main" id="{532D3CE9-61DA-32E8-37E4-20C313731491}"/>
              </a:ext>
            </a:extLst>
          </p:cNvPr>
          <p:cNvSpPr/>
          <p:nvPr/>
        </p:nvSpPr>
        <p:spPr>
          <a:xfrm>
            <a:off x="9634163" y="4312246"/>
            <a:ext cx="4188994" cy="1230493"/>
          </a:xfrm>
          <a:prstGeom prst="rect">
            <a:avLst/>
          </a:prstGeom>
          <a:noFill/>
          <a:ln/>
        </p:spPr>
        <p:txBody>
          <a:bodyPr wrap="square" lIns="0" tIns="0" rIns="0" bIns="0" rtlCol="0" anchor="t"/>
          <a:lstStyle/>
          <a:p>
            <a:pPr marL="0" indent="0">
              <a:lnSpc>
                <a:spcPts val="2850"/>
              </a:lnSpc>
              <a:buNone/>
            </a:pPr>
            <a:r>
              <a:rPr lang="en-US" sz="2000">
                <a:solidFill>
                  <a:srgbClr val="464646"/>
                </a:solidFill>
                <a:latin typeface="Arimo Medium" pitchFamily="34" charset="0"/>
                <a:ea typeface="Arimo Medium" pitchFamily="34" charset="-122"/>
                <a:cs typeface="Arimo Medium" pitchFamily="34" charset="-120"/>
              </a:rPr>
              <a:t>K</a:t>
            </a:r>
            <a:r>
              <a:rPr lang="vi-VN" sz="2000">
                <a:solidFill>
                  <a:srgbClr val="464646"/>
                </a:solidFill>
                <a:latin typeface="Arimo Medium" pitchFamily="34" charset="0"/>
                <a:ea typeface="Arimo Medium" pitchFamily="34" charset="-122"/>
                <a:cs typeface="Arimo Medium" pitchFamily="34" charset="-120"/>
              </a:rPr>
              <a:t>hoảng 8064 ảnh cho 8 loài động vật ( khoảng 1000 ảnh/loài) được thu thập từ Roboflow Universe.</a:t>
            </a:r>
          </a:p>
        </p:txBody>
      </p:sp>
      <p:graphicFrame>
        <p:nvGraphicFramePr>
          <p:cNvPr id="27" name="Table 26">
            <a:extLst>
              <a:ext uri="{FF2B5EF4-FFF2-40B4-BE49-F238E27FC236}">
                <a16:creationId xmlns:a16="http://schemas.microsoft.com/office/drawing/2014/main" id="{07B3BCBB-4BF5-8A5E-CE10-310017A13CCE}"/>
              </a:ext>
            </a:extLst>
          </p:cNvPr>
          <p:cNvGraphicFramePr>
            <a:graphicFrameLocks noGrp="1"/>
          </p:cNvGraphicFramePr>
          <p:nvPr>
            <p:extLst>
              <p:ext uri="{D42A27DB-BD31-4B8C-83A1-F6EECF244321}">
                <p14:modId xmlns:p14="http://schemas.microsoft.com/office/powerpoint/2010/main" val="1702090510"/>
              </p:ext>
            </p:extLst>
          </p:nvPr>
        </p:nvGraphicFramePr>
        <p:xfrm>
          <a:off x="-10401940" y="4093728"/>
          <a:ext cx="6909894" cy="3522980"/>
        </p:xfrm>
        <a:graphic>
          <a:graphicData uri="http://schemas.openxmlformats.org/drawingml/2006/table">
            <a:tbl>
              <a:tblPr firstRow="1" bandRow="1">
                <a:tableStyleId>{5940675A-B579-460E-94D1-54222C63F5DA}</a:tableStyleId>
              </a:tblPr>
              <a:tblGrid>
                <a:gridCol w="888234">
                  <a:extLst>
                    <a:ext uri="{9D8B030D-6E8A-4147-A177-3AD203B41FA5}">
                      <a16:colId xmlns:a16="http://schemas.microsoft.com/office/drawing/2014/main" val="424760078"/>
                    </a:ext>
                  </a:extLst>
                </a:gridCol>
                <a:gridCol w="1371600">
                  <a:extLst>
                    <a:ext uri="{9D8B030D-6E8A-4147-A177-3AD203B41FA5}">
                      <a16:colId xmlns:a16="http://schemas.microsoft.com/office/drawing/2014/main" val="1417128821"/>
                    </a:ext>
                  </a:extLst>
                </a:gridCol>
                <a:gridCol w="1393903">
                  <a:extLst>
                    <a:ext uri="{9D8B030D-6E8A-4147-A177-3AD203B41FA5}">
                      <a16:colId xmlns:a16="http://schemas.microsoft.com/office/drawing/2014/main" val="1228329708"/>
                    </a:ext>
                  </a:extLst>
                </a:gridCol>
                <a:gridCol w="1382751">
                  <a:extLst>
                    <a:ext uri="{9D8B030D-6E8A-4147-A177-3AD203B41FA5}">
                      <a16:colId xmlns:a16="http://schemas.microsoft.com/office/drawing/2014/main" val="3727490227"/>
                    </a:ext>
                  </a:extLst>
                </a:gridCol>
                <a:gridCol w="1873406">
                  <a:extLst>
                    <a:ext uri="{9D8B030D-6E8A-4147-A177-3AD203B41FA5}">
                      <a16:colId xmlns:a16="http://schemas.microsoft.com/office/drawing/2014/main" val="2468364354"/>
                    </a:ext>
                  </a:extLst>
                </a:gridCol>
              </a:tblGrid>
              <a:tr h="370840">
                <a:tc>
                  <a:txBody>
                    <a:bodyPr/>
                    <a:lstStyle/>
                    <a:p>
                      <a:pPr algn="ctr" fontAlgn="b">
                        <a:buNone/>
                      </a:pPr>
                      <a:r>
                        <a:rPr lang="en-US" sz="1800" b="1" i="0" u="none" strike="noStrike">
                          <a:solidFill>
                            <a:srgbClr val="000000"/>
                          </a:solidFill>
                          <a:effectLst/>
                          <a:latin typeface="Aptos Narrow" panose="020B0004020202020204" pitchFamily="34" charset="0"/>
                        </a:rPr>
                        <a:t>ID_Loai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Ten_Loai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Muc_Hung_Du</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Toc_Do (km/h)</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Khoang_Cach_An_Toan (m)</a:t>
                      </a:r>
                    </a:p>
                  </a:txBody>
                  <a:tcPr marL="7620" marR="7620" marT="7620" marB="0" anchor="ctr">
                    <a:solidFill>
                      <a:srgbClr val="92D050"/>
                    </a:solidFill>
                  </a:tcPr>
                </a:tc>
                <a:extLst>
                  <a:ext uri="{0D108BD9-81ED-4DB2-BD59-A6C34878D82A}">
                    <a16:rowId xmlns:a16="http://schemas.microsoft.com/office/drawing/2014/main" val="2544393828"/>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boar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30</a:t>
                      </a:r>
                    </a:p>
                  </a:txBody>
                  <a:tcPr marL="7620" marR="7620" marT="7620" marB="0" anchor="b"/>
                </a:tc>
                <a:extLst>
                  <a:ext uri="{0D108BD9-81ED-4DB2-BD59-A6C34878D82A}">
                    <a16:rowId xmlns:a16="http://schemas.microsoft.com/office/drawing/2014/main" val="250344243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2</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cat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0</a:t>
                      </a:r>
                    </a:p>
                  </a:txBody>
                  <a:tcPr marL="7620" marR="7620" marT="7620" marB="0" anchor="b"/>
                </a:tc>
                <a:extLst>
                  <a:ext uri="{0D108BD9-81ED-4DB2-BD59-A6C34878D82A}">
                    <a16:rowId xmlns:a16="http://schemas.microsoft.com/office/drawing/2014/main" val="103193261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3</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deer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2253220842"/>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elephant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1515277694"/>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kangaroo</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1085734541"/>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6</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snake</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19</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extLst>
                  <a:ext uri="{0D108BD9-81ED-4DB2-BD59-A6C34878D82A}">
                    <a16:rowId xmlns:a16="http://schemas.microsoft.com/office/drawing/2014/main" val="161633032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wolf</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3344603629"/>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zebra</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extLst>
                  <a:ext uri="{0D108BD9-81ED-4DB2-BD59-A6C34878D82A}">
                    <a16:rowId xmlns:a16="http://schemas.microsoft.com/office/drawing/2014/main" val="863576918"/>
                  </a:ext>
                </a:extLst>
              </a:tr>
            </a:tbl>
          </a:graphicData>
        </a:graphic>
      </p:graphicFrame>
      <p:pic>
        <p:nvPicPr>
          <p:cNvPr id="28" name="image4.png">
            <a:extLst>
              <a:ext uri="{FF2B5EF4-FFF2-40B4-BE49-F238E27FC236}">
                <a16:creationId xmlns:a16="http://schemas.microsoft.com/office/drawing/2014/main" id="{DA7E90F5-C7F9-725B-32E5-F28161D107C5}"/>
              </a:ext>
            </a:extLst>
          </p:cNvPr>
          <p:cNvPicPr/>
          <p:nvPr/>
        </p:nvPicPr>
        <p:blipFill>
          <a:blip r:embed="rId3"/>
          <a:srcRect/>
          <a:stretch>
            <a:fillRect/>
          </a:stretch>
        </p:blipFill>
        <p:spPr>
          <a:xfrm>
            <a:off x="460003" y="2034099"/>
            <a:ext cx="8162267" cy="4808809"/>
          </a:xfrm>
          <a:prstGeom prst="rect">
            <a:avLst/>
          </a:prstGeom>
          <a:ln/>
        </p:spPr>
      </p:pic>
    </p:spTree>
    <p:extLst>
      <p:ext uri="{BB962C8B-B14F-4D97-AF65-F5344CB8AC3E}">
        <p14:creationId xmlns:p14="http://schemas.microsoft.com/office/powerpoint/2010/main" val="341279030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8829D-3A25-259A-2898-468C53113651}"/>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47FD4534-80F5-348B-F8FC-A2526215ED5E}"/>
              </a:ext>
            </a:extLst>
          </p:cNvPr>
          <p:cNvSpPr/>
          <p:nvPr/>
        </p:nvSpPr>
        <p:spPr>
          <a:xfrm>
            <a:off x="148829" y="13788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 Các thành phần quan trọng</a:t>
            </a:r>
            <a:endParaRPr lang="en-US" sz="3550" b="1" dirty="0"/>
          </a:p>
        </p:txBody>
      </p:sp>
      <p:sp>
        <p:nvSpPr>
          <p:cNvPr id="16" name="Shape 1">
            <a:extLst>
              <a:ext uri="{FF2B5EF4-FFF2-40B4-BE49-F238E27FC236}">
                <a16:creationId xmlns:a16="http://schemas.microsoft.com/office/drawing/2014/main" id="{D105C75C-B0AA-F612-68C7-EEFD9E9DA0BE}"/>
              </a:ext>
            </a:extLst>
          </p:cNvPr>
          <p:cNvSpPr/>
          <p:nvPr/>
        </p:nvSpPr>
        <p:spPr>
          <a:xfrm>
            <a:off x="1563862" y="4456007"/>
            <a:ext cx="4912529" cy="193570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B5CB29C-602F-C93D-A6FA-4B18845B95D6}"/>
              </a:ext>
            </a:extLst>
          </p:cNvPr>
          <p:cNvSpPr/>
          <p:nvPr/>
        </p:nvSpPr>
        <p:spPr>
          <a:xfrm>
            <a:off x="1717194" y="4596975"/>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Arduino IDE </a:t>
            </a:r>
            <a:endParaRPr lang="en-US" sz="2400" b="1" dirty="0"/>
          </a:p>
        </p:txBody>
      </p:sp>
      <p:sp>
        <p:nvSpPr>
          <p:cNvPr id="18" name="Text 3">
            <a:extLst>
              <a:ext uri="{FF2B5EF4-FFF2-40B4-BE49-F238E27FC236}">
                <a16:creationId xmlns:a16="http://schemas.microsoft.com/office/drawing/2014/main" id="{E0A5226E-A967-C91A-63E8-81EF322F8E6D}"/>
              </a:ext>
            </a:extLst>
          </p:cNvPr>
          <p:cNvSpPr/>
          <p:nvPr/>
        </p:nvSpPr>
        <p:spPr>
          <a:xfrm>
            <a:off x="1940157" y="5039229"/>
            <a:ext cx="4188994" cy="1230493"/>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Môi trường chính để cấu hình Driver và nạp code điều khiển cho chip ESP32-CAM</a:t>
            </a:r>
          </a:p>
        </p:txBody>
      </p:sp>
      <p:sp>
        <p:nvSpPr>
          <p:cNvPr id="2" name="Text 0">
            <a:extLst>
              <a:ext uri="{FF2B5EF4-FFF2-40B4-BE49-F238E27FC236}">
                <a16:creationId xmlns:a16="http://schemas.microsoft.com/office/drawing/2014/main" id="{C1A3E017-E23A-C1B6-BB9C-01E181B2A460}"/>
              </a:ext>
            </a:extLst>
          </p:cNvPr>
          <p:cNvSpPr/>
          <p:nvPr/>
        </p:nvSpPr>
        <p:spPr>
          <a:xfrm>
            <a:off x="1" y="70486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pic>
        <p:nvPicPr>
          <p:cNvPr id="6" name="Picture 5">
            <a:extLst>
              <a:ext uri="{FF2B5EF4-FFF2-40B4-BE49-F238E27FC236}">
                <a16:creationId xmlns:a16="http://schemas.microsoft.com/office/drawing/2014/main" id="{98CB0F29-AEDE-72E9-BAE2-7A343AC758E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124492" y="6593118"/>
            <a:ext cx="1605195" cy="1605195"/>
          </a:xfrm>
          <a:prstGeom prst="rect">
            <a:avLst/>
          </a:prstGeom>
          <a:noFill/>
        </p:spPr>
      </p:pic>
      <p:pic>
        <p:nvPicPr>
          <p:cNvPr id="7" name="Picture 6" descr="Install MQTTX on Linux | Snap Store">
            <a:extLst>
              <a:ext uri="{FF2B5EF4-FFF2-40B4-BE49-F238E27FC236}">
                <a16:creationId xmlns:a16="http://schemas.microsoft.com/office/drawing/2014/main" id="{3DD4C5E8-C9C6-8BE5-F666-58D6DC9624F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900715" y="6593118"/>
            <a:ext cx="1605195" cy="1605195"/>
          </a:xfrm>
          <a:prstGeom prst="rect">
            <a:avLst/>
          </a:prstGeom>
          <a:noFill/>
          <a:ln>
            <a:noFill/>
          </a:ln>
        </p:spPr>
      </p:pic>
      <p:pic>
        <p:nvPicPr>
          <p:cNvPr id="8" name="Picture 7" descr="GitHub - knolleary/pubsubclient: A client library for the Arduino Ethernet  Shield that provides support for MQTT. · GitHub">
            <a:extLst>
              <a:ext uri="{FF2B5EF4-FFF2-40B4-BE49-F238E27FC236}">
                <a16:creationId xmlns:a16="http://schemas.microsoft.com/office/drawing/2014/main" id="{2CD34D07-9C11-08FD-6467-BCC2A89AAB7A}"/>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7315200" y="1730265"/>
            <a:ext cx="4643926" cy="2327812"/>
          </a:xfrm>
          <a:prstGeom prst="rect">
            <a:avLst/>
          </a:prstGeom>
          <a:noFill/>
          <a:ln>
            <a:noFill/>
          </a:ln>
        </p:spPr>
      </p:pic>
      <p:sp>
        <p:nvSpPr>
          <p:cNvPr id="9" name="Shape 1">
            <a:extLst>
              <a:ext uri="{FF2B5EF4-FFF2-40B4-BE49-F238E27FC236}">
                <a16:creationId xmlns:a16="http://schemas.microsoft.com/office/drawing/2014/main" id="{999E068B-C859-3851-B632-BF5B4EFBEB0B}"/>
              </a:ext>
            </a:extLst>
          </p:cNvPr>
          <p:cNvSpPr/>
          <p:nvPr/>
        </p:nvSpPr>
        <p:spPr>
          <a:xfrm>
            <a:off x="2026376" y="2045878"/>
            <a:ext cx="4912529" cy="1935706"/>
          </a:xfrm>
          <a:prstGeom prst="roundRect">
            <a:avLst>
              <a:gd name="adj" fmla="val 12013"/>
            </a:avLst>
          </a:prstGeom>
          <a:solidFill>
            <a:srgbClr val="F2EEEE"/>
          </a:solidFill>
          <a:ln/>
        </p:spPr>
        <p:txBody>
          <a:bodyPr/>
          <a:lstStyle/>
          <a:p>
            <a:endParaRPr lang="en-US"/>
          </a:p>
        </p:txBody>
      </p:sp>
      <p:sp>
        <p:nvSpPr>
          <p:cNvPr id="10" name="Text 2">
            <a:extLst>
              <a:ext uri="{FF2B5EF4-FFF2-40B4-BE49-F238E27FC236}">
                <a16:creationId xmlns:a16="http://schemas.microsoft.com/office/drawing/2014/main" id="{88B91CD7-A751-4AFA-1A67-D4582B9E15A7}"/>
              </a:ext>
            </a:extLst>
          </p:cNvPr>
          <p:cNvSpPr/>
          <p:nvPr/>
        </p:nvSpPr>
        <p:spPr>
          <a:xfrm>
            <a:off x="2179708" y="2186846"/>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Thư viện PubSubClient</a:t>
            </a:r>
            <a:endParaRPr lang="en-US" sz="2400" b="1" dirty="0"/>
          </a:p>
        </p:txBody>
      </p:sp>
      <p:sp>
        <p:nvSpPr>
          <p:cNvPr id="14" name="Text 3">
            <a:extLst>
              <a:ext uri="{FF2B5EF4-FFF2-40B4-BE49-F238E27FC236}">
                <a16:creationId xmlns:a16="http://schemas.microsoft.com/office/drawing/2014/main" id="{6BCBDCEA-5A8A-662D-EAC7-7A3E23F06B2C}"/>
              </a:ext>
            </a:extLst>
          </p:cNvPr>
          <p:cNvSpPr/>
          <p:nvPr/>
        </p:nvSpPr>
        <p:spPr>
          <a:xfrm>
            <a:off x="2402671" y="2629100"/>
            <a:ext cx="4188994" cy="1230493"/>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Hỗ trợ triển khai giao thức MQTT để trao đổi dữ liệu giữa Laptop và vi điều khiển.</a:t>
            </a:r>
          </a:p>
        </p:txBody>
      </p:sp>
      <p:sp>
        <p:nvSpPr>
          <p:cNvPr id="15" name="Shape 1">
            <a:extLst>
              <a:ext uri="{FF2B5EF4-FFF2-40B4-BE49-F238E27FC236}">
                <a16:creationId xmlns:a16="http://schemas.microsoft.com/office/drawing/2014/main" id="{75E48423-6F63-6AEE-8AB0-D4DEE31FDA74}"/>
              </a:ext>
            </a:extLst>
          </p:cNvPr>
          <p:cNvSpPr/>
          <p:nvPr/>
        </p:nvSpPr>
        <p:spPr>
          <a:xfrm>
            <a:off x="8154009" y="4516505"/>
            <a:ext cx="4912529" cy="193570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414F8423-6AB6-5893-0B4A-744F5C6D65D7}"/>
              </a:ext>
            </a:extLst>
          </p:cNvPr>
          <p:cNvSpPr/>
          <p:nvPr/>
        </p:nvSpPr>
        <p:spPr>
          <a:xfrm>
            <a:off x="8307341" y="4657473"/>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MQTTX </a:t>
            </a:r>
            <a:endParaRPr lang="en-US" sz="2400" b="1" dirty="0"/>
          </a:p>
        </p:txBody>
      </p:sp>
      <p:sp>
        <p:nvSpPr>
          <p:cNvPr id="20" name="Text 3">
            <a:extLst>
              <a:ext uri="{FF2B5EF4-FFF2-40B4-BE49-F238E27FC236}">
                <a16:creationId xmlns:a16="http://schemas.microsoft.com/office/drawing/2014/main" id="{BC8ECE99-098F-6848-25D7-4D8A1A839850}"/>
              </a:ext>
            </a:extLst>
          </p:cNvPr>
          <p:cNvSpPr/>
          <p:nvPr/>
        </p:nvSpPr>
        <p:spPr>
          <a:xfrm>
            <a:off x="8530304" y="5099727"/>
            <a:ext cx="4188994" cy="1230493"/>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Đóng vai trò là cầu nối trung gian giúp hệ thống và phần cứng giao tiếp, giám sát dữ liệu.</a:t>
            </a:r>
          </a:p>
        </p:txBody>
      </p:sp>
    </p:spTree>
    <p:extLst>
      <p:ext uri="{BB962C8B-B14F-4D97-AF65-F5344CB8AC3E}">
        <p14:creationId xmlns:p14="http://schemas.microsoft.com/office/powerpoint/2010/main" val="188719890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78863-ABEC-5E56-676A-9C24753F716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A9A716-DED6-EFED-DF09-17709BAACDF9}"/>
              </a:ext>
            </a:extLst>
          </p:cNvPr>
          <p:cNvSpPr/>
          <p:nvPr/>
        </p:nvSpPr>
        <p:spPr>
          <a:xfrm>
            <a:off x="106681" y="13788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grpSp>
        <p:nvGrpSpPr>
          <p:cNvPr id="5" name="Group 4">
            <a:extLst>
              <a:ext uri="{FF2B5EF4-FFF2-40B4-BE49-F238E27FC236}">
                <a16:creationId xmlns:a16="http://schemas.microsoft.com/office/drawing/2014/main" id="{DF73E41C-65C6-E664-561B-C5A6CEE8665D}"/>
              </a:ext>
            </a:extLst>
          </p:cNvPr>
          <p:cNvGrpSpPr/>
          <p:nvPr/>
        </p:nvGrpSpPr>
        <p:grpSpPr>
          <a:xfrm>
            <a:off x="192942" y="421374"/>
            <a:ext cx="4912529" cy="802640"/>
            <a:chOff x="-5744871" y="0"/>
            <a:chExt cx="4912529" cy="802640"/>
          </a:xfrm>
        </p:grpSpPr>
        <p:sp>
          <p:nvSpPr>
            <p:cNvPr id="15" name="Shape 1">
              <a:extLst>
                <a:ext uri="{FF2B5EF4-FFF2-40B4-BE49-F238E27FC236}">
                  <a16:creationId xmlns:a16="http://schemas.microsoft.com/office/drawing/2014/main" id="{B22A38EB-E1C2-D368-81E1-690FEF72D2A9}"/>
                </a:ext>
              </a:extLst>
            </p:cNvPr>
            <p:cNvSpPr/>
            <p:nvPr/>
          </p:nvSpPr>
          <p:spPr>
            <a:xfrm>
              <a:off x="-5744871" y="0"/>
              <a:ext cx="4912529" cy="802640"/>
            </a:xfrm>
            <a:prstGeom prst="roundRect">
              <a:avLst>
                <a:gd name="adj" fmla="val 12013"/>
              </a:avLst>
            </a:prstGeom>
            <a:solidFill>
              <a:srgbClr val="F2EEEE"/>
            </a:solidFill>
            <a:ln/>
          </p:spPr>
          <p:txBody>
            <a:bodyPr/>
            <a:lstStyle/>
            <a:p>
              <a:endParaRPr lang="en-US"/>
            </a:p>
          </p:txBody>
        </p:sp>
        <p:sp>
          <p:nvSpPr>
            <p:cNvPr id="20" name="Text 3">
              <a:extLst>
                <a:ext uri="{FF2B5EF4-FFF2-40B4-BE49-F238E27FC236}">
                  <a16:creationId xmlns:a16="http://schemas.microsoft.com/office/drawing/2014/main" id="{A4530D2F-3F3D-7EEF-7699-EB086E1EDA27}"/>
                </a:ext>
              </a:extLst>
            </p:cNvPr>
            <p:cNvSpPr/>
            <p:nvPr/>
          </p:nvSpPr>
          <p:spPr>
            <a:xfrm>
              <a:off x="-5695679" y="206169"/>
              <a:ext cx="4814144" cy="498693"/>
            </a:xfrm>
            <a:prstGeom prst="rect">
              <a:avLst/>
            </a:prstGeom>
            <a:noFill/>
            <a:ln/>
          </p:spPr>
          <p:txBody>
            <a:bodyPr wrap="square" lIns="0" tIns="0" rIns="0" bIns="0" rtlCol="0" anchor="t"/>
            <a:lstStyle/>
            <a:p>
              <a:pPr marL="0" indent="0" algn="ctr">
                <a:lnSpc>
                  <a:spcPts val="2850"/>
                </a:lnSpc>
                <a:buNone/>
              </a:pPr>
              <a:r>
                <a:rPr lang="vi-VN" sz="2000" b="1">
                  <a:solidFill>
                    <a:srgbClr val="464646"/>
                  </a:solidFill>
                  <a:latin typeface="Arimo Medium" pitchFamily="34" charset="0"/>
                  <a:ea typeface="Arimo Medium" pitchFamily="34" charset="-122"/>
                  <a:cs typeface="Arimo Medium" pitchFamily="34" charset="-120"/>
                </a:rPr>
                <a:t>Thiết lập phần cứng và sơ đồ nối dây</a:t>
              </a:r>
            </a:p>
          </p:txBody>
        </p:sp>
      </p:grpSp>
      <p:pic>
        <p:nvPicPr>
          <p:cNvPr id="4" name="image8.png">
            <a:extLst>
              <a:ext uri="{FF2B5EF4-FFF2-40B4-BE49-F238E27FC236}">
                <a16:creationId xmlns:a16="http://schemas.microsoft.com/office/drawing/2014/main" id="{ED22ACD4-D02A-E0AC-387F-4925C0DD2E7A}"/>
              </a:ext>
            </a:extLst>
          </p:cNvPr>
          <p:cNvPicPr/>
          <p:nvPr/>
        </p:nvPicPr>
        <p:blipFill>
          <a:blip r:embed="rId3"/>
          <a:srcRect t="7706"/>
          <a:stretch>
            <a:fillRect/>
          </a:stretch>
        </p:blipFill>
        <p:spPr>
          <a:xfrm>
            <a:off x="928647" y="1332405"/>
            <a:ext cx="12979312" cy="6759309"/>
          </a:xfrm>
          <a:prstGeom prst="rect">
            <a:avLst/>
          </a:prstGeom>
          <a:ln/>
        </p:spPr>
      </p:pic>
    </p:spTree>
    <p:extLst>
      <p:ext uri="{BB962C8B-B14F-4D97-AF65-F5344CB8AC3E}">
        <p14:creationId xmlns:p14="http://schemas.microsoft.com/office/powerpoint/2010/main" val="33615684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511D3-7D57-9067-6761-568B157694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069AD69-1230-C847-48B7-C083AC542057}"/>
              </a:ext>
            </a:extLst>
          </p:cNvPr>
          <p:cNvSpPr/>
          <p:nvPr/>
        </p:nvSpPr>
        <p:spPr>
          <a:xfrm>
            <a:off x="1" y="2449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sp>
        <p:nvSpPr>
          <p:cNvPr id="15" name="Shape 1">
            <a:extLst>
              <a:ext uri="{FF2B5EF4-FFF2-40B4-BE49-F238E27FC236}">
                <a16:creationId xmlns:a16="http://schemas.microsoft.com/office/drawing/2014/main" id="{FDA574D6-AD48-D6F2-2794-CA701D27F9BC}"/>
              </a:ext>
            </a:extLst>
          </p:cNvPr>
          <p:cNvSpPr/>
          <p:nvPr/>
        </p:nvSpPr>
        <p:spPr>
          <a:xfrm>
            <a:off x="3667303" y="5844922"/>
            <a:ext cx="6625273" cy="2139772"/>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B14AA20B-D31E-7B3A-75CA-7663EF29D3A0}"/>
              </a:ext>
            </a:extLst>
          </p:cNvPr>
          <p:cNvSpPr/>
          <p:nvPr/>
        </p:nvSpPr>
        <p:spPr>
          <a:xfrm>
            <a:off x="4002564" y="5985890"/>
            <a:ext cx="6000080"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Hạ tầng truyền thông MQTT</a:t>
            </a:r>
            <a:endParaRPr lang="en-US" sz="2400" b="1" dirty="0"/>
          </a:p>
        </p:txBody>
      </p:sp>
      <p:sp>
        <p:nvSpPr>
          <p:cNvPr id="20" name="Text 3">
            <a:extLst>
              <a:ext uri="{FF2B5EF4-FFF2-40B4-BE49-F238E27FC236}">
                <a16:creationId xmlns:a16="http://schemas.microsoft.com/office/drawing/2014/main" id="{BBC4E449-55F1-8AA6-3D3F-F07EA65CF31F}"/>
              </a:ext>
            </a:extLst>
          </p:cNvPr>
          <p:cNvSpPr/>
          <p:nvPr/>
        </p:nvSpPr>
        <p:spPr>
          <a:xfrm>
            <a:off x="4002563" y="6476725"/>
            <a:ext cx="6111593" cy="1230493"/>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Mô hình: Truyền thông 2 chiều giữa </a:t>
            </a:r>
            <a:r>
              <a:rPr lang="vi-VN" sz="2000" b="1">
                <a:solidFill>
                  <a:srgbClr val="464646"/>
                </a:solidFill>
                <a:latin typeface="Arimo Medium" pitchFamily="34" charset="0"/>
                <a:ea typeface="Arimo Medium" pitchFamily="34" charset="-122"/>
                <a:cs typeface="Arimo Medium" pitchFamily="34" charset="-120"/>
              </a:rPr>
              <a:t>ESP32</a:t>
            </a:r>
            <a:r>
              <a:rPr lang="vi-VN" sz="2000">
                <a:solidFill>
                  <a:srgbClr val="464646"/>
                </a:solidFill>
                <a:latin typeface="Arimo Medium" pitchFamily="34" charset="0"/>
                <a:ea typeface="Arimo Medium" pitchFamily="34" charset="-122"/>
                <a:cs typeface="Arimo Medium" pitchFamily="34" charset="-120"/>
              </a:rPr>
              <a:t> và </a:t>
            </a:r>
            <a:r>
              <a:rPr lang="vi-VN" sz="2000" b="1">
                <a:solidFill>
                  <a:srgbClr val="464646"/>
                </a:solidFill>
                <a:latin typeface="Arimo Medium" pitchFamily="34" charset="0"/>
                <a:ea typeface="Arimo Medium" pitchFamily="34" charset="-122"/>
                <a:cs typeface="Arimo Medium" pitchFamily="34" charset="-120"/>
              </a:rPr>
              <a:t>laptop</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Giao thức: </a:t>
            </a:r>
            <a:r>
              <a:rPr lang="vi-VN" sz="2000" b="1">
                <a:solidFill>
                  <a:srgbClr val="FF0000"/>
                </a:solidFill>
                <a:latin typeface="Arimo Medium" pitchFamily="34" charset="0"/>
                <a:ea typeface="Arimo Medium" pitchFamily="34" charset="-122"/>
                <a:cs typeface="Arimo Medium" pitchFamily="34" charset="-120"/>
              </a:rPr>
              <a:t>MQTT</a:t>
            </a:r>
          </a:p>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Broker trung gian: </a:t>
            </a:r>
            <a:r>
              <a:rPr lang="vi-VN" sz="2000" b="1">
                <a:solidFill>
                  <a:srgbClr val="FF0000"/>
                </a:solidFill>
                <a:latin typeface="Arimo Medium" pitchFamily="34" charset="0"/>
                <a:ea typeface="Arimo Medium" pitchFamily="34" charset="-122"/>
                <a:cs typeface="Arimo Medium" pitchFamily="34" charset="-120"/>
              </a:rPr>
              <a:t>broker.emqx.io</a:t>
            </a:r>
          </a:p>
        </p:txBody>
      </p:sp>
      <p:pic>
        <p:nvPicPr>
          <p:cNvPr id="5" name="Picture 4">
            <a:extLst>
              <a:ext uri="{FF2B5EF4-FFF2-40B4-BE49-F238E27FC236}">
                <a16:creationId xmlns:a16="http://schemas.microsoft.com/office/drawing/2014/main" id="{A858C374-D449-960E-714F-8DC48D13117A}"/>
              </a:ext>
            </a:extLst>
          </p:cNvPr>
          <p:cNvPicPr>
            <a:picLocks noChangeAspect="1"/>
          </p:cNvPicPr>
          <p:nvPr/>
        </p:nvPicPr>
        <p:blipFill>
          <a:blip r:embed="rId3"/>
          <a:stretch>
            <a:fillRect/>
          </a:stretch>
        </p:blipFill>
        <p:spPr>
          <a:xfrm>
            <a:off x="-337342" y="904716"/>
            <a:ext cx="14977259" cy="4794420"/>
          </a:xfrm>
          <a:prstGeom prst="rect">
            <a:avLst/>
          </a:prstGeom>
        </p:spPr>
      </p:pic>
    </p:spTree>
    <p:extLst>
      <p:ext uri="{BB962C8B-B14F-4D97-AF65-F5344CB8AC3E}">
        <p14:creationId xmlns:p14="http://schemas.microsoft.com/office/powerpoint/2010/main" val="24506339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46E1E-B1F5-915C-6A82-A7E07E2E011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F4CF323-7C82-608F-BCDD-1AB4B42E6CF9}"/>
              </a:ext>
            </a:extLst>
          </p:cNvPr>
          <p:cNvSpPr/>
          <p:nvPr/>
        </p:nvSpPr>
        <p:spPr>
          <a:xfrm>
            <a:off x="1" y="244906"/>
            <a:ext cx="14634210" cy="566976"/>
          </a:xfrm>
          <a:prstGeom prst="rect">
            <a:avLst/>
          </a:prstGeom>
          <a:noFill/>
          <a:ln/>
        </p:spPr>
        <p:txBody>
          <a:bodyPr wrap="none" lIns="0" tIns="0" rIns="0" bIns="0" rtlCol="0" anchor="t"/>
          <a:lstStyle/>
          <a:p>
            <a:pPr marL="0" indent="0">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sp>
        <p:nvSpPr>
          <p:cNvPr id="15" name="Shape 1">
            <a:extLst>
              <a:ext uri="{FF2B5EF4-FFF2-40B4-BE49-F238E27FC236}">
                <a16:creationId xmlns:a16="http://schemas.microsoft.com/office/drawing/2014/main" id="{FFF36CE9-4A78-5E46-3542-D9513FFB3FBA}"/>
              </a:ext>
            </a:extLst>
          </p:cNvPr>
          <p:cNvSpPr/>
          <p:nvPr/>
        </p:nvSpPr>
        <p:spPr>
          <a:xfrm>
            <a:off x="354667" y="1963792"/>
            <a:ext cx="6076614" cy="486372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24920A03-B48E-060D-4D75-EEAE63D04AAA}"/>
              </a:ext>
            </a:extLst>
          </p:cNvPr>
          <p:cNvSpPr/>
          <p:nvPr/>
        </p:nvSpPr>
        <p:spPr>
          <a:xfrm>
            <a:off x="689927" y="2104760"/>
            <a:ext cx="5503195"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Cấu trúc các Topic MQTT</a:t>
            </a:r>
          </a:p>
        </p:txBody>
      </p:sp>
      <p:sp>
        <p:nvSpPr>
          <p:cNvPr id="20" name="Text 3">
            <a:extLst>
              <a:ext uri="{FF2B5EF4-FFF2-40B4-BE49-F238E27FC236}">
                <a16:creationId xmlns:a16="http://schemas.microsoft.com/office/drawing/2014/main" id="{654EC99C-86F2-AE1F-CACE-1457423709D8}"/>
              </a:ext>
            </a:extLst>
          </p:cNvPr>
          <p:cNvSpPr/>
          <p:nvPr/>
        </p:nvSpPr>
        <p:spPr>
          <a:xfrm>
            <a:off x="689926" y="2595595"/>
            <a:ext cx="5605473" cy="3201772"/>
          </a:xfrm>
          <a:prstGeom prst="rect">
            <a:avLst/>
          </a:prstGeom>
          <a:noFill/>
          <a:ln/>
        </p:spPr>
        <p:txBody>
          <a:bodyPr wrap="square" lIns="0" tIns="0" rIns="0" bIns="0" rtlCol="0" anchor="t"/>
          <a:lstStyle/>
          <a:p>
            <a:pPr marL="0" indent="0" algn="just">
              <a:lnSpc>
                <a:spcPct val="150000"/>
              </a:lnSpc>
              <a:buNone/>
            </a:pPr>
            <a:r>
              <a:rPr lang="vi-VN" sz="2400">
                <a:solidFill>
                  <a:srgbClr val="464646"/>
                </a:solidFill>
                <a:latin typeface="Arimo Medium" pitchFamily="34" charset="0"/>
                <a:ea typeface="Arimo Medium" pitchFamily="34" charset="-122"/>
                <a:cs typeface="Arimo Medium" pitchFamily="34" charset="-120"/>
              </a:rPr>
              <a:t>nhom3_httm/khoangcach (Publish): Gửi dữ liệu khoảng cách từ ESP32 lên Broker (500ms/lần).</a:t>
            </a:r>
            <a:endParaRPr lang="en-US" sz="2400">
              <a:solidFill>
                <a:srgbClr val="464646"/>
              </a:solidFill>
              <a:latin typeface="Arimo Medium" pitchFamily="34" charset="0"/>
              <a:ea typeface="Arimo Medium" pitchFamily="34" charset="-122"/>
              <a:cs typeface="Arimo Medium" pitchFamily="34" charset="-120"/>
            </a:endParaRPr>
          </a:p>
          <a:p>
            <a:pPr marL="0" indent="0" algn="just">
              <a:lnSpc>
                <a:spcPct val="150000"/>
              </a:lnSpc>
              <a:buNone/>
            </a:pPr>
            <a:endParaRPr lang="vi-VN" sz="2400">
              <a:solidFill>
                <a:srgbClr val="464646"/>
              </a:solidFill>
              <a:latin typeface="Arimo Medium" pitchFamily="34" charset="0"/>
              <a:ea typeface="Arimo Medium" pitchFamily="34" charset="-122"/>
              <a:cs typeface="Arimo Medium" pitchFamily="34" charset="-120"/>
            </a:endParaRPr>
          </a:p>
          <a:p>
            <a:pPr marL="0" indent="0" algn="just">
              <a:lnSpc>
                <a:spcPct val="150000"/>
              </a:lnSpc>
              <a:buNone/>
            </a:pPr>
            <a:r>
              <a:rPr lang="vi-VN" sz="2400">
                <a:solidFill>
                  <a:srgbClr val="464646"/>
                </a:solidFill>
                <a:latin typeface="Arimo Medium" pitchFamily="34" charset="0"/>
                <a:ea typeface="Arimo Medium" pitchFamily="34" charset="-122"/>
                <a:cs typeface="Arimo Medium" pitchFamily="34" charset="-120"/>
              </a:rPr>
              <a:t>nhom3_httm/mucdo_nguyhiem (Subscribe): Nhận % nguy hiểm từ hệ logic mờ trên máy tính.</a:t>
            </a:r>
          </a:p>
        </p:txBody>
      </p:sp>
      <p:pic>
        <p:nvPicPr>
          <p:cNvPr id="3" name="Picture 2">
            <a:extLst>
              <a:ext uri="{FF2B5EF4-FFF2-40B4-BE49-F238E27FC236}">
                <a16:creationId xmlns:a16="http://schemas.microsoft.com/office/drawing/2014/main" id="{F862E4BA-A03A-4209-0535-FAFAD2621B91}"/>
              </a:ext>
            </a:extLst>
          </p:cNvPr>
          <p:cNvPicPr>
            <a:picLocks noChangeAspect="1"/>
          </p:cNvPicPr>
          <p:nvPr/>
        </p:nvPicPr>
        <p:blipFill rotWithShape="1">
          <a:blip r:embed="rId3"/>
          <a:srcRect l="17948" r="41026"/>
          <a:stretch>
            <a:fillRect/>
          </a:stretch>
        </p:blipFill>
        <p:spPr bwMode="auto">
          <a:xfrm>
            <a:off x="6630658" y="-115154"/>
            <a:ext cx="7882919" cy="10065092"/>
          </a:xfrm>
          <a:prstGeom prst="rect">
            <a:avLst/>
          </a:prstGeom>
          <a:ln>
            <a:noFill/>
          </a:ln>
          <a:extLst>
            <a:ext uri="{53640926-AAD7-44D8-BBD7-CCE9431645EC}">
              <a14:shadowObscured xmlns:a14="http://schemas.microsoft.com/office/drawing/2010/main"/>
            </a:ext>
          </a:extLst>
        </p:spPr>
      </p:pic>
      <p:pic>
        <p:nvPicPr>
          <p:cNvPr id="5" name="Picture 4">
            <a:extLst>
              <a:ext uri="{FF2B5EF4-FFF2-40B4-BE49-F238E27FC236}">
                <a16:creationId xmlns:a16="http://schemas.microsoft.com/office/drawing/2014/main" id="{77192FBA-6E98-B9F1-43B5-1D751DE503BB}"/>
              </a:ext>
            </a:extLst>
          </p:cNvPr>
          <p:cNvPicPr>
            <a:picLocks noChangeAspect="1"/>
          </p:cNvPicPr>
          <p:nvPr/>
        </p:nvPicPr>
        <p:blipFill>
          <a:blip r:embed="rId4"/>
          <a:stretch>
            <a:fillRect/>
          </a:stretch>
        </p:blipFill>
        <p:spPr>
          <a:xfrm>
            <a:off x="6551014" y="-11589832"/>
            <a:ext cx="8042205" cy="10065091"/>
          </a:xfrm>
          <a:prstGeom prst="rect">
            <a:avLst/>
          </a:prstGeom>
        </p:spPr>
      </p:pic>
    </p:spTree>
    <p:extLst>
      <p:ext uri="{BB962C8B-B14F-4D97-AF65-F5344CB8AC3E}">
        <p14:creationId xmlns:p14="http://schemas.microsoft.com/office/powerpoint/2010/main" val="3261711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3CB30-9981-BDA6-A523-9F7AEAE87AC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EF24DE2-D593-9E76-B0FF-E6FEFAC09CA3}"/>
              </a:ext>
            </a:extLst>
          </p:cNvPr>
          <p:cNvSpPr/>
          <p:nvPr/>
        </p:nvSpPr>
        <p:spPr>
          <a:xfrm>
            <a:off x="1" y="244906"/>
            <a:ext cx="14634210" cy="566976"/>
          </a:xfrm>
          <a:prstGeom prst="rect">
            <a:avLst/>
          </a:prstGeom>
          <a:noFill/>
          <a:ln/>
        </p:spPr>
        <p:txBody>
          <a:bodyPr wrap="none" lIns="0" tIns="0" rIns="0" bIns="0" rtlCol="0" anchor="t"/>
          <a:lstStyle/>
          <a:p>
            <a:pPr marL="0" indent="0">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sp>
        <p:nvSpPr>
          <p:cNvPr id="15" name="Shape 1">
            <a:extLst>
              <a:ext uri="{FF2B5EF4-FFF2-40B4-BE49-F238E27FC236}">
                <a16:creationId xmlns:a16="http://schemas.microsoft.com/office/drawing/2014/main" id="{3FD5632A-A845-A6EF-41F9-93CE469DFCB9}"/>
              </a:ext>
            </a:extLst>
          </p:cNvPr>
          <p:cNvSpPr/>
          <p:nvPr/>
        </p:nvSpPr>
        <p:spPr>
          <a:xfrm>
            <a:off x="354667" y="1963792"/>
            <a:ext cx="6076614" cy="486372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4AB72DE0-E629-3A78-35C2-62B389D75DCB}"/>
              </a:ext>
            </a:extLst>
          </p:cNvPr>
          <p:cNvSpPr/>
          <p:nvPr/>
        </p:nvSpPr>
        <p:spPr>
          <a:xfrm>
            <a:off x="689927" y="2104760"/>
            <a:ext cx="5503195"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Cấu trúc các Topic MQTT</a:t>
            </a:r>
          </a:p>
        </p:txBody>
      </p:sp>
      <p:sp>
        <p:nvSpPr>
          <p:cNvPr id="20" name="Text 3">
            <a:extLst>
              <a:ext uri="{FF2B5EF4-FFF2-40B4-BE49-F238E27FC236}">
                <a16:creationId xmlns:a16="http://schemas.microsoft.com/office/drawing/2014/main" id="{361CC25B-C146-F96C-307E-766462D29A53}"/>
              </a:ext>
            </a:extLst>
          </p:cNvPr>
          <p:cNvSpPr/>
          <p:nvPr/>
        </p:nvSpPr>
        <p:spPr>
          <a:xfrm>
            <a:off x="689926" y="2595595"/>
            <a:ext cx="5605473" cy="3201772"/>
          </a:xfrm>
          <a:prstGeom prst="rect">
            <a:avLst/>
          </a:prstGeom>
          <a:noFill/>
          <a:ln/>
        </p:spPr>
        <p:txBody>
          <a:bodyPr wrap="square" lIns="0" tIns="0" rIns="0" bIns="0" rtlCol="0" anchor="t"/>
          <a:lstStyle/>
          <a:p>
            <a:pPr marL="0" indent="0" algn="just">
              <a:lnSpc>
                <a:spcPct val="150000"/>
              </a:lnSpc>
              <a:buNone/>
            </a:pPr>
            <a:r>
              <a:rPr lang="vi-VN" sz="2400">
                <a:solidFill>
                  <a:srgbClr val="464646"/>
                </a:solidFill>
                <a:latin typeface="Arimo Medium" pitchFamily="34" charset="0"/>
                <a:ea typeface="Arimo Medium" pitchFamily="34" charset="-122"/>
                <a:cs typeface="Arimo Medium" pitchFamily="34" charset="-120"/>
              </a:rPr>
              <a:t>nhom3_httm/khoangcach (Publish): Gửi dữ liệu khoảng cách từ ESP32 lên Broker (500ms/lần).</a:t>
            </a:r>
            <a:endParaRPr lang="en-US" sz="2400">
              <a:solidFill>
                <a:srgbClr val="464646"/>
              </a:solidFill>
              <a:latin typeface="Arimo Medium" pitchFamily="34" charset="0"/>
              <a:ea typeface="Arimo Medium" pitchFamily="34" charset="-122"/>
              <a:cs typeface="Arimo Medium" pitchFamily="34" charset="-120"/>
            </a:endParaRPr>
          </a:p>
          <a:p>
            <a:pPr marL="0" indent="0" algn="just">
              <a:lnSpc>
                <a:spcPct val="150000"/>
              </a:lnSpc>
              <a:buNone/>
            </a:pPr>
            <a:endParaRPr lang="vi-VN" sz="2400">
              <a:solidFill>
                <a:srgbClr val="464646"/>
              </a:solidFill>
              <a:latin typeface="Arimo Medium" pitchFamily="34" charset="0"/>
              <a:ea typeface="Arimo Medium" pitchFamily="34" charset="-122"/>
              <a:cs typeface="Arimo Medium" pitchFamily="34" charset="-120"/>
            </a:endParaRPr>
          </a:p>
          <a:p>
            <a:pPr marL="0" indent="0" algn="just">
              <a:lnSpc>
                <a:spcPct val="150000"/>
              </a:lnSpc>
              <a:buNone/>
            </a:pPr>
            <a:r>
              <a:rPr lang="vi-VN" sz="2400">
                <a:solidFill>
                  <a:srgbClr val="464646"/>
                </a:solidFill>
                <a:latin typeface="Arimo Medium" pitchFamily="34" charset="0"/>
                <a:ea typeface="Arimo Medium" pitchFamily="34" charset="-122"/>
                <a:cs typeface="Arimo Medium" pitchFamily="34" charset="-120"/>
              </a:rPr>
              <a:t>nhom3_httm/mucdo_nguyhiem (Subscribe): Nhận % nguy hiểm từ hệ logic mờ trên máy tính.</a:t>
            </a:r>
          </a:p>
        </p:txBody>
      </p:sp>
      <p:pic>
        <p:nvPicPr>
          <p:cNvPr id="3" name="Picture 2">
            <a:extLst>
              <a:ext uri="{FF2B5EF4-FFF2-40B4-BE49-F238E27FC236}">
                <a16:creationId xmlns:a16="http://schemas.microsoft.com/office/drawing/2014/main" id="{58AC3413-E2A5-9286-C698-5ECAA4EDF1D4}"/>
              </a:ext>
            </a:extLst>
          </p:cNvPr>
          <p:cNvPicPr>
            <a:picLocks noChangeAspect="1"/>
          </p:cNvPicPr>
          <p:nvPr/>
        </p:nvPicPr>
        <p:blipFill rotWithShape="1">
          <a:blip r:embed="rId3"/>
          <a:srcRect l="17948" r="41026"/>
          <a:stretch>
            <a:fillRect/>
          </a:stretch>
        </p:blipFill>
        <p:spPr bwMode="auto">
          <a:xfrm>
            <a:off x="6630658" y="11391046"/>
            <a:ext cx="7882919" cy="10065092"/>
          </a:xfrm>
          <a:prstGeom prst="rect">
            <a:avLst/>
          </a:prstGeom>
          <a:ln>
            <a:noFill/>
          </a:ln>
          <a:extLst>
            <a:ext uri="{53640926-AAD7-44D8-BBD7-CCE9431645EC}">
              <a14:shadowObscured xmlns:a14="http://schemas.microsoft.com/office/drawing/2010/main"/>
            </a:ext>
          </a:extLst>
        </p:spPr>
      </p:pic>
      <p:pic>
        <p:nvPicPr>
          <p:cNvPr id="5" name="Picture 4">
            <a:extLst>
              <a:ext uri="{FF2B5EF4-FFF2-40B4-BE49-F238E27FC236}">
                <a16:creationId xmlns:a16="http://schemas.microsoft.com/office/drawing/2014/main" id="{8DE8209D-68E3-E418-7812-D00A5B162EF7}"/>
              </a:ext>
            </a:extLst>
          </p:cNvPr>
          <p:cNvPicPr>
            <a:picLocks noChangeAspect="1"/>
          </p:cNvPicPr>
          <p:nvPr/>
        </p:nvPicPr>
        <p:blipFill>
          <a:blip r:embed="rId4"/>
          <a:stretch>
            <a:fillRect/>
          </a:stretch>
        </p:blipFill>
        <p:spPr>
          <a:xfrm>
            <a:off x="6551014" y="-83632"/>
            <a:ext cx="8042205" cy="10065091"/>
          </a:xfrm>
          <a:prstGeom prst="rect">
            <a:avLst/>
          </a:prstGeom>
        </p:spPr>
      </p:pic>
    </p:spTree>
    <p:extLst>
      <p:ext uri="{BB962C8B-B14F-4D97-AF65-F5344CB8AC3E}">
        <p14:creationId xmlns:p14="http://schemas.microsoft.com/office/powerpoint/2010/main" val="261841638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44FB-DAA4-8992-7215-6D9BE62446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ADD80D-865F-7DF4-42ED-0C0355D8D757}"/>
              </a:ext>
            </a:extLst>
          </p:cNvPr>
          <p:cNvSpPr/>
          <p:nvPr/>
        </p:nvSpPr>
        <p:spPr>
          <a:xfrm>
            <a:off x="1" y="2449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4.1: Phần cứng IOT</a:t>
            </a:r>
            <a:endParaRPr lang="en-US" sz="3550" b="1" dirty="0"/>
          </a:p>
        </p:txBody>
      </p:sp>
      <p:sp>
        <p:nvSpPr>
          <p:cNvPr id="15" name="Shape 1">
            <a:extLst>
              <a:ext uri="{FF2B5EF4-FFF2-40B4-BE49-F238E27FC236}">
                <a16:creationId xmlns:a16="http://schemas.microsoft.com/office/drawing/2014/main" id="{141C0A36-EC0B-719C-6E66-695898BD2B36}"/>
              </a:ext>
            </a:extLst>
          </p:cNvPr>
          <p:cNvSpPr/>
          <p:nvPr/>
        </p:nvSpPr>
        <p:spPr>
          <a:xfrm>
            <a:off x="466903" y="2370202"/>
            <a:ext cx="6625273" cy="424395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EE9B5837-235A-E0E2-8B30-EDD07311D6E3}"/>
              </a:ext>
            </a:extLst>
          </p:cNvPr>
          <p:cNvSpPr/>
          <p:nvPr/>
        </p:nvSpPr>
        <p:spPr>
          <a:xfrm>
            <a:off x="802164" y="2511170"/>
            <a:ext cx="6000080"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Logic điều khiển &amp; Cấp độ phản hồi</a:t>
            </a:r>
            <a:endParaRPr lang="en-US" sz="2400" b="1" dirty="0"/>
          </a:p>
        </p:txBody>
      </p:sp>
      <p:sp>
        <p:nvSpPr>
          <p:cNvPr id="20" name="Text 3">
            <a:extLst>
              <a:ext uri="{FF2B5EF4-FFF2-40B4-BE49-F238E27FC236}">
                <a16:creationId xmlns:a16="http://schemas.microsoft.com/office/drawing/2014/main" id="{EECC6290-5035-9F8E-56EB-876344801CD9}"/>
              </a:ext>
            </a:extLst>
          </p:cNvPr>
          <p:cNvSpPr/>
          <p:nvPr/>
        </p:nvSpPr>
        <p:spPr>
          <a:xfrm>
            <a:off x="802163" y="3002005"/>
            <a:ext cx="6000080" cy="3383555"/>
          </a:xfrm>
          <a:prstGeom prst="rect">
            <a:avLst/>
          </a:prstGeom>
          <a:noFill/>
          <a:ln/>
        </p:spPr>
        <p:txBody>
          <a:bodyPr wrap="square" lIns="0" tIns="0" rIns="0" bIns="0" rtlCol="0" anchor="t"/>
          <a:lstStyle/>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Mức 0 (&lt;25%): An toàn. Đèn Xanh lá sáng, còi tắt.</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Mức 1 (25-55%): Cảnh báo nhẹ. Đèn Xanh dương nhấp nháy chậm (1s), còi kêu nhẹ.</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Mức 2 (55-80%): Cảnh báo trung bình. Đèn Tím nhấp nháy vừa (0.5s), còi kêu vừa.</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Mức 3 (&gt;=80%): Nguy hiểm. Đèn Đỏ nhấp nháy nhanh (0.2s), còi hú cường độ cao.</a:t>
            </a:r>
          </a:p>
        </p:txBody>
      </p:sp>
      <p:sp>
        <p:nvSpPr>
          <p:cNvPr id="3" name="Shape 1">
            <a:extLst>
              <a:ext uri="{FF2B5EF4-FFF2-40B4-BE49-F238E27FC236}">
                <a16:creationId xmlns:a16="http://schemas.microsoft.com/office/drawing/2014/main" id="{710CDE57-9E0D-2971-CE7A-06FFCBCB3DAE}"/>
              </a:ext>
            </a:extLst>
          </p:cNvPr>
          <p:cNvSpPr/>
          <p:nvPr/>
        </p:nvSpPr>
        <p:spPr>
          <a:xfrm>
            <a:off x="7828158" y="2370202"/>
            <a:ext cx="6625273" cy="4243958"/>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213F7260-8BC4-64E4-17D4-237D0D5FFF89}"/>
              </a:ext>
            </a:extLst>
          </p:cNvPr>
          <p:cNvSpPr/>
          <p:nvPr/>
        </p:nvSpPr>
        <p:spPr>
          <a:xfrm>
            <a:off x="8163419" y="2511170"/>
            <a:ext cx="6000080"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Kiểm thử hệ thống với MQTTX</a:t>
            </a:r>
          </a:p>
        </p:txBody>
      </p:sp>
      <p:sp>
        <p:nvSpPr>
          <p:cNvPr id="6" name="Text 3">
            <a:extLst>
              <a:ext uri="{FF2B5EF4-FFF2-40B4-BE49-F238E27FC236}">
                <a16:creationId xmlns:a16="http://schemas.microsoft.com/office/drawing/2014/main" id="{452539B9-34BA-64FB-7E9A-A38144B02B00}"/>
              </a:ext>
            </a:extLst>
          </p:cNvPr>
          <p:cNvSpPr/>
          <p:nvPr/>
        </p:nvSpPr>
        <p:spPr>
          <a:xfrm>
            <a:off x="8163418" y="3002005"/>
            <a:ext cx="6000080" cy="3383555"/>
          </a:xfrm>
          <a:prstGeom prst="rect">
            <a:avLst/>
          </a:prstGeom>
          <a:noFill/>
          <a:ln/>
        </p:spPr>
        <p:txBody>
          <a:bodyPr wrap="square" lIns="0" tIns="0" rIns="0" bIns="0" rtlCol="0" anchor="t"/>
          <a:lstStyle/>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Sử dụng MQTTX làm công cụ Debug chuyên sâu.</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Mục đích: Giả lập gửi giá trị phần trăm (0-100) để kiểm tra phản ứng của đèn và còi mà không cần chạy mô hình AI.</a:t>
            </a:r>
          </a:p>
          <a:p>
            <a:pPr marL="0" indent="0">
              <a:lnSpc>
                <a:spcPct val="150000"/>
              </a:lnSpc>
              <a:buNone/>
            </a:pPr>
            <a:r>
              <a:rPr lang="vi-VN" sz="2000">
                <a:solidFill>
                  <a:srgbClr val="464646"/>
                </a:solidFill>
                <a:latin typeface="Arimo Medium" pitchFamily="34" charset="0"/>
                <a:ea typeface="Arimo Medium" pitchFamily="34" charset="-122"/>
                <a:cs typeface="Arimo Medium" pitchFamily="34" charset="-120"/>
              </a:rPr>
              <a:t>•  Lợi ích: Rút ngắn thời gian tinh chỉnh code và kiểm tra độ trễ của mạng.</a:t>
            </a:r>
          </a:p>
        </p:txBody>
      </p:sp>
    </p:spTree>
    <p:extLst>
      <p:ext uri="{BB962C8B-B14F-4D97-AF65-F5344CB8AC3E}">
        <p14:creationId xmlns:p14="http://schemas.microsoft.com/office/powerpoint/2010/main" val="21101600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7DA3C-4104-3ED5-7990-ABDA9DFA3CB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26149E1F-5E49-8BE9-2409-AA97E3697E35}"/>
              </a:ext>
            </a:extLst>
          </p:cNvPr>
          <p:cNvSpPr/>
          <p:nvPr/>
        </p:nvSpPr>
        <p:spPr>
          <a:xfrm>
            <a:off x="148829" y="13788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 Các thành phần quan trọng</a:t>
            </a:r>
            <a:endParaRPr lang="en-US" sz="3550" b="1" dirty="0"/>
          </a:p>
        </p:txBody>
      </p:sp>
      <p:sp>
        <p:nvSpPr>
          <p:cNvPr id="11" name="Shape 1">
            <a:extLst>
              <a:ext uri="{FF2B5EF4-FFF2-40B4-BE49-F238E27FC236}">
                <a16:creationId xmlns:a16="http://schemas.microsoft.com/office/drawing/2014/main" id="{3599A113-20EC-661B-9FEF-3CCCF949526A}"/>
              </a:ext>
            </a:extLst>
          </p:cNvPr>
          <p:cNvSpPr/>
          <p:nvPr/>
        </p:nvSpPr>
        <p:spPr>
          <a:xfrm>
            <a:off x="-9603647" y="1455527"/>
            <a:ext cx="4912529" cy="193570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95D899C0-93D1-BE02-48ED-244682AF448A}"/>
              </a:ext>
            </a:extLst>
          </p:cNvPr>
          <p:cNvSpPr/>
          <p:nvPr/>
        </p:nvSpPr>
        <p:spPr>
          <a:xfrm>
            <a:off x="-9450315" y="1596496"/>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Dữ liệu thống kê</a:t>
            </a:r>
            <a:endParaRPr lang="en-US" sz="2400" b="1" dirty="0"/>
          </a:p>
        </p:txBody>
      </p:sp>
      <p:sp>
        <p:nvSpPr>
          <p:cNvPr id="13" name="Text 3">
            <a:extLst>
              <a:ext uri="{FF2B5EF4-FFF2-40B4-BE49-F238E27FC236}">
                <a16:creationId xmlns:a16="http://schemas.microsoft.com/office/drawing/2014/main" id="{F9E1FD12-6E99-0372-892B-A6B8FCB3C240}"/>
              </a:ext>
            </a:extLst>
          </p:cNvPr>
          <p:cNvSpPr/>
          <p:nvPr/>
        </p:nvSpPr>
        <p:spPr>
          <a:xfrm>
            <a:off x="-9227352" y="1941685"/>
            <a:ext cx="4188994" cy="1215372"/>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Dữ liệu thống kê về mức hung dữ, khoảng cách an toàn,.. của các loài động vật.</a:t>
            </a:r>
          </a:p>
        </p:txBody>
      </p:sp>
      <p:sp>
        <p:nvSpPr>
          <p:cNvPr id="16" name="Shape 1">
            <a:extLst>
              <a:ext uri="{FF2B5EF4-FFF2-40B4-BE49-F238E27FC236}">
                <a16:creationId xmlns:a16="http://schemas.microsoft.com/office/drawing/2014/main" id="{AC5C11FE-3EF0-BCE7-315E-13F931FCFEAE}"/>
              </a:ext>
            </a:extLst>
          </p:cNvPr>
          <p:cNvSpPr/>
          <p:nvPr/>
        </p:nvSpPr>
        <p:spPr>
          <a:xfrm>
            <a:off x="1286911" y="1634005"/>
            <a:ext cx="4912529" cy="307182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9E49AE03-109F-86FC-EC52-423A2691DC30}"/>
              </a:ext>
            </a:extLst>
          </p:cNvPr>
          <p:cNvSpPr/>
          <p:nvPr/>
        </p:nvSpPr>
        <p:spPr>
          <a:xfrm>
            <a:off x="1440243" y="1774973"/>
            <a:ext cx="4585577"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Mô hình cốt lõi</a:t>
            </a:r>
            <a:endParaRPr lang="en-US" sz="2400" b="1" dirty="0"/>
          </a:p>
        </p:txBody>
      </p:sp>
      <p:sp>
        <p:nvSpPr>
          <p:cNvPr id="18" name="Text 3">
            <a:extLst>
              <a:ext uri="{FF2B5EF4-FFF2-40B4-BE49-F238E27FC236}">
                <a16:creationId xmlns:a16="http://schemas.microsoft.com/office/drawing/2014/main" id="{B600ED2E-76BC-3204-3214-ECA087DD8A48}"/>
              </a:ext>
            </a:extLst>
          </p:cNvPr>
          <p:cNvSpPr/>
          <p:nvPr/>
        </p:nvSpPr>
        <p:spPr>
          <a:xfrm>
            <a:off x="1663206" y="2217227"/>
            <a:ext cx="4188994" cy="1230493"/>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Lựa chọn YOLOv8 (phiên bản Nano) với ưu điểm vượt trội về tốc độ suy diễn (Inference speed), đáp ứng hoàn hảo yêu cầu chạy Real-time (thời gian thực) của hệ thống cảnh báo tích hợp IoT </a:t>
            </a:r>
          </a:p>
        </p:txBody>
      </p:sp>
      <p:graphicFrame>
        <p:nvGraphicFramePr>
          <p:cNvPr id="27" name="Table 26">
            <a:extLst>
              <a:ext uri="{FF2B5EF4-FFF2-40B4-BE49-F238E27FC236}">
                <a16:creationId xmlns:a16="http://schemas.microsoft.com/office/drawing/2014/main" id="{C4D6CF01-2551-6872-1F48-91F05BFB044A}"/>
              </a:ext>
            </a:extLst>
          </p:cNvPr>
          <p:cNvGraphicFramePr>
            <a:graphicFrameLocks noGrp="1"/>
          </p:cNvGraphicFramePr>
          <p:nvPr/>
        </p:nvGraphicFramePr>
        <p:xfrm>
          <a:off x="-10401940" y="4093728"/>
          <a:ext cx="6909894" cy="3522980"/>
        </p:xfrm>
        <a:graphic>
          <a:graphicData uri="http://schemas.openxmlformats.org/drawingml/2006/table">
            <a:tbl>
              <a:tblPr firstRow="1" bandRow="1">
                <a:tableStyleId>{5940675A-B579-460E-94D1-54222C63F5DA}</a:tableStyleId>
              </a:tblPr>
              <a:tblGrid>
                <a:gridCol w="888234">
                  <a:extLst>
                    <a:ext uri="{9D8B030D-6E8A-4147-A177-3AD203B41FA5}">
                      <a16:colId xmlns:a16="http://schemas.microsoft.com/office/drawing/2014/main" val="424760078"/>
                    </a:ext>
                  </a:extLst>
                </a:gridCol>
                <a:gridCol w="1371600">
                  <a:extLst>
                    <a:ext uri="{9D8B030D-6E8A-4147-A177-3AD203B41FA5}">
                      <a16:colId xmlns:a16="http://schemas.microsoft.com/office/drawing/2014/main" val="1417128821"/>
                    </a:ext>
                  </a:extLst>
                </a:gridCol>
                <a:gridCol w="1393903">
                  <a:extLst>
                    <a:ext uri="{9D8B030D-6E8A-4147-A177-3AD203B41FA5}">
                      <a16:colId xmlns:a16="http://schemas.microsoft.com/office/drawing/2014/main" val="1228329708"/>
                    </a:ext>
                  </a:extLst>
                </a:gridCol>
                <a:gridCol w="1382751">
                  <a:extLst>
                    <a:ext uri="{9D8B030D-6E8A-4147-A177-3AD203B41FA5}">
                      <a16:colId xmlns:a16="http://schemas.microsoft.com/office/drawing/2014/main" val="3727490227"/>
                    </a:ext>
                  </a:extLst>
                </a:gridCol>
                <a:gridCol w="1873406">
                  <a:extLst>
                    <a:ext uri="{9D8B030D-6E8A-4147-A177-3AD203B41FA5}">
                      <a16:colId xmlns:a16="http://schemas.microsoft.com/office/drawing/2014/main" val="2468364354"/>
                    </a:ext>
                  </a:extLst>
                </a:gridCol>
              </a:tblGrid>
              <a:tr h="370840">
                <a:tc>
                  <a:txBody>
                    <a:bodyPr/>
                    <a:lstStyle/>
                    <a:p>
                      <a:pPr algn="ctr" fontAlgn="b">
                        <a:buNone/>
                      </a:pPr>
                      <a:r>
                        <a:rPr lang="en-US" sz="1800" b="1" i="0" u="none" strike="noStrike">
                          <a:solidFill>
                            <a:srgbClr val="000000"/>
                          </a:solidFill>
                          <a:effectLst/>
                          <a:latin typeface="Aptos Narrow" panose="020B0004020202020204" pitchFamily="34" charset="0"/>
                        </a:rPr>
                        <a:t>ID_Loai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Ten_Loai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Muc_Hung_Du</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Toc_Do (km/h)</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Khoang_Cach_An_Toan (m)</a:t>
                      </a:r>
                    </a:p>
                  </a:txBody>
                  <a:tcPr marL="7620" marR="7620" marT="7620" marB="0" anchor="ctr">
                    <a:solidFill>
                      <a:srgbClr val="92D050"/>
                    </a:solidFill>
                  </a:tcPr>
                </a:tc>
                <a:extLst>
                  <a:ext uri="{0D108BD9-81ED-4DB2-BD59-A6C34878D82A}">
                    <a16:rowId xmlns:a16="http://schemas.microsoft.com/office/drawing/2014/main" val="2544393828"/>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boar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30</a:t>
                      </a:r>
                    </a:p>
                  </a:txBody>
                  <a:tcPr marL="7620" marR="7620" marT="7620" marB="0" anchor="b"/>
                </a:tc>
                <a:extLst>
                  <a:ext uri="{0D108BD9-81ED-4DB2-BD59-A6C34878D82A}">
                    <a16:rowId xmlns:a16="http://schemas.microsoft.com/office/drawing/2014/main" val="250344243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2</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cat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0</a:t>
                      </a:r>
                    </a:p>
                  </a:txBody>
                  <a:tcPr marL="7620" marR="7620" marT="7620" marB="0" anchor="b"/>
                </a:tc>
                <a:extLst>
                  <a:ext uri="{0D108BD9-81ED-4DB2-BD59-A6C34878D82A}">
                    <a16:rowId xmlns:a16="http://schemas.microsoft.com/office/drawing/2014/main" val="103193261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3</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deer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2253220842"/>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elephant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1515277694"/>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kangaroo</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1085734541"/>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6</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snake</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19</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extLst>
                  <a:ext uri="{0D108BD9-81ED-4DB2-BD59-A6C34878D82A}">
                    <a16:rowId xmlns:a16="http://schemas.microsoft.com/office/drawing/2014/main" val="161633032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wolf</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3344603629"/>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zebra</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extLst>
                  <a:ext uri="{0D108BD9-81ED-4DB2-BD59-A6C34878D82A}">
                    <a16:rowId xmlns:a16="http://schemas.microsoft.com/office/drawing/2014/main" val="863576918"/>
                  </a:ext>
                </a:extLst>
              </a:tr>
            </a:tbl>
          </a:graphicData>
        </a:graphic>
      </p:graphicFrame>
      <p:sp>
        <p:nvSpPr>
          <p:cNvPr id="2" name="Text 0">
            <a:extLst>
              <a:ext uri="{FF2B5EF4-FFF2-40B4-BE49-F238E27FC236}">
                <a16:creationId xmlns:a16="http://schemas.microsoft.com/office/drawing/2014/main" id="{07B19184-E3FE-B2E4-AD04-DBD8CA544E28}"/>
              </a:ext>
            </a:extLst>
          </p:cNvPr>
          <p:cNvSpPr/>
          <p:nvPr/>
        </p:nvSpPr>
        <p:spPr>
          <a:xfrm>
            <a:off x="1" y="70486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pic>
        <p:nvPicPr>
          <p:cNvPr id="1026" name="Picture 2" descr="Yolo V8: A Deep Dive Into Its Advanced Functions and New Features | by  Mujtaba Raza | Medium">
            <a:extLst>
              <a:ext uri="{FF2B5EF4-FFF2-40B4-BE49-F238E27FC236}">
                <a16:creationId xmlns:a16="http://schemas.microsoft.com/office/drawing/2014/main" id="{2475B896-3090-8DB1-EA02-90A6D49959D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975" t="13327" r="11999" b="9300"/>
          <a:stretch>
            <a:fillRect/>
          </a:stretch>
        </p:blipFill>
        <p:spPr bwMode="auto">
          <a:xfrm>
            <a:off x="7212330" y="1757118"/>
            <a:ext cx="4787948" cy="2777490"/>
          </a:xfrm>
          <a:prstGeom prst="rect">
            <a:avLst/>
          </a:prstGeom>
          <a:noFill/>
          <a:extLst>
            <a:ext uri="{909E8E84-426E-40DD-AFC4-6F175D3DCCD1}">
              <a14:hiddenFill xmlns:a14="http://schemas.microsoft.com/office/drawing/2010/main">
                <a:solidFill>
                  <a:srgbClr val="FFFFFF"/>
                </a:solidFill>
              </a14:hiddenFill>
            </a:ext>
          </a:extLst>
        </p:spPr>
      </p:pic>
      <p:sp>
        <p:nvSpPr>
          <p:cNvPr id="4" name="Shape 1">
            <a:extLst>
              <a:ext uri="{FF2B5EF4-FFF2-40B4-BE49-F238E27FC236}">
                <a16:creationId xmlns:a16="http://schemas.microsoft.com/office/drawing/2014/main" id="{275B57E4-2B95-D9B1-998D-A8438B8BFAA5}"/>
              </a:ext>
            </a:extLst>
          </p:cNvPr>
          <p:cNvSpPr/>
          <p:nvPr/>
        </p:nvSpPr>
        <p:spPr>
          <a:xfrm>
            <a:off x="1286911" y="5019888"/>
            <a:ext cx="4912529" cy="3071826"/>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A908B199-FEF8-B2E3-DBC0-4BDCFE0A4127}"/>
              </a:ext>
            </a:extLst>
          </p:cNvPr>
          <p:cNvSpPr/>
          <p:nvPr/>
        </p:nvSpPr>
        <p:spPr>
          <a:xfrm>
            <a:off x="1440243" y="5160856"/>
            <a:ext cx="4585577"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Phần cứng huấn luyện</a:t>
            </a:r>
            <a:endParaRPr lang="en-US" sz="2400" b="1" dirty="0"/>
          </a:p>
        </p:txBody>
      </p:sp>
      <p:sp>
        <p:nvSpPr>
          <p:cNvPr id="6" name="Text 3">
            <a:extLst>
              <a:ext uri="{FF2B5EF4-FFF2-40B4-BE49-F238E27FC236}">
                <a16:creationId xmlns:a16="http://schemas.microsoft.com/office/drawing/2014/main" id="{99388D08-947A-D966-52CB-0CF2F44FF5A4}"/>
              </a:ext>
            </a:extLst>
          </p:cNvPr>
          <p:cNvSpPr/>
          <p:nvPr/>
        </p:nvSpPr>
        <p:spPr>
          <a:xfrm>
            <a:off x="1663206" y="5603110"/>
            <a:ext cx="4188994" cy="2084261"/>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Sử dụng </a:t>
            </a:r>
            <a:r>
              <a:rPr lang="vi-VN" sz="2000" b="1">
                <a:solidFill>
                  <a:srgbClr val="464646"/>
                </a:solidFill>
                <a:latin typeface="Arimo Medium" pitchFamily="34" charset="0"/>
                <a:ea typeface="Arimo Medium" pitchFamily="34" charset="-122"/>
                <a:cs typeface="Arimo Medium" pitchFamily="34" charset="-120"/>
              </a:rPr>
              <a:t>GPU NVIDIA GeForce RTX 4050</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6GB VRAM</a:t>
            </a:r>
            <a:r>
              <a:rPr lang="vi-VN" sz="2000">
                <a:solidFill>
                  <a:srgbClr val="464646"/>
                </a:solidFill>
                <a:latin typeface="Arimo Medium" pitchFamily="34" charset="0"/>
                <a:ea typeface="Arimo Medium" pitchFamily="34" charset="-122"/>
                <a:cs typeface="Arimo Medium" pitchFamily="34" charset="-120"/>
              </a:rPr>
              <a:t>, đảm bảo khả năng xử lý song song các phép toán ma trận phức tạp trong thời gian ngắn. </a:t>
            </a:r>
          </a:p>
        </p:txBody>
      </p:sp>
      <p:pic>
        <p:nvPicPr>
          <p:cNvPr id="1028" name="Picture 4" descr="468 Laptop Gpu Stock Photos - Free &amp; Royalty-Free Stock Photos from  Dreamstime">
            <a:extLst>
              <a:ext uri="{FF2B5EF4-FFF2-40B4-BE49-F238E27FC236}">
                <a16:creationId xmlns:a16="http://schemas.microsoft.com/office/drawing/2014/main" id="{8D317C25-A490-FD7E-85DB-6BE141FB536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4500" t="14894" r="29150" b="15843"/>
          <a:stretch>
            <a:fillRect/>
          </a:stretch>
        </p:blipFill>
        <p:spPr bwMode="auto">
          <a:xfrm>
            <a:off x="8229600" y="5240057"/>
            <a:ext cx="2382648" cy="2376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50864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9A67A-CE8F-F0AE-F90C-C4189DD3C2BD}"/>
            </a:ext>
          </a:extLst>
        </p:cNvPr>
        <p:cNvGrpSpPr/>
        <p:nvPr/>
      </p:nvGrpSpPr>
      <p:grpSpPr>
        <a:xfrm>
          <a:off x="0" y="0"/>
          <a:ext cx="0" cy="0"/>
          <a:chOff x="0" y="0"/>
          <a:chExt cx="0" cy="0"/>
        </a:xfrm>
      </p:grpSpPr>
      <p:sp>
        <p:nvSpPr>
          <p:cNvPr id="11" name="Shape 1">
            <a:extLst>
              <a:ext uri="{FF2B5EF4-FFF2-40B4-BE49-F238E27FC236}">
                <a16:creationId xmlns:a16="http://schemas.microsoft.com/office/drawing/2014/main" id="{9D764552-2CB2-9551-38C8-9540E4BAC51A}"/>
              </a:ext>
            </a:extLst>
          </p:cNvPr>
          <p:cNvSpPr/>
          <p:nvPr/>
        </p:nvSpPr>
        <p:spPr>
          <a:xfrm>
            <a:off x="-9603647" y="1455527"/>
            <a:ext cx="4912529" cy="193570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71CD77F2-246F-0ED6-24D8-C5D4D841C0B5}"/>
              </a:ext>
            </a:extLst>
          </p:cNvPr>
          <p:cNvSpPr/>
          <p:nvPr/>
        </p:nvSpPr>
        <p:spPr>
          <a:xfrm>
            <a:off x="-9450315" y="1596496"/>
            <a:ext cx="4585577"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Dữ liệu thống kê</a:t>
            </a:r>
            <a:endParaRPr lang="en-US" sz="2400" b="1" dirty="0"/>
          </a:p>
        </p:txBody>
      </p:sp>
      <p:sp>
        <p:nvSpPr>
          <p:cNvPr id="13" name="Text 3">
            <a:extLst>
              <a:ext uri="{FF2B5EF4-FFF2-40B4-BE49-F238E27FC236}">
                <a16:creationId xmlns:a16="http://schemas.microsoft.com/office/drawing/2014/main" id="{616CC31A-D769-A2E6-1B94-2379F51E79A2}"/>
              </a:ext>
            </a:extLst>
          </p:cNvPr>
          <p:cNvSpPr/>
          <p:nvPr/>
        </p:nvSpPr>
        <p:spPr>
          <a:xfrm>
            <a:off x="-9227352" y="1941685"/>
            <a:ext cx="4188994" cy="1215372"/>
          </a:xfrm>
          <a:prstGeom prst="rect">
            <a:avLst/>
          </a:prstGeom>
          <a:noFill/>
          <a:ln/>
        </p:spPr>
        <p:txBody>
          <a:bodyPr wrap="square" lIns="0" tIns="0" rIns="0" bIns="0" rtlCol="0" anchor="t"/>
          <a:lstStyle/>
          <a:p>
            <a:pPr marL="0" indent="0">
              <a:lnSpc>
                <a:spcPts val="2850"/>
              </a:lnSpc>
              <a:buNone/>
            </a:pPr>
            <a:r>
              <a:rPr lang="vi-VN" sz="2000">
                <a:solidFill>
                  <a:srgbClr val="464646"/>
                </a:solidFill>
                <a:latin typeface="Arimo Medium" pitchFamily="34" charset="0"/>
                <a:ea typeface="Arimo Medium" pitchFamily="34" charset="-122"/>
                <a:cs typeface="Arimo Medium" pitchFamily="34" charset="-120"/>
              </a:rPr>
              <a:t>Dữ liệu thống kê về mức hung dữ, khoảng cách an toàn,.. của các loài động vật.</a:t>
            </a:r>
          </a:p>
        </p:txBody>
      </p:sp>
      <p:sp>
        <p:nvSpPr>
          <p:cNvPr id="16" name="Shape 1">
            <a:extLst>
              <a:ext uri="{FF2B5EF4-FFF2-40B4-BE49-F238E27FC236}">
                <a16:creationId xmlns:a16="http://schemas.microsoft.com/office/drawing/2014/main" id="{0502E51A-C24B-4B94-0AB8-F4590E786C3B}"/>
              </a:ext>
            </a:extLst>
          </p:cNvPr>
          <p:cNvSpPr/>
          <p:nvPr/>
        </p:nvSpPr>
        <p:spPr>
          <a:xfrm>
            <a:off x="178201" y="774162"/>
            <a:ext cx="14120666" cy="1014660"/>
          </a:xfrm>
          <a:prstGeom prst="roundRect">
            <a:avLst>
              <a:gd name="adj" fmla="val 27784"/>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DCE98C14-E7B8-5351-4529-9C684C63E2EE}"/>
              </a:ext>
            </a:extLst>
          </p:cNvPr>
          <p:cNvSpPr/>
          <p:nvPr/>
        </p:nvSpPr>
        <p:spPr>
          <a:xfrm>
            <a:off x="331533" y="834375"/>
            <a:ext cx="13761657" cy="221729"/>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en-US" sz="2400" b="1" dirty="0"/>
          </a:p>
        </p:txBody>
      </p:sp>
      <p:sp>
        <p:nvSpPr>
          <p:cNvPr id="18" name="Text 3">
            <a:extLst>
              <a:ext uri="{FF2B5EF4-FFF2-40B4-BE49-F238E27FC236}">
                <a16:creationId xmlns:a16="http://schemas.microsoft.com/office/drawing/2014/main" id="{E531BB49-3062-4D92-53DC-5906CD1BEA2A}"/>
              </a:ext>
            </a:extLst>
          </p:cNvPr>
          <p:cNvSpPr/>
          <p:nvPr/>
        </p:nvSpPr>
        <p:spPr>
          <a:xfrm>
            <a:off x="554496" y="1275041"/>
            <a:ext cx="13538694" cy="513781"/>
          </a:xfrm>
          <a:prstGeom prst="rect">
            <a:avLst/>
          </a:prstGeom>
          <a:noFill/>
          <a:ln/>
        </p:spPr>
        <p:txBody>
          <a:bodyPr wrap="square" lIns="0" tIns="0" rIns="0" bIns="0" rtlCol="0" anchor="t"/>
          <a:lstStyle/>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Được tổng hợp, quản lý và gán nhãn (Bounding Box) trực tiếp trên nền tảng Roboflow. </a:t>
            </a:r>
          </a:p>
        </p:txBody>
      </p:sp>
      <p:graphicFrame>
        <p:nvGraphicFramePr>
          <p:cNvPr id="27" name="Table 26">
            <a:extLst>
              <a:ext uri="{FF2B5EF4-FFF2-40B4-BE49-F238E27FC236}">
                <a16:creationId xmlns:a16="http://schemas.microsoft.com/office/drawing/2014/main" id="{79D9AC1E-CF8B-0B84-D437-C4FCD058E2AD}"/>
              </a:ext>
            </a:extLst>
          </p:cNvPr>
          <p:cNvGraphicFramePr>
            <a:graphicFrameLocks noGrp="1"/>
          </p:cNvGraphicFramePr>
          <p:nvPr/>
        </p:nvGraphicFramePr>
        <p:xfrm>
          <a:off x="-10401940" y="4093728"/>
          <a:ext cx="6909894" cy="3522980"/>
        </p:xfrm>
        <a:graphic>
          <a:graphicData uri="http://schemas.openxmlformats.org/drawingml/2006/table">
            <a:tbl>
              <a:tblPr firstRow="1" bandRow="1">
                <a:tableStyleId>{5940675A-B579-460E-94D1-54222C63F5DA}</a:tableStyleId>
              </a:tblPr>
              <a:tblGrid>
                <a:gridCol w="888234">
                  <a:extLst>
                    <a:ext uri="{9D8B030D-6E8A-4147-A177-3AD203B41FA5}">
                      <a16:colId xmlns:a16="http://schemas.microsoft.com/office/drawing/2014/main" val="424760078"/>
                    </a:ext>
                  </a:extLst>
                </a:gridCol>
                <a:gridCol w="1371600">
                  <a:extLst>
                    <a:ext uri="{9D8B030D-6E8A-4147-A177-3AD203B41FA5}">
                      <a16:colId xmlns:a16="http://schemas.microsoft.com/office/drawing/2014/main" val="1417128821"/>
                    </a:ext>
                  </a:extLst>
                </a:gridCol>
                <a:gridCol w="1393903">
                  <a:extLst>
                    <a:ext uri="{9D8B030D-6E8A-4147-A177-3AD203B41FA5}">
                      <a16:colId xmlns:a16="http://schemas.microsoft.com/office/drawing/2014/main" val="1228329708"/>
                    </a:ext>
                  </a:extLst>
                </a:gridCol>
                <a:gridCol w="1382751">
                  <a:extLst>
                    <a:ext uri="{9D8B030D-6E8A-4147-A177-3AD203B41FA5}">
                      <a16:colId xmlns:a16="http://schemas.microsoft.com/office/drawing/2014/main" val="3727490227"/>
                    </a:ext>
                  </a:extLst>
                </a:gridCol>
                <a:gridCol w="1873406">
                  <a:extLst>
                    <a:ext uri="{9D8B030D-6E8A-4147-A177-3AD203B41FA5}">
                      <a16:colId xmlns:a16="http://schemas.microsoft.com/office/drawing/2014/main" val="2468364354"/>
                    </a:ext>
                  </a:extLst>
                </a:gridCol>
              </a:tblGrid>
              <a:tr h="370840">
                <a:tc>
                  <a:txBody>
                    <a:bodyPr/>
                    <a:lstStyle/>
                    <a:p>
                      <a:pPr algn="ctr" fontAlgn="b">
                        <a:buNone/>
                      </a:pPr>
                      <a:r>
                        <a:rPr lang="en-US" sz="1800" b="1" i="0" u="none" strike="noStrike">
                          <a:solidFill>
                            <a:srgbClr val="000000"/>
                          </a:solidFill>
                          <a:effectLst/>
                          <a:latin typeface="Aptos Narrow" panose="020B0004020202020204" pitchFamily="34" charset="0"/>
                        </a:rPr>
                        <a:t>ID_Loai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Ten_Loai</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Muc_Hung_Du</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Toc_Do (km/h)</a:t>
                      </a:r>
                    </a:p>
                  </a:txBody>
                  <a:tcPr marL="7620" marR="7620" marT="7620" marB="0" anchor="ctr">
                    <a:solidFill>
                      <a:srgbClr val="92D050"/>
                    </a:solidFill>
                  </a:tcPr>
                </a:tc>
                <a:tc>
                  <a:txBody>
                    <a:bodyPr/>
                    <a:lstStyle/>
                    <a:p>
                      <a:pPr algn="ctr" fontAlgn="b">
                        <a:buNone/>
                      </a:pPr>
                      <a:r>
                        <a:rPr lang="en-US" sz="1800" b="1" i="0" u="none" strike="noStrike">
                          <a:solidFill>
                            <a:srgbClr val="000000"/>
                          </a:solidFill>
                          <a:effectLst/>
                          <a:latin typeface="Aptos Narrow" panose="020B0004020202020204" pitchFamily="34" charset="0"/>
                        </a:rPr>
                        <a:t>Khoang_Cach_An_Toan (m)</a:t>
                      </a:r>
                    </a:p>
                  </a:txBody>
                  <a:tcPr marL="7620" marR="7620" marT="7620" marB="0" anchor="ctr">
                    <a:solidFill>
                      <a:srgbClr val="92D050"/>
                    </a:solidFill>
                  </a:tcPr>
                </a:tc>
                <a:extLst>
                  <a:ext uri="{0D108BD9-81ED-4DB2-BD59-A6C34878D82A}">
                    <a16:rowId xmlns:a16="http://schemas.microsoft.com/office/drawing/2014/main" val="2544393828"/>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boar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30</a:t>
                      </a:r>
                    </a:p>
                  </a:txBody>
                  <a:tcPr marL="7620" marR="7620" marT="7620" marB="0" anchor="b"/>
                </a:tc>
                <a:extLst>
                  <a:ext uri="{0D108BD9-81ED-4DB2-BD59-A6C34878D82A}">
                    <a16:rowId xmlns:a16="http://schemas.microsoft.com/office/drawing/2014/main" val="250344243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2</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cat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0</a:t>
                      </a:r>
                    </a:p>
                  </a:txBody>
                  <a:tcPr marL="7620" marR="7620" marT="7620" marB="0" anchor="b"/>
                </a:tc>
                <a:extLst>
                  <a:ext uri="{0D108BD9-81ED-4DB2-BD59-A6C34878D82A}">
                    <a16:rowId xmlns:a16="http://schemas.microsoft.com/office/drawing/2014/main" val="103193261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3</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deer</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2253220842"/>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elephant</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1515277694"/>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kangaroo</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70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10</a:t>
                      </a:r>
                    </a:p>
                  </a:txBody>
                  <a:tcPr marL="7620" marR="7620" marT="7620" marB="0" anchor="b"/>
                </a:tc>
                <a:extLst>
                  <a:ext uri="{0D108BD9-81ED-4DB2-BD59-A6C34878D82A}">
                    <a16:rowId xmlns:a16="http://schemas.microsoft.com/office/drawing/2014/main" val="1085734541"/>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6</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snake</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19</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a:t>
                      </a:r>
                    </a:p>
                  </a:txBody>
                  <a:tcPr marL="7620" marR="7620" marT="7620" marB="0" anchor="b"/>
                </a:tc>
                <a:extLst>
                  <a:ext uri="{0D108BD9-81ED-4DB2-BD59-A6C34878D82A}">
                    <a16:rowId xmlns:a16="http://schemas.microsoft.com/office/drawing/2014/main" val="1616330326"/>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7</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wolf</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8.5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60</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50</a:t>
                      </a:r>
                    </a:p>
                  </a:txBody>
                  <a:tcPr marL="7620" marR="7620" marT="7620" marB="0" anchor="b"/>
                </a:tc>
                <a:extLst>
                  <a:ext uri="{0D108BD9-81ED-4DB2-BD59-A6C34878D82A}">
                    <a16:rowId xmlns:a16="http://schemas.microsoft.com/office/drawing/2014/main" val="3344603629"/>
                  </a:ext>
                </a:extLst>
              </a:tr>
              <a:tr h="370840">
                <a:tc>
                  <a:txBody>
                    <a:bodyPr/>
                    <a:lstStyle/>
                    <a:p>
                      <a:pPr algn="ctr" fontAlgn="b">
                        <a:buNone/>
                      </a:pPr>
                      <a:r>
                        <a:rPr lang="en-US" sz="1800" b="0" i="0" u="none" strike="noStrike">
                          <a:solidFill>
                            <a:srgbClr val="000000"/>
                          </a:solidFill>
                          <a:effectLst/>
                          <a:latin typeface="Aptos Narrow" panose="020B0004020202020204" pitchFamily="34" charset="0"/>
                        </a:rPr>
                        <a:t>8</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zebra</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4</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65</a:t>
                      </a:r>
                    </a:p>
                  </a:txBody>
                  <a:tcPr marL="7620" marR="7620" marT="7620" marB="0" anchor="b"/>
                </a:tc>
                <a:tc>
                  <a:txBody>
                    <a:bodyPr/>
                    <a:lstStyle/>
                    <a:p>
                      <a:pPr algn="ctr" fontAlgn="b">
                        <a:buNone/>
                      </a:pPr>
                      <a:r>
                        <a:rPr lang="en-US" sz="1800" b="0" i="0" u="none" strike="noStrike">
                          <a:solidFill>
                            <a:srgbClr val="000000"/>
                          </a:solidFill>
                          <a:effectLst/>
                          <a:latin typeface="Aptos Narrow" panose="020B0004020202020204" pitchFamily="34" charset="0"/>
                        </a:rPr>
                        <a:t>15</a:t>
                      </a:r>
                    </a:p>
                  </a:txBody>
                  <a:tcPr marL="7620" marR="7620" marT="7620" marB="0" anchor="b"/>
                </a:tc>
                <a:extLst>
                  <a:ext uri="{0D108BD9-81ED-4DB2-BD59-A6C34878D82A}">
                    <a16:rowId xmlns:a16="http://schemas.microsoft.com/office/drawing/2014/main" val="863576918"/>
                  </a:ext>
                </a:extLst>
              </a:tr>
            </a:tbl>
          </a:graphicData>
        </a:graphic>
      </p:graphicFrame>
      <p:sp>
        <p:nvSpPr>
          <p:cNvPr id="2" name="Text 0">
            <a:extLst>
              <a:ext uri="{FF2B5EF4-FFF2-40B4-BE49-F238E27FC236}">
                <a16:creationId xmlns:a16="http://schemas.microsoft.com/office/drawing/2014/main" id="{5167B37B-75B0-6C8B-603D-9C6316AF7E1C}"/>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4" name="Shape 1">
            <a:extLst>
              <a:ext uri="{FF2B5EF4-FFF2-40B4-BE49-F238E27FC236}">
                <a16:creationId xmlns:a16="http://schemas.microsoft.com/office/drawing/2014/main" id="{8B360C63-F1BB-1492-C20A-86BC55E775E2}"/>
              </a:ext>
            </a:extLst>
          </p:cNvPr>
          <p:cNvSpPr/>
          <p:nvPr/>
        </p:nvSpPr>
        <p:spPr>
          <a:xfrm>
            <a:off x="178201" y="2672253"/>
            <a:ext cx="6613048" cy="1935705"/>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AAC838C4-FA39-1A1F-B539-2898EA17D8A8}"/>
              </a:ext>
            </a:extLst>
          </p:cNvPr>
          <p:cNvSpPr/>
          <p:nvPr/>
        </p:nvSpPr>
        <p:spPr>
          <a:xfrm>
            <a:off x="331533" y="2813221"/>
            <a:ext cx="6241612"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Tiền xử lý &amp; Tăng cường </a:t>
            </a:r>
            <a:endParaRPr lang="en-US" sz="2400" b="1" dirty="0"/>
          </a:p>
        </p:txBody>
      </p:sp>
      <p:sp>
        <p:nvSpPr>
          <p:cNvPr id="6" name="Text 3">
            <a:extLst>
              <a:ext uri="{FF2B5EF4-FFF2-40B4-BE49-F238E27FC236}">
                <a16:creationId xmlns:a16="http://schemas.microsoft.com/office/drawing/2014/main" id="{AFE0348E-3E38-A8DA-4B4E-E44627C4FA50}"/>
              </a:ext>
            </a:extLst>
          </p:cNvPr>
          <p:cNvSpPr/>
          <p:nvPr/>
        </p:nvSpPr>
        <p:spPr>
          <a:xfrm>
            <a:off x="554495" y="3255476"/>
            <a:ext cx="5889513" cy="1122507"/>
          </a:xfrm>
          <a:prstGeom prst="rect">
            <a:avLst/>
          </a:prstGeom>
          <a:noFill/>
          <a:ln/>
        </p:spPr>
        <p:txBody>
          <a:bodyPr wrap="square" lIns="0" tIns="0" rIns="0" bIns="0" rtlCol="0" anchor="t"/>
          <a:lstStyle/>
          <a:p>
            <a:pPr marL="0" indent="0" algn="ctr">
              <a:lnSpc>
                <a:spcPts val="2850"/>
              </a:lnSpc>
              <a:buNone/>
            </a:pPr>
            <a:r>
              <a:rPr lang="en-US" sz="2000">
                <a:solidFill>
                  <a:srgbClr val="464646"/>
                </a:solidFill>
                <a:latin typeface="Arimo Medium" pitchFamily="34" charset="0"/>
                <a:ea typeface="Arimo Medium" pitchFamily="34" charset="-122"/>
                <a:cs typeface="Arimo Medium" pitchFamily="34" charset="-120"/>
              </a:rPr>
              <a:t>C</a:t>
            </a:r>
            <a:r>
              <a:rPr lang="vi-VN" sz="2000">
                <a:solidFill>
                  <a:srgbClr val="464646"/>
                </a:solidFill>
                <a:latin typeface="Arimo Medium" pitchFamily="34" charset="0"/>
                <a:ea typeface="Arimo Medium" pitchFamily="34" charset="-122"/>
                <a:cs typeface="Arimo Medium" pitchFamily="34" charset="-120"/>
              </a:rPr>
              <a:t>huẩn hóa kích thước (Resize) 224 x 224 pixels.</a:t>
            </a:r>
            <a:endParaRPr lang="en-US" sz="2000">
              <a:solidFill>
                <a:srgbClr val="464646"/>
              </a:solidFill>
              <a:latin typeface="Arimo Medium" pitchFamily="34" charset="0"/>
              <a:ea typeface="Arimo Medium" pitchFamily="34" charset="-122"/>
              <a:cs typeface="Arimo Medium" pitchFamily="34" charset="-120"/>
            </a:endParaRPr>
          </a:p>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 Áp dụng kỹ thuật Tăng cường dữ liệu </a:t>
            </a:r>
            <a:r>
              <a:rPr lang="en-US" sz="2000">
                <a:solidFill>
                  <a:srgbClr val="464646"/>
                </a:solidFill>
                <a:latin typeface="Arimo Medium" pitchFamily="34" charset="0"/>
                <a:ea typeface="Arimo Medium" pitchFamily="34" charset="-122"/>
                <a:cs typeface="Arimo Medium" pitchFamily="34" charset="-120"/>
              </a:rPr>
              <a:t>(</a:t>
            </a:r>
            <a:r>
              <a:rPr lang="vi-VN" sz="2000">
                <a:solidFill>
                  <a:srgbClr val="464646"/>
                </a:solidFill>
                <a:latin typeface="Arimo Medium" pitchFamily="34" charset="0"/>
                <a:ea typeface="Arimo Medium" pitchFamily="34" charset="-122"/>
                <a:cs typeface="Arimo Medium" pitchFamily="34" charset="-120"/>
              </a:rPr>
              <a:t> Flip, Brightness...)</a:t>
            </a:r>
            <a:r>
              <a:rPr lang="en-US" sz="2000">
                <a:solidFill>
                  <a:srgbClr val="464646"/>
                </a:solidFill>
                <a:latin typeface="Arimo Medium" pitchFamily="34" charset="0"/>
                <a:ea typeface="Arimo Medium" pitchFamily="34" charset="-122"/>
                <a:cs typeface="Arimo Medium" pitchFamily="34" charset="-120"/>
              </a:rPr>
              <a:t>.</a:t>
            </a:r>
            <a:endParaRPr lang="vi-VN" sz="2000">
              <a:solidFill>
                <a:srgbClr val="464646"/>
              </a:solidFill>
              <a:latin typeface="Arimo Medium" pitchFamily="34" charset="0"/>
              <a:ea typeface="Arimo Medium" pitchFamily="34" charset="-122"/>
              <a:cs typeface="Arimo Medium" pitchFamily="34" charset="-120"/>
            </a:endParaRPr>
          </a:p>
        </p:txBody>
      </p:sp>
      <p:pic>
        <p:nvPicPr>
          <p:cNvPr id="8" name="image4.png">
            <a:extLst>
              <a:ext uri="{FF2B5EF4-FFF2-40B4-BE49-F238E27FC236}">
                <a16:creationId xmlns:a16="http://schemas.microsoft.com/office/drawing/2014/main" id="{E142F32D-9B2E-D397-BB29-643A2D81DB0A}"/>
              </a:ext>
            </a:extLst>
          </p:cNvPr>
          <p:cNvPicPr/>
          <p:nvPr/>
        </p:nvPicPr>
        <p:blipFill>
          <a:blip r:embed="rId3"/>
          <a:srcRect l="24832"/>
          <a:stretch>
            <a:fillRect/>
          </a:stretch>
        </p:blipFill>
        <p:spPr>
          <a:xfrm>
            <a:off x="7167544" y="1985945"/>
            <a:ext cx="7462856" cy="6243655"/>
          </a:xfrm>
          <a:prstGeom prst="rect">
            <a:avLst/>
          </a:prstGeom>
          <a:ln/>
        </p:spPr>
      </p:pic>
      <p:sp>
        <p:nvSpPr>
          <p:cNvPr id="3" name="Shape 1">
            <a:extLst>
              <a:ext uri="{FF2B5EF4-FFF2-40B4-BE49-F238E27FC236}">
                <a16:creationId xmlns:a16="http://schemas.microsoft.com/office/drawing/2014/main" id="{313266F0-1361-9517-14A1-DA903D338F1F}"/>
              </a:ext>
            </a:extLst>
          </p:cNvPr>
          <p:cNvSpPr/>
          <p:nvPr/>
        </p:nvSpPr>
        <p:spPr>
          <a:xfrm>
            <a:off x="207256" y="5335150"/>
            <a:ext cx="6613048" cy="2281558"/>
          </a:xfrm>
          <a:prstGeom prst="roundRect">
            <a:avLst>
              <a:gd name="adj" fmla="val 12013"/>
            </a:avLst>
          </a:prstGeom>
          <a:solidFill>
            <a:srgbClr val="F2EEEE"/>
          </a:solidFill>
          <a:ln/>
        </p:spPr>
        <p:txBody>
          <a:bodyPr/>
          <a:lstStyle/>
          <a:p>
            <a:endParaRPr lang="en-US"/>
          </a:p>
        </p:txBody>
      </p:sp>
      <p:sp>
        <p:nvSpPr>
          <p:cNvPr id="7" name="Text 2">
            <a:extLst>
              <a:ext uri="{FF2B5EF4-FFF2-40B4-BE49-F238E27FC236}">
                <a16:creationId xmlns:a16="http://schemas.microsoft.com/office/drawing/2014/main" id="{A2704434-E750-004F-D86E-6E12C0B573E7}"/>
              </a:ext>
            </a:extLst>
          </p:cNvPr>
          <p:cNvSpPr/>
          <p:nvPr/>
        </p:nvSpPr>
        <p:spPr>
          <a:xfrm>
            <a:off x="360588" y="5476118"/>
            <a:ext cx="6241612"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Phân chia tập dữ liệu </a:t>
            </a:r>
            <a:endParaRPr lang="en-US" sz="2400" b="1" dirty="0"/>
          </a:p>
        </p:txBody>
      </p:sp>
      <p:sp>
        <p:nvSpPr>
          <p:cNvPr id="9" name="Text 3">
            <a:extLst>
              <a:ext uri="{FF2B5EF4-FFF2-40B4-BE49-F238E27FC236}">
                <a16:creationId xmlns:a16="http://schemas.microsoft.com/office/drawing/2014/main" id="{C4009D39-1674-D41E-1139-390235E09FC3}"/>
              </a:ext>
            </a:extLst>
          </p:cNvPr>
          <p:cNvSpPr/>
          <p:nvPr/>
        </p:nvSpPr>
        <p:spPr>
          <a:xfrm>
            <a:off x="583550" y="5918373"/>
            <a:ext cx="5889513" cy="1122507"/>
          </a:xfrm>
          <a:prstGeom prst="rect">
            <a:avLst/>
          </a:prstGeom>
          <a:noFill/>
          <a:ln/>
        </p:spPr>
        <p:txBody>
          <a:bodyPr wrap="square" lIns="0" tIns="0" rIns="0" bIns="0" rtlCol="0" anchor="t"/>
          <a:lstStyle/>
          <a:p>
            <a:pPr marL="0" indent="0" algn="ctr">
              <a:lnSpc>
                <a:spcPts val="2850"/>
              </a:lnSpc>
              <a:buNone/>
            </a:pPr>
            <a:r>
              <a:rPr lang="en-US" sz="2000">
                <a:solidFill>
                  <a:srgbClr val="464646"/>
                </a:solidFill>
                <a:latin typeface="Arimo Medium" pitchFamily="34" charset="0"/>
                <a:ea typeface="Arimo Medium" pitchFamily="34" charset="-122"/>
                <a:cs typeface="Arimo Medium" pitchFamily="34" charset="-120"/>
              </a:rPr>
              <a:t>K</a:t>
            </a:r>
            <a:r>
              <a:rPr lang="vi-VN" sz="2000">
                <a:solidFill>
                  <a:srgbClr val="464646"/>
                </a:solidFill>
                <a:latin typeface="Arimo Medium" pitchFamily="34" charset="0"/>
                <a:ea typeface="Arimo Medium" pitchFamily="34" charset="-122"/>
                <a:cs typeface="Arimo Medium" pitchFamily="34" charset="-120"/>
              </a:rPr>
              <a:t>hởi tạo ban đầu là Train/Valid/Test (70/20/10). </a:t>
            </a:r>
            <a:r>
              <a:rPr lang="en-US" sz="2000">
                <a:solidFill>
                  <a:srgbClr val="464646"/>
                </a:solidFill>
                <a:latin typeface="Arimo Medium" pitchFamily="34" charset="0"/>
                <a:ea typeface="Arimo Medium" pitchFamily="34" charset="-122"/>
                <a:cs typeface="Arimo Medium" pitchFamily="34" charset="-120"/>
              </a:rPr>
              <a:t>nhưng</a:t>
            </a:r>
            <a:r>
              <a:rPr lang="vi-VN" sz="2000">
                <a:solidFill>
                  <a:srgbClr val="464646"/>
                </a:solidFill>
                <a:latin typeface="Arimo Medium" pitchFamily="34" charset="0"/>
                <a:ea typeface="Arimo Medium" pitchFamily="34" charset="-122"/>
                <a:cs typeface="Arimo Medium" pitchFamily="34" charset="-120"/>
              </a:rPr>
              <a:t> Augmentation chỉ </a:t>
            </a:r>
            <a:r>
              <a:rPr lang="en-US" sz="2000">
                <a:solidFill>
                  <a:srgbClr val="464646"/>
                </a:solidFill>
                <a:latin typeface="Arimo Medium" pitchFamily="34" charset="0"/>
                <a:ea typeface="Arimo Medium" pitchFamily="34" charset="-122"/>
                <a:cs typeface="Arimo Medium" pitchFamily="34" charset="-120"/>
              </a:rPr>
              <a:t>á</a:t>
            </a:r>
            <a:r>
              <a:rPr lang="vi-VN" sz="2000">
                <a:solidFill>
                  <a:srgbClr val="464646"/>
                </a:solidFill>
                <a:latin typeface="Arimo Medium" pitchFamily="34" charset="0"/>
                <a:ea typeface="Arimo Medium" pitchFamily="34" charset="-122"/>
                <a:cs typeface="Arimo Medium" pitchFamily="34" charset="-120"/>
              </a:rPr>
              <a:t>p dụng lên tập Train </a:t>
            </a:r>
            <a:r>
              <a:rPr lang="en-US" sz="2000">
                <a:solidFill>
                  <a:srgbClr val="464646"/>
                </a:solidFill>
                <a:latin typeface="Arimo Medium" pitchFamily="34" charset="0"/>
                <a:ea typeface="Arimo Medium" pitchFamily="34" charset="-122"/>
                <a:cs typeface="Arimo Medium" pitchFamily="34" charset="-120"/>
              </a:rPr>
              <a:t>nên </a:t>
            </a:r>
            <a:r>
              <a:rPr lang="vi-VN" sz="2000">
                <a:solidFill>
                  <a:srgbClr val="464646"/>
                </a:solidFill>
                <a:latin typeface="Arimo Medium" pitchFamily="34" charset="0"/>
                <a:ea typeface="Arimo Medium" pitchFamily="34" charset="-122"/>
                <a:cs typeface="Arimo Medium" pitchFamily="34" charset="-120"/>
              </a:rPr>
              <a:t>tỷ lệ cuối cùng </a:t>
            </a: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87/09/04</a:t>
            </a:r>
            <a:r>
              <a:rPr lang="vi-VN" sz="2000">
                <a:solidFill>
                  <a:srgbClr val="464646"/>
                </a:solidFill>
                <a:latin typeface="Arimo Medium" pitchFamily="34" charset="0"/>
                <a:ea typeface="Arimo Medium" pitchFamily="34" charset="-122"/>
                <a:cs typeface="Arimo Medium" pitchFamily="34" charset="-120"/>
              </a:rPr>
              <a:t> (Tương ứng: </a:t>
            </a:r>
            <a:r>
              <a:rPr lang="en-US" sz="2000">
                <a:solidFill>
                  <a:srgbClr val="464646"/>
                </a:solidFill>
                <a:latin typeface="Arimo Medium" pitchFamily="34" charset="0"/>
                <a:ea typeface="Arimo Medium" pitchFamily="34" charset="-122"/>
                <a:cs typeface="Arimo Medium" pitchFamily="34" charset="-120"/>
              </a:rPr>
              <a:t>7056</a:t>
            </a:r>
            <a:r>
              <a:rPr lang="vi-VN" sz="2000">
                <a:solidFill>
                  <a:srgbClr val="464646"/>
                </a:solidFill>
                <a:latin typeface="Arimo Medium" pitchFamily="34" charset="0"/>
                <a:ea typeface="Arimo Medium" pitchFamily="34" charset="-122"/>
                <a:cs typeface="Arimo Medium" pitchFamily="34" charset="-120"/>
              </a:rPr>
              <a:t> ảnh Train, </a:t>
            </a:r>
            <a:r>
              <a:rPr lang="en-US" sz="2000">
                <a:solidFill>
                  <a:srgbClr val="464646"/>
                </a:solidFill>
                <a:latin typeface="Arimo Medium" pitchFamily="34" charset="0"/>
                <a:ea typeface="Arimo Medium" pitchFamily="34" charset="-122"/>
                <a:cs typeface="Arimo Medium" pitchFamily="34" charset="-120"/>
              </a:rPr>
              <a:t>672</a:t>
            </a:r>
            <a:r>
              <a:rPr lang="vi-VN" sz="2000">
                <a:solidFill>
                  <a:srgbClr val="464646"/>
                </a:solidFill>
                <a:latin typeface="Arimo Medium" pitchFamily="34" charset="0"/>
                <a:ea typeface="Arimo Medium" pitchFamily="34" charset="-122"/>
                <a:cs typeface="Arimo Medium" pitchFamily="34" charset="-120"/>
              </a:rPr>
              <a:t> ảnh Valid, </a:t>
            </a:r>
            <a:r>
              <a:rPr lang="en-US" sz="2000">
                <a:solidFill>
                  <a:srgbClr val="464646"/>
                </a:solidFill>
                <a:latin typeface="Arimo Medium" pitchFamily="34" charset="0"/>
                <a:ea typeface="Arimo Medium" pitchFamily="34" charset="-122"/>
                <a:cs typeface="Arimo Medium" pitchFamily="34" charset="-120"/>
              </a:rPr>
              <a:t>336</a:t>
            </a:r>
            <a:r>
              <a:rPr lang="vi-VN" sz="2000">
                <a:solidFill>
                  <a:srgbClr val="464646"/>
                </a:solidFill>
                <a:latin typeface="Arimo Medium" pitchFamily="34" charset="0"/>
                <a:ea typeface="Arimo Medium" pitchFamily="34" charset="-122"/>
                <a:cs typeface="Arimo Medium" pitchFamily="34" charset="-120"/>
              </a:rPr>
              <a:t> ảnh Test) </a:t>
            </a:r>
          </a:p>
        </p:txBody>
      </p:sp>
    </p:spTree>
    <p:extLst>
      <p:ext uri="{BB962C8B-B14F-4D97-AF65-F5344CB8AC3E}">
        <p14:creationId xmlns:p14="http://schemas.microsoft.com/office/powerpoint/2010/main" val="388206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CD185-9723-804E-06D4-2778D7DD3E5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DEE4A093-B83C-4666-3593-3A1767B5EE28}"/>
              </a:ext>
            </a:extLst>
          </p:cNvPr>
          <p:cNvPicPr>
            <a:picLocks noChangeAspect="1"/>
          </p:cNvPicPr>
          <p:nvPr/>
        </p:nvPicPr>
        <p:blipFill>
          <a:blip r:embed="rId3"/>
          <a:stretch>
            <a:fillRect/>
          </a:stretch>
        </p:blipFill>
        <p:spPr>
          <a:xfrm>
            <a:off x="6792499" y="713409"/>
            <a:ext cx="7837901" cy="30329752"/>
          </a:xfrm>
          <a:prstGeom prst="rect">
            <a:avLst/>
          </a:prstGeom>
        </p:spPr>
      </p:pic>
      <p:sp>
        <p:nvSpPr>
          <p:cNvPr id="2" name="Text 0">
            <a:extLst>
              <a:ext uri="{FF2B5EF4-FFF2-40B4-BE49-F238E27FC236}">
                <a16:creationId xmlns:a16="http://schemas.microsoft.com/office/drawing/2014/main" id="{ED609E1E-FFCD-0DB9-B675-5B67A0A4A5A9}"/>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4" name="Shape 1">
            <a:extLst>
              <a:ext uri="{FF2B5EF4-FFF2-40B4-BE49-F238E27FC236}">
                <a16:creationId xmlns:a16="http://schemas.microsoft.com/office/drawing/2014/main" id="{63254FAA-AE92-07A3-5187-433D9BFF7430}"/>
              </a:ext>
            </a:extLst>
          </p:cNvPr>
          <p:cNvSpPr/>
          <p:nvPr/>
        </p:nvSpPr>
        <p:spPr>
          <a:xfrm>
            <a:off x="178201" y="713409"/>
            <a:ext cx="6613048" cy="7293167"/>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94AED165-80E9-E577-24D6-800327C0C005}"/>
              </a:ext>
            </a:extLst>
          </p:cNvPr>
          <p:cNvSpPr/>
          <p:nvPr/>
        </p:nvSpPr>
        <p:spPr>
          <a:xfrm>
            <a:off x="549637" y="908382"/>
            <a:ext cx="624161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thông số</a:t>
            </a:r>
            <a:endParaRPr lang="en-US" sz="2400" b="1" dirty="0"/>
          </a:p>
        </p:txBody>
      </p:sp>
      <p:sp>
        <p:nvSpPr>
          <p:cNvPr id="6" name="Text 3">
            <a:extLst>
              <a:ext uri="{FF2B5EF4-FFF2-40B4-BE49-F238E27FC236}">
                <a16:creationId xmlns:a16="http://schemas.microsoft.com/office/drawing/2014/main" id="{D522A27D-388C-27F7-AC7E-1A0C7CF68D15}"/>
              </a:ext>
            </a:extLst>
          </p:cNvPr>
          <p:cNvSpPr/>
          <p:nvPr/>
        </p:nvSpPr>
        <p:spPr>
          <a:xfrm>
            <a:off x="725686" y="1455527"/>
            <a:ext cx="5889513" cy="6058786"/>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Phiên bản: </a:t>
            </a:r>
            <a:r>
              <a:rPr lang="vi-VN" sz="2000" b="1">
                <a:solidFill>
                  <a:srgbClr val="464646"/>
                </a:solidFill>
                <a:latin typeface="Arimo Medium" pitchFamily="34" charset="0"/>
                <a:ea typeface="Arimo Medium" pitchFamily="34" charset="-122"/>
                <a:cs typeface="Arimo Medium" pitchFamily="34" charset="-120"/>
              </a:rPr>
              <a:t>YOLOv8n</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3,007,208</a:t>
            </a:r>
            <a:r>
              <a:rPr lang="vi-VN" sz="2000">
                <a:solidFill>
                  <a:srgbClr val="464646"/>
                </a:solidFill>
                <a:latin typeface="Arimo Medium" pitchFamily="34" charset="0"/>
                <a:ea typeface="Arimo Medium" pitchFamily="34" charset="-122"/>
                <a:cs typeface="Arimo Medium" pitchFamily="34" charset="-120"/>
              </a:rPr>
              <a:t> tham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Mạng được thiết kế với </a:t>
            </a:r>
            <a:r>
              <a:rPr lang="vi-VN" sz="2000" b="1">
                <a:solidFill>
                  <a:srgbClr val="464646"/>
                </a:solidFill>
                <a:latin typeface="Arimo Medium" pitchFamily="34" charset="0"/>
                <a:ea typeface="Arimo Medium" pitchFamily="34" charset="-122"/>
                <a:cs typeface="Arimo Medium" pitchFamily="34" charset="-120"/>
              </a:rPr>
              <a:t>22</a:t>
            </a:r>
            <a:r>
              <a:rPr lang="vi-VN" sz="2000">
                <a:solidFill>
                  <a:srgbClr val="464646"/>
                </a:solidFill>
                <a:latin typeface="Arimo Medium" pitchFamily="34" charset="0"/>
                <a:ea typeface="Arimo Medium" pitchFamily="34" charset="-122"/>
                <a:cs typeface="Arimo Medium" pitchFamily="34" charset="-120"/>
              </a:rPr>
              <a:t> modules chính</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tương đương với </a:t>
            </a:r>
            <a:r>
              <a:rPr lang="vi-VN" sz="2000" b="1">
                <a:solidFill>
                  <a:srgbClr val="464646"/>
                </a:solidFill>
                <a:latin typeface="Arimo Medium" pitchFamily="34" charset="0"/>
                <a:ea typeface="Arimo Medium" pitchFamily="34" charset="-122"/>
                <a:cs typeface="Arimo Medium" pitchFamily="34" charset="-120"/>
              </a:rPr>
              <a:t>168</a:t>
            </a:r>
            <a:r>
              <a:rPr lang="vi-VN" sz="2000">
                <a:solidFill>
                  <a:srgbClr val="464646"/>
                </a:solidFill>
                <a:latin typeface="Arimo Medium" pitchFamily="34" charset="0"/>
                <a:ea typeface="Arimo Medium" pitchFamily="34" charset="-122"/>
                <a:cs typeface="Arimo Medium" pitchFamily="34" charset="-120"/>
              </a:rPr>
              <a:t> lớp tính toán ẩn.</a:t>
            </a:r>
          </a:p>
          <a:p>
            <a:pPr>
              <a:lnSpc>
                <a:spcPct val="150000"/>
              </a:lnSpc>
            </a:pPr>
            <a:r>
              <a:rPr lang="en-US" sz="2000">
                <a:solidFill>
                  <a:srgbClr val="464646"/>
                </a:solidFill>
                <a:latin typeface="Arimo Medium" pitchFamily="34" charset="0"/>
                <a:ea typeface="Arimo Medium" pitchFamily="34" charset="-122"/>
                <a:cs typeface="Arimo Medium" pitchFamily="34" charset="-120"/>
              </a:rPr>
              <a:t>- Epochs, batch: T</a:t>
            </a:r>
            <a:r>
              <a:rPr lang="vi-VN" sz="2000">
                <a:solidFill>
                  <a:srgbClr val="464646"/>
                </a:solidFill>
                <a:latin typeface="Arimo Medium" pitchFamily="34" charset="0"/>
                <a:ea typeface="Arimo Medium" pitchFamily="34" charset="-122"/>
                <a:cs typeface="Arimo Medium" pitchFamily="34" charset="-120"/>
              </a:rPr>
              <a:t>ối đa 150 </a:t>
            </a:r>
            <a:r>
              <a:rPr lang="vi-VN" sz="2000" b="1">
                <a:solidFill>
                  <a:srgbClr val="464646"/>
                </a:solidFill>
                <a:latin typeface="Arimo Medium" pitchFamily="34" charset="0"/>
                <a:ea typeface="Arimo Medium" pitchFamily="34" charset="-122"/>
                <a:cs typeface="Arimo Medium" pitchFamily="34" charset="-120"/>
              </a:rPr>
              <a:t>epochs</a:t>
            </a:r>
            <a:r>
              <a:rPr lang="vi-VN" sz="2000">
                <a:solidFill>
                  <a:srgbClr val="464646"/>
                </a:solidFill>
                <a:latin typeface="Arimo Medium" pitchFamily="34" charset="0"/>
                <a:ea typeface="Arimo Medium" pitchFamily="34" charset="-122"/>
                <a:cs typeface="Arimo Medium" pitchFamily="34" charset="-120"/>
              </a:rPr>
              <a:t>, mỗi lần nạp</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batch</a:t>
            </a:r>
            <a:r>
              <a:rPr lang="vi-VN" sz="2000">
                <a:solidFill>
                  <a:srgbClr val="464646"/>
                </a:solidFill>
                <a:latin typeface="Arimo Medium" pitchFamily="34" charset="0"/>
                <a:ea typeface="Arimo Medium" pitchFamily="34" charset="-122"/>
                <a:cs typeface="Arimo Medium" pitchFamily="34" charset="-120"/>
              </a:rPr>
              <a:t> = </a:t>
            </a:r>
            <a:r>
              <a:rPr lang="vi-VN" sz="2000" b="1">
                <a:solidFill>
                  <a:srgbClr val="464646"/>
                </a:solidFill>
                <a:latin typeface="Arimo Medium" pitchFamily="34" charset="0"/>
                <a:ea typeface="Arimo Medium" pitchFamily="34" charset="-122"/>
                <a:cs typeface="Arimo Medium" pitchFamily="34" charset="-120"/>
              </a:rPr>
              <a:t>32</a:t>
            </a:r>
            <a:r>
              <a:rPr lang="vi-VN" sz="2000">
                <a:solidFill>
                  <a:srgbClr val="464646"/>
                </a:solidFill>
                <a:latin typeface="Arimo Medium" pitchFamily="34" charset="0"/>
                <a:ea typeface="Arimo Medium" pitchFamily="34" charset="-122"/>
                <a:cs typeface="Arimo Medium" pitchFamily="34" charset="-120"/>
              </a:rPr>
              <a:t> bức ảnh để cập nhật trọng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patience</a:t>
            </a:r>
            <a:r>
              <a:rPr lang="vi-VN" sz="2000">
                <a:solidFill>
                  <a:srgbClr val="464646"/>
                </a:solidFill>
                <a:latin typeface="Arimo Medium" pitchFamily="34" charset="0"/>
                <a:ea typeface="Arimo Medium" pitchFamily="34" charset="-122"/>
                <a:cs typeface="Arimo Medium" pitchFamily="34" charset="-120"/>
              </a:rPr>
              <a:t> = 30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chủ động ngắt huấn luyện nếu sau 30 epochs liên tiếp độ chính xác </a:t>
            </a:r>
            <a:r>
              <a:rPr lang="en-US" sz="2000">
                <a:solidFill>
                  <a:srgbClr val="464646"/>
                </a:solidFill>
                <a:latin typeface="Arimo Medium" pitchFamily="34" charset="0"/>
                <a:ea typeface="Arimo Medium" pitchFamily="34" charset="-122"/>
                <a:cs typeface="Arimo Medium" pitchFamily="34" charset="-120"/>
              </a:rPr>
              <a:t>không có dấu hiệu tăng.</a:t>
            </a:r>
            <a:endParaRPr lang="vi-VN" sz="2000">
              <a:solidFill>
                <a:srgbClr val="464646"/>
              </a:solidFill>
              <a:latin typeface="Arimo Medium" pitchFamily="34" charset="0"/>
              <a:ea typeface="Arimo Medium" pitchFamily="34" charset="-122"/>
              <a:cs typeface="Arimo Medium" pitchFamily="34" charset="-120"/>
            </a:endParaRP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Tối </a:t>
            </a:r>
            <a:r>
              <a:rPr lang="vi-VN" sz="2000">
                <a:solidFill>
                  <a:srgbClr val="464646"/>
                </a:solidFill>
                <a:latin typeface="Arimo Medium" pitchFamily="34" charset="0"/>
                <a:ea typeface="Arimo Medium" pitchFamily="34" charset="-122"/>
                <a:cs typeface="Arimo Medium" pitchFamily="34" charset="-120"/>
              </a:rPr>
              <a:t>ưu hóa (Optimizer): Chế độ Auto (Tự động thích ứng cấu hình bằng </a:t>
            </a:r>
            <a:r>
              <a:rPr lang="vi-VN" sz="2000" b="1">
                <a:solidFill>
                  <a:srgbClr val="464646"/>
                </a:solidFill>
                <a:latin typeface="Arimo Medium" pitchFamily="34" charset="0"/>
                <a:ea typeface="Arimo Medium" pitchFamily="34" charset="-122"/>
                <a:cs typeface="Arimo Medium" pitchFamily="34" charset="-120"/>
              </a:rPr>
              <a:t>AdamW</a:t>
            </a:r>
            <a:r>
              <a:rPr lang="vi-VN" sz="2000">
                <a:solidFill>
                  <a:srgbClr val="464646"/>
                </a:solidFill>
                <a:latin typeface="Arimo Medium" pitchFamily="34" charset="0"/>
                <a:ea typeface="Arimo Medium" pitchFamily="34" charset="-122"/>
                <a:cs typeface="Arimo Medium" pitchFamily="34" charset="-120"/>
              </a:rPr>
              <a:t>/</a:t>
            </a:r>
            <a:r>
              <a:rPr lang="vi-VN" sz="2000" b="1">
                <a:solidFill>
                  <a:srgbClr val="464646"/>
                </a:solidFill>
                <a:latin typeface="Arimo Medium" pitchFamily="34" charset="0"/>
                <a:ea typeface="Arimo Medium" pitchFamily="34" charset="-122"/>
                <a:cs typeface="Arimo Medium" pitchFamily="34" charset="-120"/>
              </a:rPr>
              <a:t>SGD</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Hàm kích hoạt: </a:t>
            </a:r>
            <a:r>
              <a:rPr lang="vi-VN" sz="2000" b="1">
                <a:solidFill>
                  <a:srgbClr val="464646"/>
                </a:solidFill>
                <a:latin typeface="Arimo Medium" pitchFamily="34" charset="0"/>
                <a:ea typeface="Arimo Medium" pitchFamily="34" charset="-122"/>
                <a:cs typeface="Arimo Medium" pitchFamily="34" charset="-120"/>
              </a:rPr>
              <a:t>SiLU</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Sigmoid Linear Unit</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en-US" sz="2000" b="1">
                <a:solidFill>
                  <a:srgbClr val="464646"/>
                </a:solidFill>
                <a:latin typeface="Arimo Medium" pitchFamily="34" charset="0"/>
                <a:ea typeface="Arimo Medium" pitchFamily="34" charset="-122"/>
                <a:cs typeface="Arimo Medium" pitchFamily="34" charset="-120"/>
              </a:rPr>
              <a:t>Learing rate: </a:t>
            </a:r>
            <a:r>
              <a:rPr lang="vi-VN" sz="2000">
                <a:solidFill>
                  <a:srgbClr val="464646"/>
                </a:solidFill>
                <a:latin typeface="Arimo Medium" pitchFamily="34" charset="0"/>
                <a:ea typeface="Arimo Medium" pitchFamily="34" charset="-122"/>
                <a:cs typeface="Arimo Medium" pitchFamily="34" charset="-120"/>
              </a:rPr>
              <a:t>ban đầu là 0.01 và được thiết kế giảm dần (Decay) về cuối chu kỳ (0.01 x 0.01 = 0.0001)</a:t>
            </a:r>
          </a:p>
        </p:txBody>
      </p:sp>
    </p:spTree>
    <p:extLst>
      <p:ext uri="{BB962C8B-B14F-4D97-AF65-F5344CB8AC3E}">
        <p14:creationId xmlns:p14="http://schemas.microsoft.com/office/powerpoint/2010/main" val="11100006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4CE96-8FDA-0F17-5E5F-92CAE896AAFE}"/>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5B618419-7340-0E09-EB44-3371E8639C31}"/>
              </a:ext>
            </a:extLst>
          </p:cNvPr>
          <p:cNvPicPr>
            <a:picLocks noChangeAspect="1"/>
          </p:cNvPicPr>
          <p:nvPr/>
        </p:nvPicPr>
        <p:blipFill>
          <a:blip r:embed="rId3"/>
          <a:stretch>
            <a:fillRect/>
          </a:stretch>
        </p:blipFill>
        <p:spPr>
          <a:xfrm>
            <a:off x="6792499" y="-6083631"/>
            <a:ext cx="7837901" cy="30329752"/>
          </a:xfrm>
          <a:prstGeom prst="rect">
            <a:avLst/>
          </a:prstGeom>
        </p:spPr>
      </p:pic>
      <p:sp>
        <p:nvSpPr>
          <p:cNvPr id="2" name="Text 0">
            <a:extLst>
              <a:ext uri="{FF2B5EF4-FFF2-40B4-BE49-F238E27FC236}">
                <a16:creationId xmlns:a16="http://schemas.microsoft.com/office/drawing/2014/main" id="{6D26EF94-74E7-A129-BDF1-F2B27C42B617}"/>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3" name="Shape 1">
            <a:extLst>
              <a:ext uri="{FF2B5EF4-FFF2-40B4-BE49-F238E27FC236}">
                <a16:creationId xmlns:a16="http://schemas.microsoft.com/office/drawing/2014/main" id="{12373255-B2D4-3E35-A9AA-7DF2CD261312}"/>
              </a:ext>
            </a:extLst>
          </p:cNvPr>
          <p:cNvSpPr/>
          <p:nvPr/>
        </p:nvSpPr>
        <p:spPr>
          <a:xfrm>
            <a:off x="178201" y="713409"/>
            <a:ext cx="6613048" cy="7293167"/>
          </a:xfrm>
          <a:prstGeom prst="roundRect">
            <a:avLst>
              <a:gd name="adj" fmla="val 12013"/>
            </a:avLst>
          </a:prstGeom>
          <a:solidFill>
            <a:srgbClr val="F2EEEE"/>
          </a:solidFill>
          <a:ln/>
        </p:spPr>
        <p:txBody>
          <a:bodyPr/>
          <a:lstStyle/>
          <a:p>
            <a:endParaRPr lang="en-US"/>
          </a:p>
        </p:txBody>
      </p:sp>
      <p:sp>
        <p:nvSpPr>
          <p:cNvPr id="7" name="Text 2">
            <a:extLst>
              <a:ext uri="{FF2B5EF4-FFF2-40B4-BE49-F238E27FC236}">
                <a16:creationId xmlns:a16="http://schemas.microsoft.com/office/drawing/2014/main" id="{2054E398-5B47-DBC3-D6AD-624387C749C6}"/>
              </a:ext>
            </a:extLst>
          </p:cNvPr>
          <p:cNvSpPr/>
          <p:nvPr/>
        </p:nvSpPr>
        <p:spPr>
          <a:xfrm>
            <a:off x="549637" y="908382"/>
            <a:ext cx="624161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thông số</a:t>
            </a:r>
            <a:endParaRPr lang="en-US" sz="2400" b="1" dirty="0"/>
          </a:p>
        </p:txBody>
      </p:sp>
      <p:sp>
        <p:nvSpPr>
          <p:cNvPr id="8" name="Text 3">
            <a:extLst>
              <a:ext uri="{FF2B5EF4-FFF2-40B4-BE49-F238E27FC236}">
                <a16:creationId xmlns:a16="http://schemas.microsoft.com/office/drawing/2014/main" id="{6995B712-264C-D843-57E6-19EDAF0193EB}"/>
              </a:ext>
            </a:extLst>
          </p:cNvPr>
          <p:cNvSpPr/>
          <p:nvPr/>
        </p:nvSpPr>
        <p:spPr>
          <a:xfrm>
            <a:off x="725686" y="1455527"/>
            <a:ext cx="5889513" cy="6058786"/>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Phiên bản: </a:t>
            </a:r>
            <a:r>
              <a:rPr lang="vi-VN" sz="2000" b="1">
                <a:solidFill>
                  <a:srgbClr val="464646"/>
                </a:solidFill>
                <a:latin typeface="Arimo Medium" pitchFamily="34" charset="0"/>
                <a:ea typeface="Arimo Medium" pitchFamily="34" charset="-122"/>
                <a:cs typeface="Arimo Medium" pitchFamily="34" charset="-120"/>
              </a:rPr>
              <a:t>YOLOv8n</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3,007,208</a:t>
            </a:r>
            <a:r>
              <a:rPr lang="vi-VN" sz="2000">
                <a:solidFill>
                  <a:srgbClr val="464646"/>
                </a:solidFill>
                <a:latin typeface="Arimo Medium" pitchFamily="34" charset="0"/>
                <a:ea typeface="Arimo Medium" pitchFamily="34" charset="-122"/>
                <a:cs typeface="Arimo Medium" pitchFamily="34" charset="-120"/>
              </a:rPr>
              <a:t> tham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Mạng được thiết kế với </a:t>
            </a:r>
            <a:r>
              <a:rPr lang="vi-VN" sz="2000" b="1">
                <a:solidFill>
                  <a:srgbClr val="464646"/>
                </a:solidFill>
                <a:latin typeface="Arimo Medium" pitchFamily="34" charset="0"/>
                <a:ea typeface="Arimo Medium" pitchFamily="34" charset="-122"/>
                <a:cs typeface="Arimo Medium" pitchFamily="34" charset="-120"/>
              </a:rPr>
              <a:t>22</a:t>
            </a:r>
            <a:r>
              <a:rPr lang="vi-VN" sz="2000">
                <a:solidFill>
                  <a:srgbClr val="464646"/>
                </a:solidFill>
                <a:latin typeface="Arimo Medium" pitchFamily="34" charset="0"/>
                <a:ea typeface="Arimo Medium" pitchFamily="34" charset="-122"/>
                <a:cs typeface="Arimo Medium" pitchFamily="34" charset="-120"/>
              </a:rPr>
              <a:t> modules chính</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tương đương với </a:t>
            </a:r>
            <a:r>
              <a:rPr lang="vi-VN" sz="2000" b="1">
                <a:solidFill>
                  <a:srgbClr val="464646"/>
                </a:solidFill>
                <a:latin typeface="Arimo Medium" pitchFamily="34" charset="0"/>
                <a:ea typeface="Arimo Medium" pitchFamily="34" charset="-122"/>
                <a:cs typeface="Arimo Medium" pitchFamily="34" charset="-120"/>
              </a:rPr>
              <a:t>168</a:t>
            </a:r>
            <a:r>
              <a:rPr lang="vi-VN" sz="2000">
                <a:solidFill>
                  <a:srgbClr val="464646"/>
                </a:solidFill>
                <a:latin typeface="Arimo Medium" pitchFamily="34" charset="0"/>
                <a:ea typeface="Arimo Medium" pitchFamily="34" charset="-122"/>
                <a:cs typeface="Arimo Medium" pitchFamily="34" charset="-120"/>
              </a:rPr>
              <a:t> lớp tính toán ẩn.</a:t>
            </a:r>
          </a:p>
          <a:p>
            <a:pPr>
              <a:lnSpc>
                <a:spcPct val="150000"/>
              </a:lnSpc>
            </a:pPr>
            <a:r>
              <a:rPr lang="en-US" sz="2000">
                <a:solidFill>
                  <a:srgbClr val="464646"/>
                </a:solidFill>
                <a:latin typeface="Arimo Medium" pitchFamily="34" charset="0"/>
                <a:ea typeface="Arimo Medium" pitchFamily="34" charset="-122"/>
                <a:cs typeface="Arimo Medium" pitchFamily="34" charset="-120"/>
              </a:rPr>
              <a:t>- Epochs, batch: T</a:t>
            </a:r>
            <a:r>
              <a:rPr lang="vi-VN" sz="2000">
                <a:solidFill>
                  <a:srgbClr val="464646"/>
                </a:solidFill>
                <a:latin typeface="Arimo Medium" pitchFamily="34" charset="0"/>
                <a:ea typeface="Arimo Medium" pitchFamily="34" charset="-122"/>
                <a:cs typeface="Arimo Medium" pitchFamily="34" charset="-120"/>
              </a:rPr>
              <a:t>ối đa 150 </a:t>
            </a:r>
            <a:r>
              <a:rPr lang="vi-VN" sz="2000" b="1">
                <a:solidFill>
                  <a:srgbClr val="464646"/>
                </a:solidFill>
                <a:latin typeface="Arimo Medium" pitchFamily="34" charset="0"/>
                <a:ea typeface="Arimo Medium" pitchFamily="34" charset="-122"/>
                <a:cs typeface="Arimo Medium" pitchFamily="34" charset="-120"/>
              </a:rPr>
              <a:t>epochs</a:t>
            </a:r>
            <a:r>
              <a:rPr lang="vi-VN" sz="2000">
                <a:solidFill>
                  <a:srgbClr val="464646"/>
                </a:solidFill>
                <a:latin typeface="Arimo Medium" pitchFamily="34" charset="0"/>
                <a:ea typeface="Arimo Medium" pitchFamily="34" charset="-122"/>
                <a:cs typeface="Arimo Medium" pitchFamily="34" charset="-120"/>
              </a:rPr>
              <a:t>, mỗi lần nạp</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batch</a:t>
            </a:r>
            <a:r>
              <a:rPr lang="vi-VN" sz="2000">
                <a:solidFill>
                  <a:srgbClr val="464646"/>
                </a:solidFill>
                <a:latin typeface="Arimo Medium" pitchFamily="34" charset="0"/>
                <a:ea typeface="Arimo Medium" pitchFamily="34" charset="-122"/>
                <a:cs typeface="Arimo Medium" pitchFamily="34" charset="-120"/>
              </a:rPr>
              <a:t> = </a:t>
            </a:r>
            <a:r>
              <a:rPr lang="vi-VN" sz="2000" b="1">
                <a:solidFill>
                  <a:srgbClr val="464646"/>
                </a:solidFill>
                <a:latin typeface="Arimo Medium" pitchFamily="34" charset="0"/>
                <a:ea typeface="Arimo Medium" pitchFamily="34" charset="-122"/>
                <a:cs typeface="Arimo Medium" pitchFamily="34" charset="-120"/>
              </a:rPr>
              <a:t>32</a:t>
            </a:r>
            <a:r>
              <a:rPr lang="vi-VN" sz="2000">
                <a:solidFill>
                  <a:srgbClr val="464646"/>
                </a:solidFill>
                <a:latin typeface="Arimo Medium" pitchFamily="34" charset="0"/>
                <a:ea typeface="Arimo Medium" pitchFamily="34" charset="-122"/>
                <a:cs typeface="Arimo Medium" pitchFamily="34" charset="-120"/>
              </a:rPr>
              <a:t> bức ảnh để cập nhật trọng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patience</a:t>
            </a:r>
            <a:r>
              <a:rPr lang="vi-VN" sz="2000">
                <a:solidFill>
                  <a:srgbClr val="464646"/>
                </a:solidFill>
                <a:latin typeface="Arimo Medium" pitchFamily="34" charset="0"/>
                <a:ea typeface="Arimo Medium" pitchFamily="34" charset="-122"/>
                <a:cs typeface="Arimo Medium" pitchFamily="34" charset="-120"/>
              </a:rPr>
              <a:t> = 30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chủ động ngắt huấn luyện nếu sau 30 epochs liên tiếp độ chính xác </a:t>
            </a:r>
            <a:r>
              <a:rPr lang="en-US" sz="2000">
                <a:solidFill>
                  <a:srgbClr val="464646"/>
                </a:solidFill>
                <a:latin typeface="Arimo Medium" pitchFamily="34" charset="0"/>
                <a:ea typeface="Arimo Medium" pitchFamily="34" charset="-122"/>
                <a:cs typeface="Arimo Medium" pitchFamily="34" charset="-120"/>
              </a:rPr>
              <a:t>không có dấu hiệu tăng.</a:t>
            </a:r>
            <a:endParaRPr lang="vi-VN" sz="2000">
              <a:solidFill>
                <a:srgbClr val="464646"/>
              </a:solidFill>
              <a:latin typeface="Arimo Medium" pitchFamily="34" charset="0"/>
              <a:ea typeface="Arimo Medium" pitchFamily="34" charset="-122"/>
              <a:cs typeface="Arimo Medium" pitchFamily="34" charset="-120"/>
            </a:endParaRP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Tối </a:t>
            </a:r>
            <a:r>
              <a:rPr lang="vi-VN" sz="2000">
                <a:solidFill>
                  <a:srgbClr val="464646"/>
                </a:solidFill>
                <a:latin typeface="Arimo Medium" pitchFamily="34" charset="0"/>
                <a:ea typeface="Arimo Medium" pitchFamily="34" charset="-122"/>
                <a:cs typeface="Arimo Medium" pitchFamily="34" charset="-120"/>
              </a:rPr>
              <a:t>ưu hóa (Optimizer): Chế độ Auto (Tự động thích ứng cấu hình bằng </a:t>
            </a:r>
            <a:r>
              <a:rPr lang="vi-VN" sz="2000" b="1">
                <a:solidFill>
                  <a:srgbClr val="464646"/>
                </a:solidFill>
                <a:latin typeface="Arimo Medium" pitchFamily="34" charset="0"/>
                <a:ea typeface="Arimo Medium" pitchFamily="34" charset="-122"/>
                <a:cs typeface="Arimo Medium" pitchFamily="34" charset="-120"/>
              </a:rPr>
              <a:t>AdamW</a:t>
            </a:r>
            <a:r>
              <a:rPr lang="vi-VN" sz="2000">
                <a:solidFill>
                  <a:srgbClr val="464646"/>
                </a:solidFill>
                <a:latin typeface="Arimo Medium" pitchFamily="34" charset="0"/>
                <a:ea typeface="Arimo Medium" pitchFamily="34" charset="-122"/>
                <a:cs typeface="Arimo Medium" pitchFamily="34" charset="-120"/>
              </a:rPr>
              <a:t>/</a:t>
            </a:r>
            <a:r>
              <a:rPr lang="vi-VN" sz="2000" b="1">
                <a:solidFill>
                  <a:srgbClr val="464646"/>
                </a:solidFill>
                <a:latin typeface="Arimo Medium" pitchFamily="34" charset="0"/>
                <a:ea typeface="Arimo Medium" pitchFamily="34" charset="-122"/>
                <a:cs typeface="Arimo Medium" pitchFamily="34" charset="-120"/>
              </a:rPr>
              <a:t>SGD</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Hàm kích hoạt: </a:t>
            </a:r>
            <a:r>
              <a:rPr lang="vi-VN" sz="2000" b="1">
                <a:solidFill>
                  <a:srgbClr val="464646"/>
                </a:solidFill>
                <a:latin typeface="Arimo Medium" pitchFamily="34" charset="0"/>
                <a:ea typeface="Arimo Medium" pitchFamily="34" charset="-122"/>
                <a:cs typeface="Arimo Medium" pitchFamily="34" charset="-120"/>
              </a:rPr>
              <a:t>SiLU</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Sigmoid Linear Unit</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en-US" sz="2000" b="1">
                <a:solidFill>
                  <a:srgbClr val="464646"/>
                </a:solidFill>
                <a:latin typeface="Arimo Medium" pitchFamily="34" charset="0"/>
                <a:ea typeface="Arimo Medium" pitchFamily="34" charset="-122"/>
                <a:cs typeface="Arimo Medium" pitchFamily="34" charset="-120"/>
              </a:rPr>
              <a:t>Learing rate: </a:t>
            </a:r>
            <a:r>
              <a:rPr lang="vi-VN" sz="2000">
                <a:solidFill>
                  <a:srgbClr val="464646"/>
                </a:solidFill>
                <a:latin typeface="Arimo Medium" pitchFamily="34" charset="0"/>
                <a:ea typeface="Arimo Medium" pitchFamily="34" charset="-122"/>
                <a:cs typeface="Arimo Medium" pitchFamily="34" charset="-120"/>
              </a:rPr>
              <a:t>ban đầu là 0.01 và được thiết kế giảm dần (Decay) về cuối chu kỳ (0.01 x 0.01 = 0.0001)</a:t>
            </a:r>
          </a:p>
        </p:txBody>
      </p:sp>
    </p:spTree>
    <p:extLst>
      <p:ext uri="{BB962C8B-B14F-4D97-AF65-F5344CB8AC3E}">
        <p14:creationId xmlns:p14="http://schemas.microsoft.com/office/powerpoint/2010/main" val="27848987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85087-EE7C-8C59-B9F4-18EC098B2C58}"/>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642C88F-2F60-F27B-C967-D713D8F0BADB}"/>
              </a:ext>
            </a:extLst>
          </p:cNvPr>
          <p:cNvPicPr>
            <a:picLocks noChangeAspect="1"/>
          </p:cNvPicPr>
          <p:nvPr/>
        </p:nvPicPr>
        <p:blipFill>
          <a:blip r:embed="rId3"/>
          <a:stretch>
            <a:fillRect/>
          </a:stretch>
        </p:blipFill>
        <p:spPr>
          <a:xfrm>
            <a:off x="6880524" y="-13276911"/>
            <a:ext cx="7837901" cy="30329752"/>
          </a:xfrm>
          <a:prstGeom prst="rect">
            <a:avLst/>
          </a:prstGeom>
        </p:spPr>
      </p:pic>
      <p:sp>
        <p:nvSpPr>
          <p:cNvPr id="2" name="Text 0">
            <a:extLst>
              <a:ext uri="{FF2B5EF4-FFF2-40B4-BE49-F238E27FC236}">
                <a16:creationId xmlns:a16="http://schemas.microsoft.com/office/drawing/2014/main" id="{BD95094E-A891-61BB-74B2-C2C3A60C8E36}"/>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7" name="Shape 1">
            <a:extLst>
              <a:ext uri="{FF2B5EF4-FFF2-40B4-BE49-F238E27FC236}">
                <a16:creationId xmlns:a16="http://schemas.microsoft.com/office/drawing/2014/main" id="{24DA85A2-35AD-F526-FE44-D332FED17F18}"/>
              </a:ext>
            </a:extLst>
          </p:cNvPr>
          <p:cNvSpPr/>
          <p:nvPr/>
        </p:nvSpPr>
        <p:spPr>
          <a:xfrm>
            <a:off x="178201" y="713409"/>
            <a:ext cx="6613048" cy="7293167"/>
          </a:xfrm>
          <a:prstGeom prst="roundRect">
            <a:avLst>
              <a:gd name="adj" fmla="val 12013"/>
            </a:avLst>
          </a:prstGeom>
          <a:solidFill>
            <a:srgbClr val="F2EEEE"/>
          </a:solidFill>
          <a:ln/>
        </p:spPr>
        <p:txBody>
          <a:bodyPr/>
          <a:lstStyle/>
          <a:p>
            <a:endParaRPr lang="en-US"/>
          </a:p>
        </p:txBody>
      </p:sp>
      <p:sp>
        <p:nvSpPr>
          <p:cNvPr id="8" name="Text 2">
            <a:extLst>
              <a:ext uri="{FF2B5EF4-FFF2-40B4-BE49-F238E27FC236}">
                <a16:creationId xmlns:a16="http://schemas.microsoft.com/office/drawing/2014/main" id="{12E8F8E4-8205-558B-50CB-1DF353B8948A}"/>
              </a:ext>
            </a:extLst>
          </p:cNvPr>
          <p:cNvSpPr/>
          <p:nvPr/>
        </p:nvSpPr>
        <p:spPr>
          <a:xfrm>
            <a:off x="549637" y="908382"/>
            <a:ext cx="624161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thông số</a:t>
            </a:r>
            <a:endParaRPr lang="en-US" sz="2400" b="1" dirty="0"/>
          </a:p>
        </p:txBody>
      </p:sp>
      <p:sp>
        <p:nvSpPr>
          <p:cNvPr id="9" name="Text 3">
            <a:extLst>
              <a:ext uri="{FF2B5EF4-FFF2-40B4-BE49-F238E27FC236}">
                <a16:creationId xmlns:a16="http://schemas.microsoft.com/office/drawing/2014/main" id="{B0C625B4-C8DB-CE86-5D91-62FFF2DECE48}"/>
              </a:ext>
            </a:extLst>
          </p:cNvPr>
          <p:cNvSpPr/>
          <p:nvPr/>
        </p:nvSpPr>
        <p:spPr>
          <a:xfrm>
            <a:off x="725686" y="1455527"/>
            <a:ext cx="5889513" cy="6058786"/>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Phiên bản: </a:t>
            </a:r>
            <a:r>
              <a:rPr lang="vi-VN" sz="2000" b="1">
                <a:solidFill>
                  <a:srgbClr val="464646"/>
                </a:solidFill>
                <a:latin typeface="Arimo Medium" pitchFamily="34" charset="0"/>
                <a:ea typeface="Arimo Medium" pitchFamily="34" charset="-122"/>
                <a:cs typeface="Arimo Medium" pitchFamily="34" charset="-120"/>
              </a:rPr>
              <a:t>YOLOv8n</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3,007,208</a:t>
            </a:r>
            <a:r>
              <a:rPr lang="vi-VN" sz="2000">
                <a:solidFill>
                  <a:srgbClr val="464646"/>
                </a:solidFill>
                <a:latin typeface="Arimo Medium" pitchFamily="34" charset="0"/>
                <a:ea typeface="Arimo Medium" pitchFamily="34" charset="-122"/>
                <a:cs typeface="Arimo Medium" pitchFamily="34" charset="-120"/>
              </a:rPr>
              <a:t> tham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Mạng được thiết kế với </a:t>
            </a:r>
            <a:r>
              <a:rPr lang="vi-VN" sz="2000" b="1">
                <a:solidFill>
                  <a:srgbClr val="464646"/>
                </a:solidFill>
                <a:latin typeface="Arimo Medium" pitchFamily="34" charset="0"/>
                <a:ea typeface="Arimo Medium" pitchFamily="34" charset="-122"/>
                <a:cs typeface="Arimo Medium" pitchFamily="34" charset="-120"/>
              </a:rPr>
              <a:t>22</a:t>
            </a:r>
            <a:r>
              <a:rPr lang="vi-VN" sz="2000">
                <a:solidFill>
                  <a:srgbClr val="464646"/>
                </a:solidFill>
                <a:latin typeface="Arimo Medium" pitchFamily="34" charset="0"/>
                <a:ea typeface="Arimo Medium" pitchFamily="34" charset="-122"/>
                <a:cs typeface="Arimo Medium" pitchFamily="34" charset="-120"/>
              </a:rPr>
              <a:t> modules chính</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tương đương với </a:t>
            </a:r>
            <a:r>
              <a:rPr lang="vi-VN" sz="2000" b="1">
                <a:solidFill>
                  <a:srgbClr val="464646"/>
                </a:solidFill>
                <a:latin typeface="Arimo Medium" pitchFamily="34" charset="0"/>
                <a:ea typeface="Arimo Medium" pitchFamily="34" charset="-122"/>
                <a:cs typeface="Arimo Medium" pitchFamily="34" charset="-120"/>
              </a:rPr>
              <a:t>168</a:t>
            </a:r>
            <a:r>
              <a:rPr lang="vi-VN" sz="2000">
                <a:solidFill>
                  <a:srgbClr val="464646"/>
                </a:solidFill>
                <a:latin typeface="Arimo Medium" pitchFamily="34" charset="0"/>
                <a:ea typeface="Arimo Medium" pitchFamily="34" charset="-122"/>
                <a:cs typeface="Arimo Medium" pitchFamily="34" charset="-120"/>
              </a:rPr>
              <a:t> lớp tính toán ẩn.</a:t>
            </a:r>
          </a:p>
          <a:p>
            <a:pPr>
              <a:lnSpc>
                <a:spcPct val="150000"/>
              </a:lnSpc>
            </a:pPr>
            <a:r>
              <a:rPr lang="en-US" sz="2000">
                <a:solidFill>
                  <a:srgbClr val="464646"/>
                </a:solidFill>
                <a:latin typeface="Arimo Medium" pitchFamily="34" charset="0"/>
                <a:ea typeface="Arimo Medium" pitchFamily="34" charset="-122"/>
                <a:cs typeface="Arimo Medium" pitchFamily="34" charset="-120"/>
              </a:rPr>
              <a:t>- Epochs, batch: T</a:t>
            </a:r>
            <a:r>
              <a:rPr lang="vi-VN" sz="2000">
                <a:solidFill>
                  <a:srgbClr val="464646"/>
                </a:solidFill>
                <a:latin typeface="Arimo Medium" pitchFamily="34" charset="0"/>
                <a:ea typeface="Arimo Medium" pitchFamily="34" charset="-122"/>
                <a:cs typeface="Arimo Medium" pitchFamily="34" charset="-120"/>
              </a:rPr>
              <a:t>ối đa 150 </a:t>
            </a:r>
            <a:r>
              <a:rPr lang="vi-VN" sz="2000" b="1">
                <a:solidFill>
                  <a:srgbClr val="464646"/>
                </a:solidFill>
                <a:latin typeface="Arimo Medium" pitchFamily="34" charset="0"/>
                <a:ea typeface="Arimo Medium" pitchFamily="34" charset="-122"/>
                <a:cs typeface="Arimo Medium" pitchFamily="34" charset="-120"/>
              </a:rPr>
              <a:t>epochs</a:t>
            </a:r>
            <a:r>
              <a:rPr lang="vi-VN" sz="2000">
                <a:solidFill>
                  <a:srgbClr val="464646"/>
                </a:solidFill>
                <a:latin typeface="Arimo Medium" pitchFamily="34" charset="0"/>
                <a:ea typeface="Arimo Medium" pitchFamily="34" charset="-122"/>
                <a:cs typeface="Arimo Medium" pitchFamily="34" charset="-120"/>
              </a:rPr>
              <a:t>, mỗi lần nạp</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batch</a:t>
            </a:r>
            <a:r>
              <a:rPr lang="vi-VN" sz="2000">
                <a:solidFill>
                  <a:srgbClr val="464646"/>
                </a:solidFill>
                <a:latin typeface="Arimo Medium" pitchFamily="34" charset="0"/>
                <a:ea typeface="Arimo Medium" pitchFamily="34" charset="-122"/>
                <a:cs typeface="Arimo Medium" pitchFamily="34" charset="-120"/>
              </a:rPr>
              <a:t> = </a:t>
            </a:r>
            <a:r>
              <a:rPr lang="vi-VN" sz="2000" b="1">
                <a:solidFill>
                  <a:srgbClr val="464646"/>
                </a:solidFill>
                <a:latin typeface="Arimo Medium" pitchFamily="34" charset="0"/>
                <a:ea typeface="Arimo Medium" pitchFamily="34" charset="-122"/>
                <a:cs typeface="Arimo Medium" pitchFamily="34" charset="-120"/>
              </a:rPr>
              <a:t>32</a:t>
            </a:r>
            <a:r>
              <a:rPr lang="vi-VN" sz="2000">
                <a:solidFill>
                  <a:srgbClr val="464646"/>
                </a:solidFill>
                <a:latin typeface="Arimo Medium" pitchFamily="34" charset="0"/>
                <a:ea typeface="Arimo Medium" pitchFamily="34" charset="-122"/>
                <a:cs typeface="Arimo Medium" pitchFamily="34" charset="-120"/>
              </a:rPr>
              <a:t> bức ảnh để cập nhật trọng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patience</a:t>
            </a:r>
            <a:r>
              <a:rPr lang="vi-VN" sz="2000">
                <a:solidFill>
                  <a:srgbClr val="464646"/>
                </a:solidFill>
                <a:latin typeface="Arimo Medium" pitchFamily="34" charset="0"/>
                <a:ea typeface="Arimo Medium" pitchFamily="34" charset="-122"/>
                <a:cs typeface="Arimo Medium" pitchFamily="34" charset="-120"/>
              </a:rPr>
              <a:t> = 30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chủ động ngắt huấn luyện nếu sau 30 epochs liên tiếp độ chính xác </a:t>
            </a:r>
            <a:r>
              <a:rPr lang="en-US" sz="2000">
                <a:solidFill>
                  <a:srgbClr val="464646"/>
                </a:solidFill>
                <a:latin typeface="Arimo Medium" pitchFamily="34" charset="0"/>
                <a:ea typeface="Arimo Medium" pitchFamily="34" charset="-122"/>
                <a:cs typeface="Arimo Medium" pitchFamily="34" charset="-120"/>
              </a:rPr>
              <a:t>không có dấu hiệu tăng.</a:t>
            </a:r>
            <a:endParaRPr lang="vi-VN" sz="2000">
              <a:solidFill>
                <a:srgbClr val="464646"/>
              </a:solidFill>
              <a:latin typeface="Arimo Medium" pitchFamily="34" charset="0"/>
              <a:ea typeface="Arimo Medium" pitchFamily="34" charset="-122"/>
              <a:cs typeface="Arimo Medium" pitchFamily="34" charset="-120"/>
            </a:endParaRP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Tối </a:t>
            </a:r>
            <a:r>
              <a:rPr lang="vi-VN" sz="2000">
                <a:solidFill>
                  <a:srgbClr val="464646"/>
                </a:solidFill>
                <a:latin typeface="Arimo Medium" pitchFamily="34" charset="0"/>
                <a:ea typeface="Arimo Medium" pitchFamily="34" charset="-122"/>
                <a:cs typeface="Arimo Medium" pitchFamily="34" charset="-120"/>
              </a:rPr>
              <a:t>ưu hóa (Optimizer): Chế độ Auto (Tự động thích ứng cấu hình bằng </a:t>
            </a:r>
            <a:r>
              <a:rPr lang="vi-VN" sz="2000" b="1">
                <a:solidFill>
                  <a:srgbClr val="464646"/>
                </a:solidFill>
                <a:latin typeface="Arimo Medium" pitchFamily="34" charset="0"/>
                <a:ea typeface="Arimo Medium" pitchFamily="34" charset="-122"/>
                <a:cs typeface="Arimo Medium" pitchFamily="34" charset="-120"/>
              </a:rPr>
              <a:t>AdamW</a:t>
            </a:r>
            <a:r>
              <a:rPr lang="vi-VN" sz="2000">
                <a:solidFill>
                  <a:srgbClr val="464646"/>
                </a:solidFill>
                <a:latin typeface="Arimo Medium" pitchFamily="34" charset="0"/>
                <a:ea typeface="Arimo Medium" pitchFamily="34" charset="-122"/>
                <a:cs typeface="Arimo Medium" pitchFamily="34" charset="-120"/>
              </a:rPr>
              <a:t>/</a:t>
            </a:r>
            <a:r>
              <a:rPr lang="vi-VN" sz="2000" b="1">
                <a:solidFill>
                  <a:srgbClr val="464646"/>
                </a:solidFill>
                <a:latin typeface="Arimo Medium" pitchFamily="34" charset="0"/>
                <a:ea typeface="Arimo Medium" pitchFamily="34" charset="-122"/>
                <a:cs typeface="Arimo Medium" pitchFamily="34" charset="-120"/>
              </a:rPr>
              <a:t>SGD</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Hàm kích hoạt: </a:t>
            </a:r>
            <a:r>
              <a:rPr lang="vi-VN" sz="2000" b="1">
                <a:solidFill>
                  <a:srgbClr val="464646"/>
                </a:solidFill>
                <a:latin typeface="Arimo Medium" pitchFamily="34" charset="0"/>
                <a:ea typeface="Arimo Medium" pitchFamily="34" charset="-122"/>
                <a:cs typeface="Arimo Medium" pitchFamily="34" charset="-120"/>
              </a:rPr>
              <a:t>SiLU</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Sigmoid Linear Unit</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en-US" sz="2000" b="1">
                <a:solidFill>
                  <a:srgbClr val="464646"/>
                </a:solidFill>
                <a:latin typeface="Arimo Medium" pitchFamily="34" charset="0"/>
                <a:ea typeface="Arimo Medium" pitchFamily="34" charset="-122"/>
                <a:cs typeface="Arimo Medium" pitchFamily="34" charset="-120"/>
              </a:rPr>
              <a:t>Learing rate: </a:t>
            </a:r>
            <a:r>
              <a:rPr lang="vi-VN" sz="2000">
                <a:solidFill>
                  <a:srgbClr val="464646"/>
                </a:solidFill>
                <a:latin typeface="Arimo Medium" pitchFamily="34" charset="0"/>
                <a:ea typeface="Arimo Medium" pitchFamily="34" charset="-122"/>
                <a:cs typeface="Arimo Medium" pitchFamily="34" charset="-120"/>
              </a:rPr>
              <a:t>ban đầu là 0.01 và được thiết kế giảm dần (Decay) về cuối chu kỳ (0.01 x 0.01 = 0.0001)</a:t>
            </a:r>
          </a:p>
        </p:txBody>
      </p:sp>
    </p:spTree>
    <p:extLst>
      <p:ext uri="{BB962C8B-B14F-4D97-AF65-F5344CB8AC3E}">
        <p14:creationId xmlns:p14="http://schemas.microsoft.com/office/powerpoint/2010/main" val="8332000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4EE1-572B-EEC2-BB00-170A9394E21A}"/>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4FB0FDA-F963-C00E-AB0D-51D439A51905}"/>
              </a:ext>
            </a:extLst>
          </p:cNvPr>
          <p:cNvPicPr>
            <a:picLocks noChangeAspect="1"/>
          </p:cNvPicPr>
          <p:nvPr/>
        </p:nvPicPr>
        <p:blipFill>
          <a:blip r:embed="rId3"/>
          <a:stretch>
            <a:fillRect/>
          </a:stretch>
        </p:blipFill>
        <p:spPr>
          <a:xfrm>
            <a:off x="6791249" y="-18153711"/>
            <a:ext cx="7837901" cy="30329752"/>
          </a:xfrm>
          <a:prstGeom prst="rect">
            <a:avLst/>
          </a:prstGeom>
        </p:spPr>
      </p:pic>
      <p:sp>
        <p:nvSpPr>
          <p:cNvPr id="2" name="Text 0">
            <a:extLst>
              <a:ext uri="{FF2B5EF4-FFF2-40B4-BE49-F238E27FC236}">
                <a16:creationId xmlns:a16="http://schemas.microsoft.com/office/drawing/2014/main" id="{460203FD-7BAF-D4CF-A8BD-36E19A1353CB}"/>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3" name="Shape 1">
            <a:extLst>
              <a:ext uri="{FF2B5EF4-FFF2-40B4-BE49-F238E27FC236}">
                <a16:creationId xmlns:a16="http://schemas.microsoft.com/office/drawing/2014/main" id="{49FB0A43-188F-B7F4-A69E-FDC4FCDD2169}"/>
              </a:ext>
            </a:extLst>
          </p:cNvPr>
          <p:cNvSpPr/>
          <p:nvPr/>
        </p:nvSpPr>
        <p:spPr>
          <a:xfrm>
            <a:off x="178201" y="713409"/>
            <a:ext cx="6613048" cy="7293167"/>
          </a:xfrm>
          <a:prstGeom prst="roundRect">
            <a:avLst>
              <a:gd name="adj" fmla="val 12013"/>
            </a:avLst>
          </a:prstGeom>
          <a:solidFill>
            <a:srgbClr val="F2EEEE"/>
          </a:solidFill>
          <a:ln/>
        </p:spPr>
        <p:txBody>
          <a:bodyPr/>
          <a:lstStyle/>
          <a:p>
            <a:endParaRPr lang="en-US"/>
          </a:p>
        </p:txBody>
      </p:sp>
      <p:sp>
        <p:nvSpPr>
          <p:cNvPr id="7" name="Text 2">
            <a:extLst>
              <a:ext uri="{FF2B5EF4-FFF2-40B4-BE49-F238E27FC236}">
                <a16:creationId xmlns:a16="http://schemas.microsoft.com/office/drawing/2014/main" id="{FDBE4EA9-8547-EFCE-4160-B725C7BA6ED8}"/>
              </a:ext>
            </a:extLst>
          </p:cNvPr>
          <p:cNvSpPr/>
          <p:nvPr/>
        </p:nvSpPr>
        <p:spPr>
          <a:xfrm>
            <a:off x="549637" y="908382"/>
            <a:ext cx="624161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thông số</a:t>
            </a:r>
            <a:endParaRPr lang="en-US" sz="2400" b="1" dirty="0"/>
          </a:p>
        </p:txBody>
      </p:sp>
      <p:sp>
        <p:nvSpPr>
          <p:cNvPr id="8" name="Text 3">
            <a:extLst>
              <a:ext uri="{FF2B5EF4-FFF2-40B4-BE49-F238E27FC236}">
                <a16:creationId xmlns:a16="http://schemas.microsoft.com/office/drawing/2014/main" id="{A7A799F3-66B5-DDDD-5F62-A7C23165EC7B}"/>
              </a:ext>
            </a:extLst>
          </p:cNvPr>
          <p:cNvSpPr/>
          <p:nvPr/>
        </p:nvSpPr>
        <p:spPr>
          <a:xfrm>
            <a:off x="725686" y="1455527"/>
            <a:ext cx="5889513" cy="6058786"/>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Phiên bản: </a:t>
            </a:r>
            <a:r>
              <a:rPr lang="vi-VN" sz="2000" b="1">
                <a:solidFill>
                  <a:srgbClr val="464646"/>
                </a:solidFill>
                <a:latin typeface="Arimo Medium" pitchFamily="34" charset="0"/>
                <a:ea typeface="Arimo Medium" pitchFamily="34" charset="-122"/>
                <a:cs typeface="Arimo Medium" pitchFamily="34" charset="-120"/>
              </a:rPr>
              <a:t>YOLOv8n</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3,007,208</a:t>
            </a:r>
            <a:r>
              <a:rPr lang="vi-VN" sz="2000">
                <a:solidFill>
                  <a:srgbClr val="464646"/>
                </a:solidFill>
                <a:latin typeface="Arimo Medium" pitchFamily="34" charset="0"/>
                <a:ea typeface="Arimo Medium" pitchFamily="34" charset="-122"/>
                <a:cs typeface="Arimo Medium" pitchFamily="34" charset="-120"/>
              </a:rPr>
              <a:t> tham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Mạng được thiết kế với </a:t>
            </a:r>
            <a:r>
              <a:rPr lang="vi-VN" sz="2000" b="1">
                <a:solidFill>
                  <a:srgbClr val="464646"/>
                </a:solidFill>
                <a:latin typeface="Arimo Medium" pitchFamily="34" charset="0"/>
                <a:ea typeface="Arimo Medium" pitchFamily="34" charset="-122"/>
                <a:cs typeface="Arimo Medium" pitchFamily="34" charset="-120"/>
              </a:rPr>
              <a:t>22</a:t>
            </a:r>
            <a:r>
              <a:rPr lang="vi-VN" sz="2000">
                <a:solidFill>
                  <a:srgbClr val="464646"/>
                </a:solidFill>
                <a:latin typeface="Arimo Medium" pitchFamily="34" charset="0"/>
                <a:ea typeface="Arimo Medium" pitchFamily="34" charset="-122"/>
                <a:cs typeface="Arimo Medium" pitchFamily="34" charset="-120"/>
              </a:rPr>
              <a:t> modules chính</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tương đương với </a:t>
            </a:r>
            <a:r>
              <a:rPr lang="vi-VN" sz="2000" b="1">
                <a:solidFill>
                  <a:srgbClr val="464646"/>
                </a:solidFill>
                <a:latin typeface="Arimo Medium" pitchFamily="34" charset="0"/>
                <a:ea typeface="Arimo Medium" pitchFamily="34" charset="-122"/>
                <a:cs typeface="Arimo Medium" pitchFamily="34" charset="-120"/>
              </a:rPr>
              <a:t>168</a:t>
            </a:r>
            <a:r>
              <a:rPr lang="vi-VN" sz="2000">
                <a:solidFill>
                  <a:srgbClr val="464646"/>
                </a:solidFill>
                <a:latin typeface="Arimo Medium" pitchFamily="34" charset="0"/>
                <a:ea typeface="Arimo Medium" pitchFamily="34" charset="-122"/>
                <a:cs typeface="Arimo Medium" pitchFamily="34" charset="-120"/>
              </a:rPr>
              <a:t> lớp tính toán ẩn.</a:t>
            </a:r>
          </a:p>
          <a:p>
            <a:pPr>
              <a:lnSpc>
                <a:spcPct val="150000"/>
              </a:lnSpc>
            </a:pPr>
            <a:r>
              <a:rPr lang="en-US" sz="2000">
                <a:solidFill>
                  <a:srgbClr val="464646"/>
                </a:solidFill>
                <a:latin typeface="Arimo Medium" pitchFamily="34" charset="0"/>
                <a:ea typeface="Arimo Medium" pitchFamily="34" charset="-122"/>
                <a:cs typeface="Arimo Medium" pitchFamily="34" charset="-120"/>
              </a:rPr>
              <a:t>- Epochs, batch: T</a:t>
            </a:r>
            <a:r>
              <a:rPr lang="vi-VN" sz="2000">
                <a:solidFill>
                  <a:srgbClr val="464646"/>
                </a:solidFill>
                <a:latin typeface="Arimo Medium" pitchFamily="34" charset="0"/>
                <a:ea typeface="Arimo Medium" pitchFamily="34" charset="-122"/>
                <a:cs typeface="Arimo Medium" pitchFamily="34" charset="-120"/>
              </a:rPr>
              <a:t>ối đa 150 </a:t>
            </a:r>
            <a:r>
              <a:rPr lang="vi-VN" sz="2000" b="1">
                <a:solidFill>
                  <a:srgbClr val="464646"/>
                </a:solidFill>
                <a:latin typeface="Arimo Medium" pitchFamily="34" charset="0"/>
                <a:ea typeface="Arimo Medium" pitchFamily="34" charset="-122"/>
                <a:cs typeface="Arimo Medium" pitchFamily="34" charset="-120"/>
              </a:rPr>
              <a:t>epochs</a:t>
            </a:r>
            <a:r>
              <a:rPr lang="vi-VN" sz="2000">
                <a:solidFill>
                  <a:srgbClr val="464646"/>
                </a:solidFill>
                <a:latin typeface="Arimo Medium" pitchFamily="34" charset="0"/>
                <a:ea typeface="Arimo Medium" pitchFamily="34" charset="-122"/>
                <a:cs typeface="Arimo Medium" pitchFamily="34" charset="-120"/>
              </a:rPr>
              <a:t>, mỗi lần nạp</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batch</a:t>
            </a:r>
            <a:r>
              <a:rPr lang="vi-VN" sz="2000">
                <a:solidFill>
                  <a:srgbClr val="464646"/>
                </a:solidFill>
                <a:latin typeface="Arimo Medium" pitchFamily="34" charset="0"/>
                <a:ea typeface="Arimo Medium" pitchFamily="34" charset="-122"/>
                <a:cs typeface="Arimo Medium" pitchFamily="34" charset="-120"/>
              </a:rPr>
              <a:t> = </a:t>
            </a:r>
            <a:r>
              <a:rPr lang="vi-VN" sz="2000" b="1">
                <a:solidFill>
                  <a:srgbClr val="464646"/>
                </a:solidFill>
                <a:latin typeface="Arimo Medium" pitchFamily="34" charset="0"/>
                <a:ea typeface="Arimo Medium" pitchFamily="34" charset="-122"/>
                <a:cs typeface="Arimo Medium" pitchFamily="34" charset="-120"/>
              </a:rPr>
              <a:t>32</a:t>
            </a:r>
            <a:r>
              <a:rPr lang="vi-VN" sz="2000">
                <a:solidFill>
                  <a:srgbClr val="464646"/>
                </a:solidFill>
                <a:latin typeface="Arimo Medium" pitchFamily="34" charset="0"/>
                <a:ea typeface="Arimo Medium" pitchFamily="34" charset="-122"/>
                <a:cs typeface="Arimo Medium" pitchFamily="34" charset="-120"/>
              </a:rPr>
              <a:t> bức ảnh để cập nhật trọng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patience</a:t>
            </a:r>
            <a:r>
              <a:rPr lang="vi-VN" sz="2000">
                <a:solidFill>
                  <a:srgbClr val="464646"/>
                </a:solidFill>
                <a:latin typeface="Arimo Medium" pitchFamily="34" charset="0"/>
                <a:ea typeface="Arimo Medium" pitchFamily="34" charset="-122"/>
                <a:cs typeface="Arimo Medium" pitchFamily="34" charset="-120"/>
              </a:rPr>
              <a:t> = 30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chủ động ngắt huấn luyện nếu sau 30 epochs liên tiếp độ chính xác </a:t>
            </a:r>
            <a:r>
              <a:rPr lang="en-US" sz="2000">
                <a:solidFill>
                  <a:srgbClr val="464646"/>
                </a:solidFill>
                <a:latin typeface="Arimo Medium" pitchFamily="34" charset="0"/>
                <a:ea typeface="Arimo Medium" pitchFamily="34" charset="-122"/>
                <a:cs typeface="Arimo Medium" pitchFamily="34" charset="-120"/>
              </a:rPr>
              <a:t>không có dấu hiệu tăng.</a:t>
            </a:r>
            <a:endParaRPr lang="vi-VN" sz="2000">
              <a:solidFill>
                <a:srgbClr val="464646"/>
              </a:solidFill>
              <a:latin typeface="Arimo Medium" pitchFamily="34" charset="0"/>
              <a:ea typeface="Arimo Medium" pitchFamily="34" charset="-122"/>
              <a:cs typeface="Arimo Medium" pitchFamily="34" charset="-120"/>
            </a:endParaRP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Tối </a:t>
            </a:r>
            <a:r>
              <a:rPr lang="vi-VN" sz="2000">
                <a:solidFill>
                  <a:srgbClr val="464646"/>
                </a:solidFill>
                <a:latin typeface="Arimo Medium" pitchFamily="34" charset="0"/>
                <a:ea typeface="Arimo Medium" pitchFamily="34" charset="-122"/>
                <a:cs typeface="Arimo Medium" pitchFamily="34" charset="-120"/>
              </a:rPr>
              <a:t>ưu hóa (Optimizer): Chế độ Auto (Tự động thích ứng cấu hình bằng </a:t>
            </a:r>
            <a:r>
              <a:rPr lang="vi-VN" sz="2000" b="1">
                <a:solidFill>
                  <a:srgbClr val="464646"/>
                </a:solidFill>
                <a:latin typeface="Arimo Medium" pitchFamily="34" charset="0"/>
                <a:ea typeface="Arimo Medium" pitchFamily="34" charset="-122"/>
                <a:cs typeface="Arimo Medium" pitchFamily="34" charset="-120"/>
              </a:rPr>
              <a:t>AdamW</a:t>
            </a:r>
            <a:r>
              <a:rPr lang="vi-VN" sz="2000">
                <a:solidFill>
                  <a:srgbClr val="464646"/>
                </a:solidFill>
                <a:latin typeface="Arimo Medium" pitchFamily="34" charset="0"/>
                <a:ea typeface="Arimo Medium" pitchFamily="34" charset="-122"/>
                <a:cs typeface="Arimo Medium" pitchFamily="34" charset="-120"/>
              </a:rPr>
              <a:t>/</a:t>
            </a:r>
            <a:r>
              <a:rPr lang="vi-VN" sz="2000" b="1">
                <a:solidFill>
                  <a:srgbClr val="464646"/>
                </a:solidFill>
                <a:latin typeface="Arimo Medium" pitchFamily="34" charset="0"/>
                <a:ea typeface="Arimo Medium" pitchFamily="34" charset="-122"/>
                <a:cs typeface="Arimo Medium" pitchFamily="34" charset="-120"/>
              </a:rPr>
              <a:t>SGD</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Hàm kích hoạt: </a:t>
            </a:r>
            <a:r>
              <a:rPr lang="vi-VN" sz="2000" b="1">
                <a:solidFill>
                  <a:srgbClr val="464646"/>
                </a:solidFill>
                <a:latin typeface="Arimo Medium" pitchFamily="34" charset="0"/>
                <a:ea typeface="Arimo Medium" pitchFamily="34" charset="-122"/>
                <a:cs typeface="Arimo Medium" pitchFamily="34" charset="-120"/>
              </a:rPr>
              <a:t>SiLU</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Sigmoid Linear Unit</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en-US" sz="2000" b="1">
                <a:solidFill>
                  <a:srgbClr val="464646"/>
                </a:solidFill>
                <a:latin typeface="Arimo Medium" pitchFamily="34" charset="0"/>
                <a:ea typeface="Arimo Medium" pitchFamily="34" charset="-122"/>
                <a:cs typeface="Arimo Medium" pitchFamily="34" charset="-120"/>
              </a:rPr>
              <a:t>Learing rate: </a:t>
            </a:r>
            <a:r>
              <a:rPr lang="vi-VN" sz="2000">
                <a:solidFill>
                  <a:srgbClr val="464646"/>
                </a:solidFill>
                <a:latin typeface="Arimo Medium" pitchFamily="34" charset="0"/>
                <a:ea typeface="Arimo Medium" pitchFamily="34" charset="-122"/>
                <a:cs typeface="Arimo Medium" pitchFamily="34" charset="-120"/>
              </a:rPr>
              <a:t>ban đầu là 0.01 và được thiết kế giảm dần (Decay) về cuối chu kỳ (0.01 x 0.01 = 0.0001)</a:t>
            </a:r>
          </a:p>
        </p:txBody>
      </p:sp>
    </p:spTree>
    <p:extLst>
      <p:ext uri="{BB962C8B-B14F-4D97-AF65-F5344CB8AC3E}">
        <p14:creationId xmlns:p14="http://schemas.microsoft.com/office/powerpoint/2010/main" val="184596825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C8E97-081F-17E6-B6AC-9CD2FA6F8512}"/>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47CEC1C9-B751-6B99-9122-CB873A097B38}"/>
              </a:ext>
            </a:extLst>
          </p:cNvPr>
          <p:cNvPicPr>
            <a:picLocks noChangeAspect="1"/>
          </p:cNvPicPr>
          <p:nvPr/>
        </p:nvPicPr>
        <p:blipFill>
          <a:blip r:embed="rId3"/>
          <a:stretch>
            <a:fillRect/>
          </a:stretch>
        </p:blipFill>
        <p:spPr>
          <a:xfrm>
            <a:off x="6614298" y="-22100152"/>
            <a:ext cx="7837901" cy="30329752"/>
          </a:xfrm>
          <a:prstGeom prst="rect">
            <a:avLst/>
          </a:prstGeom>
        </p:spPr>
      </p:pic>
      <p:sp>
        <p:nvSpPr>
          <p:cNvPr id="2" name="Text 0">
            <a:extLst>
              <a:ext uri="{FF2B5EF4-FFF2-40B4-BE49-F238E27FC236}">
                <a16:creationId xmlns:a16="http://schemas.microsoft.com/office/drawing/2014/main" id="{DFA0267B-879B-29CE-EE06-27406456A023}"/>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3" name="Shape 1">
            <a:extLst>
              <a:ext uri="{FF2B5EF4-FFF2-40B4-BE49-F238E27FC236}">
                <a16:creationId xmlns:a16="http://schemas.microsoft.com/office/drawing/2014/main" id="{5D779295-FAA1-FE89-C3F4-18C2364EF2C5}"/>
              </a:ext>
            </a:extLst>
          </p:cNvPr>
          <p:cNvSpPr/>
          <p:nvPr/>
        </p:nvSpPr>
        <p:spPr>
          <a:xfrm>
            <a:off x="178201" y="713409"/>
            <a:ext cx="6613048" cy="7293167"/>
          </a:xfrm>
          <a:prstGeom prst="roundRect">
            <a:avLst>
              <a:gd name="adj" fmla="val 12013"/>
            </a:avLst>
          </a:prstGeom>
          <a:solidFill>
            <a:srgbClr val="F2EEEE"/>
          </a:solidFill>
          <a:ln/>
        </p:spPr>
        <p:txBody>
          <a:bodyPr/>
          <a:lstStyle/>
          <a:p>
            <a:endParaRPr lang="en-US"/>
          </a:p>
        </p:txBody>
      </p:sp>
      <p:sp>
        <p:nvSpPr>
          <p:cNvPr id="7" name="Text 2">
            <a:extLst>
              <a:ext uri="{FF2B5EF4-FFF2-40B4-BE49-F238E27FC236}">
                <a16:creationId xmlns:a16="http://schemas.microsoft.com/office/drawing/2014/main" id="{F1CC7608-4E78-35AC-78EF-033AC54EAE45}"/>
              </a:ext>
            </a:extLst>
          </p:cNvPr>
          <p:cNvSpPr/>
          <p:nvPr/>
        </p:nvSpPr>
        <p:spPr>
          <a:xfrm>
            <a:off x="549637" y="908382"/>
            <a:ext cx="624161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thông số</a:t>
            </a:r>
            <a:endParaRPr lang="en-US" sz="2400" b="1" dirty="0"/>
          </a:p>
        </p:txBody>
      </p:sp>
      <p:sp>
        <p:nvSpPr>
          <p:cNvPr id="8" name="Text 3">
            <a:extLst>
              <a:ext uri="{FF2B5EF4-FFF2-40B4-BE49-F238E27FC236}">
                <a16:creationId xmlns:a16="http://schemas.microsoft.com/office/drawing/2014/main" id="{420D93AC-7635-EC94-637C-9B83CD45F759}"/>
              </a:ext>
            </a:extLst>
          </p:cNvPr>
          <p:cNvSpPr/>
          <p:nvPr/>
        </p:nvSpPr>
        <p:spPr>
          <a:xfrm>
            <a:off x="725686" y="1455527"/>
            <a:ext cx="5889513" cy="6058786"/>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Phiên bản: </a:t>
            </a:r>
            <a:r>
              <a:rPr lang="vi-VN" sz="2000" b="1">
                <a:solidFill>
                  <a:srgbClr val="464646"/>
                </a:solidFill>
                <a:latin typeface="Arimo Medium" pitchFamily="34" charset="0"/>
                <a:ea typeface="Arimo Medium" pitchFamily="34" charset="-122"/>
                <a:cs typeface="Arimo Medium" pitchFamily="34" charset="-120"/>
              </a:rPr>
              <a:t>YOLOv8n</a:t>
            </a:r>
            <a:r>
              <a:rPr lang="vi-VN" sz="2000">
                <a:solidFill>
                  <a:srgbClr val="464646"/>
                </a:solidFill>
                <a:latin typeface="Arimo Medium" pitchFamily="34" charset="0"/>
                <a:ea typeface="Arimo Medium" pitchFamily="34" charset="-122"/>
                <a:cs typeface="Arimo Medium" pitchFamily="34" charset="-120"/>
              </a:rPr>
              <a:t> với </a:t>
            </a:r>
            <a:r>
              <a:rPr lang="vi-VN" sz="2000" b="1">
                <a:solidFill>
                  <a:srgbClr val="464646"/>
                </a:solidFill>
                <a:latin typeface="Arimo Medium" pitchFamily="34" charset="0"/>
                <a:ea typeface="Arimo Medium" pitchFamily="34" charset="-122"/>
                <a:cs typeface="Arimo Medium" pitchFamily="34" charset="-120"/>
              </a:rPr>
              <a:t>3,007,208</a:t>
            </a:r>
            <a:r>
              <a:rPr lang="vi-VN" sz="2000">
                <a:solidFill>
                  <a:srgbClr val="464646"/>
                </a:solidFill>
                <a:latin typeface="Arimo Medium" pitchFamily="34" charset="0"/>
                <a:ea typeface="Arimo Medium" pitchFamily="34" charset="-122"/>
                <a:cs typeface="Arimo Medium" pitchFamily="34" charset="-120"/>
              </a:rPr>
              <a:t> tham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Mạng được thiết kế với </a:t>
            </a:r>
            <a:r>
              <a:rPr lang="vi-VN" sz="2000" b="1">
                <a:solidFill>
                  <a:srgbClr val="464646"/>
                </a:solidFill>
                <a:latin typeface="Arimo Medium" pitchFamily="34" charset="0"/>
                <a:ea typeface="Arimo Medium" pitchFamily="34" charset="-122"/>
                <a:cs typeface="Arimo Medium" pitchFamily="34" charset="-120"/>
              </a:rPr>
              <a:t>22</a:t>
            </a:r>
            <a:r>
              <a:rPr lang="vi-VN" sz="2000">
                <a:solidFill>
                  <a:srgbClr val="464646"/>
                </a:solidFill>
                <a:latin typeface="Arimo Medium" pitchFamily="34" charset="0"/>
                <a:ea typeface="Arimo Medium" pitchFamily="34" charset="-122"/>
                <a:cs typeface="Arimo Medium" pitchFamily="34" charset="-120"/>
              </a:rPr>
              <a:t> modules chính</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tương đương với </a:t>
            </a:r>
            <a:r>
              <a:rPr lang="vi-VN" sz="2000" b="1">
                <a:solidFill>
                  <a:srgbClr val="464646"/>
                </a:solidFill>
                <a:latin typeface="Arimo Medium" pitchFamily="34" charset="0"/>
                <a:ea typeface="Arimo Medium" pitchFamily="34" charset="-122"/>
                <a:cs typeface="Arimo Medium" pitchFamily="34" charset="-120"/>
              </a:rPr>
              <a:t>168</a:t>
            </a:r>
            <a:r>
              <a:rPr lang="vi-VN" sz="2000">
                <a:solidFill>
                  <a:srgbClr val="464646"/>
                </a:solidFill>
                <a:latin typeface="Arimo Medium" pitchFamily="34" charset="0"/>
                <a:ea typeface="Arimo Medium" pitchFamily="34" charset="-122"/>
                <a:cs typeface="Arimo Medium" pitchFamily="34" charset="-120"/>
              </a:rPr>
              <a:t> lớp tính toán ẩn.</a:t>
            </a:r>
          </a:p>
          <a:p>
            <a:pPr>
              <a:lnSpc>
                <a:spcPct val="150000"/>
              </a:lnSpc>
            </a:pPr>
            <a:r>
              <a:rPr lang="en-US" sz="2000">
                <a:solidFill>
                  <a:srgbClr val="464646"/>
                </a:solidFill>
                <a:latin typeface="Arimo Medium" pitchFamily="34" charset="0"/>
                <a:ea typeface="Arimo Medium" pitchFamily="34" charset="-122"/>
                <a:cs typeface="Arimo Medium" pitchFamily="34" charset="-120"/>
              </a:rPr>
              <a:t>- Epochs, batch: T</a:t>
            </a:r>
            <a:r>
              <a:rPr lang="vi-VN" sz="2000">
                <a:solidFill>
                  <a:srgbClr val="464646"/>
                </a:solidFill>
                <a:latin typeface="Arimo Medium" pitchFamily="34" charset="0"/>
                <a:ea typeface="Arimo Medium" pitchFamily="34" charset="-122"/>
                <a:cs typeface="Arimo Medium" pitchFamily="34" charset="-120"/>
              </a:rPr>
              <a:t>ối đa 150 </a:t>
            </a:r>
            <a:r>
              <a:rPr lang="vi-VN" sz="2000" b="1">
                <a:solidFill>
                  <a:srgbClr val="464646"/>
                </a:solidFill>
                <a:latin typeface="Arimo Medium" pitchFamily="34" charset="0"/>
                <a:ea typeface="Arimo Medium" pitchFamily="34" charset="-122"/>
                <a:cs typeface="Arimo Medium" pitchFamily="34" charset="-120"/>
              </a:rPr>
              <a:t>epochs</a:t>
            </a:r>
            <a:r>
              <a:rPr lang="vi-VN" sz="2000">
                <a:solidFill>
                  <a:srgbClr val="464646"/>
                </a:solidFill>
                <a:latin typeface="Arimo Medium" pitchFamily="34" charset="0"/>
                <a:ea typeface="Arimo Medium" pitchFamily="34" charset="-122"/>
                <a:cs typeface="Arimo Medium" pitchFamily="34" charset="-120"/>
              </a:rPr>
              <a:t>, mỗi lần nạp</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batch</a:t>
            </a:r>
            <a:r>
              <a:rPr lang="vi-VN" sz="2000">
                <a:solidFill>
                  <a:srgbClr val="464646"/>
                </a:solidFill>
                <a:latin typeface="Arimo Medium" pitchFamily="34" charset="0"/>
                <a:ea typeface="Arimo Medium" pitchFamily="34" charset="-122"/>
                <a:cs typeface="Arimo Medium" pitchFamily="34" charset="-120"/>
              </a:rPr>
              <a:t> = </a:t>
            </a:r>
            <a:r>
              <a:rPr lang="vi-VN" sz="2000" b="1">
                <a:solidFill>
                  <a:srgbClr val="464646"/>
                </a:solidFill>
                <a:latin typeface="Arimo Medium" pitchFamily="34" charset="0"/>
                <a:ea typeface="Arimo Medium" pitchFamily="34" charset="-122"/>
                <a:cs typeface="Arimo Medium" pitchFamily="34" charset="-120"/>
              </a:rPr>
              <a:t>32</a:t>
            </a:r>
            <a:r>
              <a:rPr lang="vi-VN" sz="2000">
                <a:solidFill>
                  <a:srgbClr val="464646"/>
                </a:solidFill>
                <a:latin typeface="Arimo Medium" pitchFamily="34" charset="0"/>
                <a:ea typeface="Arimo Medium" pitchFamily="34" charset="-122"/>
                <a:cs typeface="Arimo Medium" pitchFamily="34" charset="-120"/>
              </a:rPr>
              <a:t> bức ảnh để cập nhật trọng số.</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patience</a:t>
            </a:r>
            <a:r>
              <a:rPr lang="vi-VN" sz="2000">
                <a:solidFill>
                  <a:srgbClr val="464646"/>
                </a:solidFill>
                <a:latin typeface="Arimo Medium" pitchFamily="34" charset="0"/>
                <a:ea typeface="Arimo Medium" pitchFamily="34" charset="-122"/>
                <a:cs typeface="Arimo Medium" pitchFamily="34" charset="-120"/>
              </a:rPr>
              <a:t> = 30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chủ động ngắt huấn luyện nếu sau 30 epochs liên tiếp độ chính xác </a:t>
            </a:r>
            <a:r>
              <a:rPr lang="en-US" sz="2000">
                <a:solidFill>
                  <a:srgbClr val="464646"/>
                </a:solidFill>
                <a:latin typeface="Arimo Medium" pitchFamily="34" charset="0"/>
                <a:ea typeface="Arimo Medium" pitchFamily="34" charset="-122"/>
                <a:cs typeface="Arimo Medium" pitchFamily="34" charset="-120"/>
              </a:rPr>
              <a:t>không có dấu hiệu tăng.</a:t>
            </a:r>
            <a:endParaRPr lang="vi-VN" sz="2000">
              <a:solidFill>
                <a:srgbClr val="464646"/>
              </a:solidFill>
              <a:latin typeface="Arimo Medium" pitchFamily="34" charset="0"/>
              <a:ea typeface="Arimo Medium" pitchFamily="34" charset="-122"/>
              <a:cs typeface="Arimo Medium" pitchFamily="34" charset="-120"/>
            </a:endParaRP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Tối </a:t>
            </a:r>
            <a:r>
              <a:rPr lang="vi-VN" sz="2000">
                <a:solidFill>
                  <a:srgbClr val="464646"/>
                </a:solidFill>
                <a:latin typeface="Arimo Medium" pitchFamily="34" charset="0"/>
                <a:ea typeface="Arimo Medium" pitchFamily="34" charset="-122"/>
                <a:cs typeface="Arimo Medium" pitchFamily="34" charset="-120"/>
              </a:rPr>
              <a:t>ưu hóa (Optimizer): Chế độ Auto (Tự động thích ứng cấu hình bằng </a:t>
            </a:r>
            <a:r>
              <a:rPr lang="vi-VN" sz="2000" b="1">
                <a:solidFill>
                  <a:srgbClr val="464646"/>
                </a:solidFill>
                <a:latin typeface="Arimo Medium" pitchFamily="34" charset="0"/>
                <a:ea typeface="Arimo Medium" pitchFamily="34" charset="-122"/>
                <a:cs typeface="Arimo Medium" pitchFamily="34" charset="-120"/>
              </a:rPr>
              <a:t>AdamW</a:t>
            </a:r>
            <a:r>
              <a:rPr lang="vi-VN" sz="2000">
                <a:solidFill>
                  <a:srgbClr val="464646"/>
                </a:solidFill>
                <a:latin typeface="Arimo Medium" pitchFamily="34" charset="0"/>
                <a:ea typeface="Arimo Medium" pitchFamily="34" charset="-122"/>
                <a:cs typeface="Arimo Medium" pitchFamily="34" charset="-120"/>
              </a:rPr>
              <a:t>/</a:t>
            </a:r>
            <a:r>
              <a:rPr lang="vi-VN" sz="2000" b="1">
                <a:solidFill>
                  <a:srgbClr val="464646"/>
                </a:solidFill>
                <a:latin typeface="Arimo Medium" pitchFamily="34" charset="0"/>
                <a:ea typeface="Arimo Medium" pitchFamily="34" charset="-122"/>
                <a:cs typeface="Arimo Medium" pitchFamily="34" charset="-120"/>
              </a:rPr>
              <a:t>SGD</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Hàm kích hoạt: </a:t>
            </a:r>
            <a:r>
              <a:rPr lang="vi-VN" sz="2000" b="1">
                <a:solidFill>
                  <a:srgbClr val="464646"/>
                </a:solidFill>
                <a:latin typeface="Arimo Medium" pitchFamily="34" charset="0"/>
                <a:ea typeface="Arimo Medium" pitchFamily="34" charset="-122"/>
                <a:cs typeface="Arimo Medium" pitchFamily="34" charset="-120"/>
              </a:rPr>
              <a:t>SiLU</a:t>
            </a:r>
            <a:r>
              <a:rPr lang="vi-VN" sz="2000">
                <a:solidFill>
                  <a:srgbClr val="464646"/>
                </a:solidFill>
                <a:latin typeface="Arimo Medium" pitchFamily="34" charset="0"/>
                <a:ea typeface="Arimo Medium" pitchFamily="34" charset="-122"/>
                <a:cs typeface="Arimo Medium" pitchFamily="34" charset="-120"/>
              </a:rPr>
              <a:t> (</a:t>
            </a:r>
            <a:r>
              <a:rPr lang="vi-VN" sz="2000" b="1">
                <a:solidFill>
                  <a:srgbClr val="464646"/>
                </a:solidFill>
                <a:latin typeface="Arimo Medium" pitchFamily="34" charset="0"/>
                <a:ea typeface="Arimo Medium" pitchFamily="34" charset="-122"/>
                <a:cs typeface="Arimo Medium" pitchFamily="34" charset="-120"/>
              </a:rPr>
              <a:t>Sigmoid Linear Unit</a:t>
            </a:r>
            <a:r>
              <a:rPr lang="vi-VN"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 </a:t>
            </a:r>
            <a:r>
              <a:rPr lang="en-US" sz="2000" b="1">
                <a:solidFill>
                  <a:srgbClr val="464646"/>
                </a:solidFill>
                <a:latin typeface="Arimo Medium" pitchFamily="34" charset="0"/>
                <a:ea typeface="Arimo Medium" pitchFamily="34" charset="-122"/>
                <a:cs typeface="Arimo Medium" pitchFamily="34" charset="-120"/>
              </a:rPr>
              <a:t>Learing rate: </a:t>
            </a:r>
            <a:r>
              <a:rPr lang="vi-VN" sz="2000">
                <a:solidFill>
                  <a:srgbClr val="464646"/>
                </a:solidFill>
                <a:latin typeface="Arimo Medium" pitchFamily="34" charset="0"/>
                <a:ea typeface="Arimo Medium" pitchFamily="34" charset="-122"/>
                <a:cs typeface="Arimo Medium" pitchFamily="34" charset="-120"/>
              </a:rPr>
              <a:t>ban đầu là 0.01 và được thiết kế giảm dần (Decay) về cuối chu kỳ (0.01 x 0.01 = 0.0001)</a:t>
            </a:r>
          </a:p>
        </p:txBody>
      </p:sp>
    </p:spTree>
    <p:extLst>
      <p:ext uri="{BB962C8B-B14F-4D97-AF65-F5344CB8AC3E}">
        <p14:creationId xmlns:p14="http://schemas.microsoft.com/office/powerpoint/2010/main" val="2074881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F45F7-7423-8BF6-8938-AAA58265B4D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10E4054-A115-2280-2F36-068FE09C2E8A}"/>
              </a:ext>
            </a:extLst>
          </p:cNvPr>
          <p:cNvSpPr/>
          <p:nvPr/>
        </p:nvSpPr>
        <p:spPr>
          <a:xfrm>
            <a:off x="-3810" y="0"/>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3" name="Shape 1">
            <a:extLst>
              <a:ext uri="{FF2B5EF4-FFF2-40B4-BE49-F238E27FC236}">
                <a16:creationId xmlns:a16="http://schemas.microsoft.com/office/drawing/2014/main" id="{DD8CDA97-A42C-F177-D47F-AFD3DE0E3357}"/>
              </a:ext>
            </a:extLst>
          </p:cNvPr>
          <p:cNvSpPr/>
          <p:nvPr/>
        </p:nvSpPr>
        <p:spPr>
          <a:xfrm>
            <a:off x="4008676" y="5974080"/>
            <a:ext cx="6613048" cy="807720"/>
          </a:xfrm>
          <a:prstGeom prst="roundRect">
            <a:avLst>
              <a:gd name="adj" fmla="val 12013"/>
            </a:avLst>
          </a:prstGeom>
          <a:solidFill>
            <a:srgbClr val="F2EEEE"/>
          </a:solidFill>
          <a:ln/>
        </p:spPr>
        <p:txBody>
          <a:bodyPr/>
          <a:lstStyle/>
          <a:p>
            <a:endParaRPr lang="en-US"/>
          </a:p>
        </p:txBody>
      </p:sp>
      <p:sp>
        <p:nvSpPr>
          <p:cNvPr id="8" name="Text 3">
            <a:hlinkClick r:id="rId3"/>
            <a:extLst>
              <a:ext uri="{FF2B5EF4-FFF2-40B4-BE49-F238E27FC236}">
                <a16:creationId xmlns:a16="http://schemas.microsoft.com/office/drawing/2014/main" id="{77FE9A91-E564-1D10-F967-5297750B0FC1}"/>
              </a:ext>
            </a:extLst>
          </p:cNvPr>
          <p:cNvSpPr/>
          <p:nvPr/>
        </p:nvSpPr>
        <p:spPr>
          <a:xfrm>
            <a:off x="4556161" y="6118967"/>
            <a:ext cx="5889513" cy="662833"/>
          </a:xfrm>
          <a:prstGeom prst="rect">
            <a:avLst/>
          </a:prstGeom>
          <a:noFill/>
          <a:ln/>
        </p:spPr>
        <p:txBody>
          <a:bodyPr wrap="square" lIns="0" tIns="0" rIns="0" bIns="0" rtlCol="0" anchor="t"/>
          <a:lstStyle/>
          <a:p>
            <a:pPr marL="0" indent="0">
              <a:lnSpc>
                <a:spcPct val="150000"/>
              </a:lnSpc>
              <a:buNone/>
            </a:pPr>
            <a:r>
              <a:rPr lang="en-US" sz="2000">
                <a:solidFill>
                  <a:srgbClr val="464646"/>
                </a:solidFill>
                <a:latin typeface="Arimo Medium" pitchFamily="34" charset="0"/>
                <a:ea typeface="Arimo Medium" pitchFamily="34" charset="-122"/>
                <a:cs typeface="Arimo Medium" pitchFamily="34" charset="-120"/>
              </a:rPr>
              <a:t>Xem chi tiết mạng CNN tại website </a:t>
            </a:r>
            <a:r>
              <a:rPr lang="en-US" sz="2000" b="1">
                <a:solidFill>
                  <a:srgbClr val="464646"/>
                </a:solidFill>
                <a:latin typeface="Arimo Medium" pitchFamily="34" charset="0"/>
                <a:ea typeface="Arimo Medium" pitchFamily="34" charset="-122"/>
                <a:cs typeface="Arimo Medium" pitchFamily="34" charset="-120"/>
              </a:rPr>
              <a:t>Netron.app</a:t>
            </a:r>
            <a:endParaRPr lang="vi-VN" sz="2000" b="1">
              <a:solidFill>
                <a:srgbClr val="464646"/>
              </a:solidFill>
              <a:latin typeface="Arimo Medium" pitchFamily="34" charset="0"/>
              <a:ea typeface="Arimo Medium" pitchFamily="34" charset="-122"/>
              <a:cs typeface="Arimo Medium" pitchFamily="34" charset="-120"/>
            </a:endParaRPr>
          </a:p>
        </p:txBody>
      </p:sp>
      <p:pic>
        <p:nvPicPr>
          <p:cNvPr id="5" name="Picture 4">
            <a:extLst>
              <a:ext uri="{FF2B5EF4-FFF2-40B4-BE49-F238E27FC236}">
                <a16:creationId xmlns:a16="http://schemas.microsoft.com/office/drawing/2014/main" id="{D7946995-152C-F443-BEF5-99F713BE2927}"/>
              </a:ext>
            </a:extLst>
          </p:cNvPr>
          <p:cNvPicPr>
            <a:picLocks noChangeAspect="1"/>
          </p:cNvPicPr>
          <p:nvPr/>
        </p:nvPicPr>
        <p:blipFill>
          <a:blip r:embed="rId4"/>
          <a:stretch>
            <a:fillRect/>
          </a:stretch>
        </p:blipFill>
        <p:spPr>
          <a:xfrm>
            <a:off x="3611559" y="1756031"/>
            <a:ext cx="7407282" cy="3749365"/>
          </a:xfrm>
          <a:prstGeom prst="rect">
            <a:avLst/>
          </a:prstGeom>
        </p:spPr>
      </p:pic>
    </p:spTree>
    <p:extLst>
      <p:ext uri="{BB962C8B-B14F-4D97-AF65-F5344CB8AC3E}">
        <p14:creationId xmlns:p14="http://schemas.microsoft.com/office/powerpoint/2010/main" val="31643994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712D3-BD6D-5881-FA61-0BC4C995BFA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7CE4EF8-DEAE-4BFC-B718-96C20D8A119C}"/>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4" name="Shape 1">
            <a:extLst>
              <a:ext uri="{FF2B5EF4-FFF2-40B4-BE49-F238E27FC236}">
                <a16:creationId xmlns:a16="http://schemas.microsoft.com/office/drawing/2014/main" id="{E0C9EC5B-FC5F-5F71-745D-C2B836E18342}"/>
              </a:ext>
            </a:extLst>
          </p:cNvPr>
          <p:cNvSpPr/>
          <p:nvPr/>
        </p:nvSpPr>
        <p:spPr>
          <a:xfrm>
            <a:off x="-11891879" y="1325249"/>
            <a:ext cx="6613048" cy="1935705"/>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3834D71C-AC23-874F-1736-AA9C4DB83356}"/>
              </a:ext>
            </a:extLst>
          </p:cNvPr>
          <p:cNvSpPr/>
          <p:nvPr/>
        </p:nvSpPr>
        <p:spPr>
          <a:xfrm>
            <a:off x="-11738547" y="1466217"/>
            <a:ext cx="6241612"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Tiền xử lý &amp; Tăng cường </a:t>
            </a:r>
            <a:endParaRPr lang="en-US" sz="2400" b="1" dirty="0"/>
          </a:p>
        </p:txBody>
      </p:sp>
      <p:sp>
        <p:nvSpPr>
          <p:cNvPr id="6" name="Text 3">
            <a:extLst>
              <a:ext uri="{FF2B5EF4-FFF2-40B4-BE49-F238E27FC236}">
                <a16:creationId xmlns:a16="http://schemas.microsoft.com/office/drawing/2014/main" id="{A26A6644-DB7E-887B-A5C6-334DF00B0FC3}"/>
              </a:ext>
            </a:extLst>
          </p:cNvPr>
          <p:cNvSpPr/>
          <p:nvPr/>
        </p:nvSpPr>
        <p:spPr>
          <a:xfrm>
            <a:off x="-11515585" y="1908472"/>
            <a:ext cx="5889513" cy="1122507"/>
          </a:xfrm>
          <a:prstGeom prst="rect">
            <a:avLst/>
          </a:prstGeom>
          <a:noFill/>
          <a:ln/>
        </p:spPr>
        <p:txBody>
          <a:bodyPr wrap="square" lIns="0" tIns="0" rIns="0" bIns="0" rtlCol="0" anchor="t"/>
          <a:lstStyle/>
          <a:p>
            <a:pPr marL="0" indent="0" algn="ctr">
              <a:lnSpc>
                <a:spcPts val="2850"/>
              </a:lnSpc>
              <a:buNone/>
            </a:pPr>
            <a:r>
              <a:rPr lang="en-US" sz="2000">
                <a:solidFill>
                  <a:srgbClr val="464646"/>
                </a:solidFill>
                <a:latin typeface="Arimo Medium" pitchFamily="34" charset="0"/>
                <a:ea typeface="Arimo Medium" pitchFamily="34" charset="-122"/>
                <a:cs typeface="Arimo Medium" pitchFamily="34" charset="-120"/>
              </a:rPr>
              <a:t>C</a:t>
            </a:r>
            <a:r>
              <a:rPr lang="vi-VN" sz="2000">
                <a:solidFill>
                  <a:srgbClr val="464646"/>
                </a:solidFill>
                <a:latin typeface="Arimo Medium" pitchFamily="34" charset="0"/>
                <a:ea typeface="Arimo Medium" pitchFamily="34" charset="-122"/>
                <a:cs typeface="Arimo Medium" pitchFamily="34" charset="-120"/>
              </a:rPr>
              <a:t>huẩn hóa kích thước (Resize) 224 x 224 pixels.</a:t>
            </a:r>
            <a:endParaRPr lang="en-US" sz="2000">
              <a:solidFill>
                <a:srgbClr val="464646"/>
              </a:solidFill>
              <a:latin typeface="Arimo Medium" pitchFamily="34" charset="0"/>
              <a:ea typeface="Arimo Medium" pitchFamily="34" charset="-122"/>
              <a:cs typeface="Arimo Medium" pitchFamily="34" charset="-120"/>
            </a:endParaRPr>
          </a:p>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 Áp dụng kỹ thuật Tăng cường dữ liệu </a:t>
            </a:r>
            <a:r>
              <a:rPr lang="en-US" sz="2000">
                <a:solidFill>
                  <a:srgbClr val="464646"/>
                </a:solidFill>
                <a:latin typeface="Arimo Medium" pitchFamily="34" charset="0"/>
                <a:ea typeface="Arimo Medium" pitchFamily="34" charset="-122"/>
                <a:cs typeface="Arimo Medium" pitchFamily="34" charset="-120"/>
              </a:rPr>
              <a:t>(</a:t>
            </a:r>
            <a:r>
              <a:rPr lang="vi-VN" sz="2000">
                <a:solidFill>
                  <a:srgbClr val="464646"/>
                </a:solidFill>
                <a:latin typeface="Arimo Medium" pitchFamily="34" charset="0"/>
                <a:ea typeface="Arimo Medium" pitchFamily="34" charset="-122"/>
                <a:cs typeface="Arimo Medium" pitchFamily="34" charset="-120"/>
              </a:rPr>
              <a:t> Flip, Brightness...)</a:t>
            </a:r>
            <a:r>
              <a:rPr lang="en-US" sz="2000">
                <a:solidFill>
                  <a:srgbClr val="464646"/>
                </a:solidFill>
                <a:latin typeface="Arimo Medium" pitchFamily="34" charset="0"/>
                <a:ea typeface="Arimo Medium" pitchFamily="34" charset="-122"/>
                <a:cs typeface="Arimo Medium" pitchFamily="34" charset="-120"/>
              </a:rPr>
              <a:t>.</a:t>
            </a:r>
            <a:endParaRPr lang="vi-VN" sz="2000">
              <a:solidFill>
                <a:srgbClr val="464646"/>
              </a:solidFill>
              <a:latin typeface="Arimo Medium" pitchFamily="34" charset="0"/>
              <a:ea typeface="Arimo Medium" pitchFamily="34" charset="-122"/>
              <a:cs typeface="Arimo Medium" pitchFamily="34" charset="-120"/>
            </a:endParaRPr>
          </a:p>
        </p:txBody>
      </p:sp>
      <p:pic>
        <p:nvPicPr>
          <p:cNvPr id="7" name="Picture 6">
            <a:extLst>
              <a:ext uri="{FF2B5EF4-FFF2-40B4-BE49-F238E27FC236}">
                <a16:creationId xmlns:a16="http://schemas.microsoft.com/office/drawing/2014/main" id="{2C974FE8-A431-19EA-3956-C49971814097}"/>
              </a:ext>
            </a:extLst>
          </p:cNvPr>
          <p:cNvPicPr>
            <a:picLocks noChangeAspect="1"/>
          </p:cNvPicPr>
          <p:nvPr/>
        </p:nvPicPr>
        <p:blipFill>
          <a:blip r:embed="rId3"/>
          <a:stretch>
            <a:fillRect/>
          </a:stretch>
        </p:blipFill>
        <p:spPr>
          <a:xfrm>
            <a:off x="75581" y="1111889"/>
            <a:ext cx="14479237" cy="6523352"/>
          </a:xfrm>
          <a:prstGeom prst="rect">
            <a:avLst/>
          </a:prstGeom>
        </p:spPr>
      </p:pic>
    </p:spTree>
    <p:extLst>
      <p:ext uri="{BB962C8B-B14F-4D97-AF65-F5344CB8AC3E}">
        <p14:creationId xmlns:p14="http://schemas.microsoft.com/office/powerpoint/2010/main" val="29169026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A534A-81C6-2497-17FF-30719A776AA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4E6492-E7F2-8943-BC4A-61355B2EDCF1}"/>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4.2: Mô hình huấn luyện CNN</a:t>
            </a:r>
            <a:endParaRPr lang="en-US" sz="3550" b="1" dirty="0"/>
          </a:p>
        </p:txBody>
      </p:sp>
      <p:sp>
        <p:nvSpPr>
          <p:cNvPr id="4" name="Shape 1">
            <a:extLst>
              <a:ext uri="{FF2B5EF4-FFF2-40B4-BE49-F238E27FC236}">
                <a16:creationId xmlns:a16="http://schemas.microsoft.com/office/drawing/2014/main" id="{5819F203-791A-9E46-28B8-244E0872A831}"/>
              </a:ext>
            </a:extLst>
          </p:cNvPr>
          <p:cNvSpPr/>
          <p:nvPr/>
        </p:nvSpPr>
        <p:spPr>
          <a:xfrm>
            <a:off x="-11891879" y="1325249"/>
            <a:ext cx="6613048" cy="1935705"/>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2127F0EC-84C0-25C2-BCF8-48660D24C4A9}"/>
              </a:ext>
            </a:extLst>
          </p:cNvPr>
          <p:cNvSpPr/>
          <p:nvPr/>
        </p:nvSpPr>
        <p:spPr>
          <a:xfrm>
            <a:off x="-11738547" y="1466217"/>
            <a:ext cx="6241612" cy="327474"/>
          </a:xfrm>
          <a:prstGeom prst="rect">
            <a:avLst/>
          </a:prstGeom>
          <a:noFill/>
          <a:ln/>
        </p:spPr>
        <p:txBody>
          <a:bodyPr wrap="none" lIns="0" tIns="0" rIns="0" bIns="0" rtlCol="0" anchor="t"/>
          <a:lstStyle/>
          <a:p>
            <a:pPr algn="ctr">
              <a:lnSpc>
                <a:spcPts val="2750"/>
              </a:lnSpc>
            </a:pPr>
            <a:r>
              <a:rPr lang="vi-VN" sz="2400" b="1">
                <a:solidFill>
                  <a:srgbClr val="464646"/>
                </a:solidFill>
                <a:latin typeface="Arimo Medium" pitchFamily="34" charset="0"/>
                <a:ea typeface="Arimo Medium" pitchFamily="34" charset="-122"/>
                <a:cs typeface="Arimo Medium" pitchFamily="34" charset="-120"/>
              </a:rPr>
              <a:t>Tiền xử lý &amp; Tăng cường </a:t>
            </a:r>
            <a:endParaRPr lang="en-US" sz="2400" b="1" dirty="0"/>
          </a:p>
        </p:txBody>
      </p:sp>
      <p:sp>
        <p:nvSpPr>
          <p:cNvPr id="6" name="Text 3">
            <a:extLst>
              <a:ext uri="{FF2B5EF4-FFF2-40B4-BE49-F238E27FC236}">
                <a16:creationId xmlns:a16="http://schemas.microsoft.com/office/drawing/2014/main" id="{E9ACD1CB-E13E-9C83-F541-26140D0E78D6}"/>
              </a:ext>
            </a:extLst>
          </p:cNvPr>
          <p:cNvSpPr/>
          <p:nvPr/>
        </p:nvSpPr>
        <p:spPr>
          <a:xfrm>
            <a:off x="-11515585" y="1908472"/>
            <a:ext cx="5889513" cy="1122507"/>
          </a:xfrm>
          <a:prstGeom prst="rect">
            <a:avLst/>
          </a:prstGeom>
          <a:noFill/>
          <a:ln/>
        </p:spPr>
        <p:txBody>
          <a:bodyPr wrap="square" lIns="0" tIns="0" rIns="0" bIns="0" rtlCol="0" anchor="t"/>
          <a:lstStyle/>
          <a:p>
            <a:pPr marL="0" indent="0" algn="ctr">
              <a:lnSpc>
                <a:spcPts val="2850"/>
              </a:lnSpc>
              <a:buNone/>
            </a:pPr>
            <a:r>
              <a:rPr lang="en-US" sz="2000">
                <a:solidFill>
                  <a:srgbClr val="464646"/>
                </a:solidFill>
                <a:latin typeface="Arimo Medium" pitchFamily="34" charset="0"/>
                <a:ea typeface="Arimo Medium" pitchFamily="34" charset="-122"/>
                <a:cs typeface="Arimo Medium" pitchFamily="34" charset="-120"/>
              </a:rPr>
              <a:t>C</a:t>
            </a:r>
            <a:r>
              <a:rPr lang="vi-VN" sz="2000">
                <a:solidFill>
                  <a:srgbClr val="464646"/>
                </a:solidFill>
                <a:latin typeface="Arimo Medium" pitchFamily="34" charset="0"/>
                <a:ea typeface="Arimo Medium" pitchFamily="34" charset="-122"/>
                <a:cs typeface="Arimo Medium" pitchFamily="34" charset="-120"/>
              </a:rPr>
              <a:t>huẩn hóa kích thước (Resize) 224 x 224 pixels.</a:t>
            </a:r>
            <a:endParaRPr lang="en-US" sz="2000">
              <a:solidFill>
                <a:srgbClr val="464646"/>
              </a:solidFill>
              <a:latin typeface="Arimo Medium" pitchFamily="34" charset="0"/>
              <a:ea typeface="Arimo Medium" pitchFamily="34" charset="-122"/>
              <a:cs typeface="Arimo Medium" pitchFamily="34" charset="-120"/>
            </a:endParaRPr>
          </a:p>
          <a:p>
            <a:pPr marL="0" indent="0" algn="ctr">
              <a:lnSpc>
                <a:spcPts val="2850"/>
              </a:lnSpc>
              <a:buNone/>
            </a:pPr>
            <a:r>
              <a:rPr lang="vi-VN" sz="2000">
                <a:solidFill>
                  <a:srgbClr val="464646"/>
                </a:solidFill>
                <a:latin typeface="Arimo Medium" pitchFamily="34" charset="0"/>
                <a:ea typeface="Arimo Medium" pitchFamily="34" charset="-122"/>
                <a:cs typeface="Arimo Medium" pitchFamily="34" charset="-120"/>
              </a:rPr>
              <a:t> Áp dụng kỹ thuật Tăng cường dữ liệu </a:t>
            </a:r>
            <a:r>
              <a:rPr lang="en-US" sz="2000">
                <a:solidFill>
                  <a:srgbClr val="464646"/>
                </a:solidFill>
                <a:latin typeface="Arimo Medium" pitchFamily="34" charset="0"/>
                <a:ea typeface="Arimo Medium" pitchFamily="34" charset="-122"/>
                <a:cs typeface="Arimo Medium" pitchFamily="34" charset="-120"/>
              </a:rPr>
              <a:t>(</a:t>
            </a:r>
            <a:r>
              <a:rPr lang="vi-VN" sz="2000">
                <a:solidFill>
                  <a:srgbClr val="464646"/>
                </a:solidFill>
                <a:latin typeface="Arimo Medium" pitchFamily="34" charset="0"/>
                <a:ea typeface="Arimo Medium" pitchFamily="34" charset="-122"/>
                <a:cs typeface="Arimo Medium" pitchFamily="34" charset="-120"/>
              </a:rPr>
              <a:t> Flip, Brightness...)</a:t>
            </a:r>
            <a:r>
              <a:rPr lang="en-US" sz="2000">
                <a:solidFill>
                  <a:srgbClr val="464646"/>
                </a:solidFill>
                <a:latin typeface="Arimo Medium" pitchFamily="34" charset="0"/>
                <a:ea typeface="Arimo Medium" pitchFamily="34" charset="-122"/>
                <a:cs typeface="Arimo Medium" pitchFamily="34" charset="-120"/>
              </a:rPr>
              <a:t>.</a:t>
            </a:r>
            <a:endParaRPr lang="vi-VN" sz="2000">
              <a:solidFill>
                <a:srgbClr val="464646"/>
              </a:solidFill>
              <a:latin typeface="Arimo Medium" pitchFamily="34" charset="0"/>
              <a:ea typeface="Arimo Medium" pitchFamily="34" charset="-122"/>
              <a:cs typeface="Arimo Medium" pitchFamily="34" charset="-120"/>
            </a:endParaRPr>
          </a:p>
        </p:txBody>
      </p:sp>
      <p:pic>
        <p:nvPicPr>
          <p:cNvPr id="10" name="image3.png">
            <a:extLst>
              <a:ext uri="{FF2B5EF4-FFF2-40B4-BE49-F238E27FC236}">
                <a16:creationId xmlns:a16="http://schemas.microsoft.com/office/drawing/2014/main" id="{3A420407-5898-8606-C894-1E4E35D1680C}"/>
              </a:ext>
            </a:extLst>
          </p:cNvPr>
          <p:cNvPicPr/>
          <p:nvPr/>
        </p:nvPicPr>
        <p:blipFill>
          <a:blip r:embed="rId3"/>
          <a:srcRect/>
          <a:stretch>
            <a:fillRect/>
          </a:stretch>
        </p:blipFill>
        <p:spPr>
          <a:xfrm>
            <a:off x="-111178" y="708827"/>
            <a:ext cx="14560146" cy="7292173"/>
          </a:xfrm>
          <a:prstGeom prst="rect">
            <a:avLst/>
          </a:prstGeom>
          <a:ln/>
        </p:spPr>
      </p:pic>
    </p:spTree>
    <p:extLst>
      <p:ext uri="{BB962C8B-B14F-4D97-AF65-F5344CB8AC3E}">
        <p14:creationId xmlns:p14="http://schemas.microsoft.com/office/powerpoint/2010/main" val="97648403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659382"/>
            <a:ext cx="4238506" cy="4238506"/>
          </a:xfrm>
          <a:prstGeom prst="rect">
            <a:avLst/>
          </a:prstGeom>
        </p:spPr>
      </p:pic>
      <p:sp>
        <p:nvSpPr>
          <p:cNvPr id="4" name="Text 1"/>
          <p:cNvSpPr/>
          <p:nvPr/>
        </p:nvSpPr>
        <p:spPr>
          <a:xfrm>
            <a:off x="5531406" y="1819700"/>
            <a:ext cx="3488650" cy="352187"/>
          </a:xfrm>
          <a:prstGeom prst="rect">
            <a:avLst/>
          </a:prstGeom>
          <a:noFill/>
          <a:ln/>
        </p:spPr>
        <p:txBody>
          <a:bodyPr wrap="none" lIns="0" tIns="0" rIns="0" bIns="0" rtlCol="0" anchor="t"/>
          <a:lstStyle/>
          <a:p>
            <a:pPr marL="0" indent="0" algn="l">
              <a:lnSpc>
                <a:spcPts val="2750"/>
              </a:lnSpc>
              <a:buNone/>
            </a:pPr>
            <a:r>
              <a:rPr lang="en-US" sz="3200" b="1" dirty="0">
                <a:solidFill>
                  <a:srgbClr val="233939"/>
                </a:solidFill>
                <a:latin typeface="Syne Bold" pitchFamily="34" charset="0"/>
                <a:ea typeface="Syne Bold" pitchFamily="34" charset="-122"/>
                <a:cs typeface="Syne Bold" pitchFamily="34" charset="-120"/>
              </a:rPr>
              <a:t>Vấn đề của Logic cứng</a:t>
            </a:r>
            <a:endParaRPr lang="en-US" sz="3200" dirty="0"/>
          </a:p>
        </p:txBody>
      </p:sp>
      <p:sp>
        <p:nvSpPr>
          <p:cNvPr id="5" name="Text 2"/>
          <p:cNvSpPr/>
          <p:nvPr/>
        </p:nvSpPr>
        <p:spPr>
          <a:xfrm>
            <a:off x="5531406" y="2327382"/>
            <a:ext cx="8264247" cy="549354"/>
          </a:xfrm>
          <a:prstGeom prst="rect">
            <a:avLst/>
          </a:prstGeom>
          <a:noFill/>
          <a:ln/>
        </p:spPr>
        <p:txBody>
          <a:bodyPr wrap="squar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Hệ thống If-Else tạo ra hiện tượng "nhảy bậc" tại các ngưỡng cố định. Ví dụ: tại 9.9m hệ thống im lặng hoàn toàn, nhưng chỉ cần vượt qua 10m là còi hú tối đa ngay lập tức.</a:t>
            </a:r>
            <a:endParaRPr lang="en-US" sz="2000" dirty="0"/>
          </a:p>
        </p:txBody>
      </p:sp>
      <p:grpSp>
        <p:nvGrpSpPr>
          <p:cNvPr id="17" name="Group 16">
            <a:extLst>
              <a:ext uri="{FF2B5EF4-FFF2-40B4-BE49-F238E27FC236}">
                <a16:creationId xmlns:a16="http://schemas.microsoft.com/office/drawing/2014/main" id="{2BE4FF7C-A621-6724-1717-212DC026E0BE}"/>
              </a:ext>
            </a:extLst>
          </p:cNvPr>
          <p:cNvGrpSpPr/>
          <p:nvPr/>
        </p:nvGrpSpPr>
        <p:grpSpPr>
          <a:xfrm>
            <a:off x="821294" y="4592911"/>
            <a:ext cx="4372094" cy="1601510"/>
            <a:chOff x="834628" y="6105763"/>
            <a:chExt cx="4372094" cy="1601510"/>
          </a:xfrm>
        </p:grpSpPr>
        <p:sp>
          <p:nvSpPr>
            <p:cNvPr id="6" name="Shape 3"/>
            <p:cNvSpPr/>
            <p:nvPr/>
          </p:nvSpPr>
          <p:spPr>
            <a:xfrm>
              <a:off x="834628" y="6105763"/>
              <a:ext cx="4372094" cy="1601510"/>
            </a:xfrm>
            <a:prstGeom prst="roundRect">
              <a:avLst>
                <a:gd name="adj" fmla="val 4926"/>
              </a:avLst>
            </a:prstGeom>
            <a:solidFill>
              <a:srgbClr val="DDEEE6"/>
            </a:solidFill>
            <a:ln w="7620">
              <a:solidFill>
                <a:srgbClr val="C3D4CC"/>
              </a:solidFill>
              <a:prstDash val="solid"/>
            </a:ln>
          </p:spPr>
          <p:txBody>
            <a:bodyPr/>
            <a:lstStyle/>
            <a:p>
              <a:endParaRPr lang="en-US" sz="2800"/>
            </a:p>
          </p:txBody>
        </p:sp>
        <p:sp>
          <p:nvSpPr>
            <p:cNvPr id="7" name="Text 4"/>
            <p:cNvSpPr/>
            <p:nvPr/>
          </p:nvSpPr>
          <p:spPr>
            <a:xfrm>
              <a:off x="1030010" y="6301145"/>
              <a:ext cx="3480673" cy="293489"/>
            </a:xfrm>
            <a:prstGeom prst="rect">
              <a:avLst/>
            </a:prstGeom>
            <a:noFill/>
            <a:ln/>
          </p:spPr>
          <p:txBody>
            <a:bodyPr wrap="none" lIns="0" tIns="0" rIns="0" bIns="0" rtlCol="0" anchor="t"/>
            <a:lstStyle/>
            <a:p>
              <a:pPr marL="0" indent="0" algn="l">
                <a:lnSpc>
                  <a:spcPts val="2300"/>
                </a:lnSpc>
                <a:buNone/>
              </a:pPr>
              <a:r>
                <a:rPr lang="en-US" sz="2800" b="1" dirty="0">
                  <a:solidFill>
                    <a:srgbClr val="3B4E4E"/>
                  </a:solidFill>
                  <a:latin typeface="Syne Bold" pitchFamily="34" charset="0"/>
                  <a:ea typeface="Syne Bold" pitchFamily="34" charset="-122"/>
                  <a:cs typeface="Syne Bold" pitchFamily="34" charset="-120"/>
                </a:rPr>
                <a:t>Mô phỏng tư duy con người</a:t>
              </a:r>
              <a:endParaRPr lang="en-US" sz="2800" dirty="0"/>
            </a:p>
          </p:txBody>
        </p:sp>
        <p:sp>
          <p:nvSpPr>
            <p:cNvPr id="8" name="Text 5"/>
            <p:cNvSpPr/>
            <p:nvPr/>
          </p:nvSpPr>
          <p:spPr>
            <a:xfrm>
              <a:off x="1030010" y="6687860"/>
              <a:ext cx="3825835" cy="549354"/>
            </a:xfrm>
            <a:prstGeom prst="rect">
              <a:avLst/>
            </a:prstGeom>
            <a:noFill/>
            <a:ln/>
          </p:spPr>
          <p:txBody>
            <a:bodyPr wrap="squar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Đánh giá theo các mức: Gần, Rất gần, Hơi dữ - giống cách con người nhận định tình huống</a:t>
              </a:r>
              <a:endParaRPr lang="en-US" sz="2000" dirty="0"/>
            </a:p>
          </p:txBody>
        </p:sp>
      </p:grpSp>
      <p:sp>
        <p:nvSpPr>
          <p:cNvPr id="9" name="Shape 6"/>
          <p:cNvSpPr/>
          <p:nvPr/>
        </p:nvSpPr>
        <p:spPr>
          <a:xfrm>
            <a:off x="4998720" y="6416829"/>
            <a:ext cx="4216718" cy="1601510"/>
          </a:xfrm>
          <a:prstGeom prst="roundRect">
            <a:avLst>
              <a:gd name="adj" fmla="val 4926"/>
            </a:avLst>
          </a:prstGeom>
          <a:solidFill>
            <a:srgbClr val="DDEEE6"/>
          </a:solidFill>
          <a:ln w="7620">
            <a:solidFill>
              <a:srgbClr val="C3D4CC"/>
            </a:solidFill>
            <a:prstDash val="solid"/>
          </a:ln>
        </p:spPr>
        <p:txBody>
          <a:bodyPr/>
          <a:lstStyle/>
          <a:p>
            <a:endParaRPr lang="en-US" sz="2800"/>
          </a:p>
        </p:txBody>
      </p:sp>
      <p:sp>
        <p:nvSpPr>
          <p:cNvPr id="10" name="Text 7"/>
          <p:cNvSpPr/>
          <p:nvPr/>
        </p:nvSpPr>
        <p:spPr>
          <a:xfrm>
            <a:off x="5194102" y="6612211"/>
            <a:ext cx="2674858" cy="293489"/>
          </a:xfrm>
          <a:prstGeom prst="rect">
            <a:avLst/>
          </a:prstGeom>
          <a:noFill/>
          <a:ln/>
        </p:spPr>
        <p:txBody>
          <a:bodyPr wrap="none" lIns="0" tIns="0" rIns="0" bIns="0" rtlCol="0" anchor="t"/>
          <a:lstStyle/>
          <a:p>
            <a:pPr marL="0" indent="0" algn="l">
              <a:lnSpc>
                <a:spcPts val="2300"/>
              </a:lnSpc>
              <a:buNone/>
            </a:pPr>
            <a:r>
              <a:rPr lang="en-US" sz="2800" b="1" dirty="0">
                <a:solidFill>
                  <a:srgbClr val="3B4E4E"/>
                </a:solidFill>
                <a:latin typeface="Syne Bold" pitchFamily="34" charset="0"/>
                <a:ea typeface="Syne Bold" pitchFamily="34" charset="-122"/>
                <a:cs typeface="Syne Bold" pitchFamily="34" charset="-120"/>
              </a:rPr>
              <a:t>Chuyển đổi mượt mà</a:t>
            </a:r>
            <a:endParaRPr lang="en-US" sz="2800" dirty="0"/>
          </a:p>
        </p:txBody>
      </p:sp>
      <p:sp>
        <p:nvSpPr>
          <p:cNvPr id="11" name="Text 8"/>
          <p:cNvSpPr/>
          <p:nvPr/>
        </p:nvSpPr>
        <p:spPr>
          <a:xfrm>
            <a:off x="5194102" y="6998926"/>
            <a:ext cx="3825954" cy="824032"/>
          </a:xfrm>
          <a:prstGeom prst="rect">
            <a:avLst/>
          </a:prstGeom>
          <a:noFill/>
          <a:ln/>
        </p:spPr>
        <p:txBody>
          <a:bodyPr wrap="squar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Tạo ra sự thay đổi mức báo động liên tục, không có bước nhảy đột ngột giữa các ngưỡng</a:t>
            </a:r>
            <a:endParaRPr lang="en-US" sz="2000" dirty="0"/>
          </a:p>
        </p:txBody>
      </p:sp>
      <p:sp>
        <p:nvSpPr>
          <p:cNvPr id="12" name="Shape 9"/>
          <p:cNvSpPr/>
          <p:nvPr/>
        </p:nvSpPr>
        <p:spPr>
          <a:xfrm>
            <a:off x="9020056" y="4524271"/>
            <a:ext cx="4216718" cy="1601510"/>
          </a:xfrm>
          <a:prstGeom prst="roundRect">
            <a:avLst>
              <a:gd name="adj" fmla="val 4926"/>
            </a:avLst>
          </a:prstGeom>
          <a:solidFill>
            <a:srgbClr val="DDEEE6"/>
          </a:solidFill>
          <a:ln w="7620">
            <a:solidFill>
              <a:srgbClr val="C3D4CC"/>
            </a:solidFill>
            <a:prstDash val="solid"/>
          </a:ln>
        </p:spPr>
        <p:txBody>
          <a:bodyPr/>
          <a:lstStyle/>
          <a:p>
            <a:endParaRPr lang="en-US" sz="2800"/>
          </a:p>
        </p:txBody>
      </p:sp>
      <p:sp>
        <p:nvSpPr>
          <p:cNvPr id="13" name="Text 10"/>
          <p:cNvSpPr/>
          <p:nvPr/>
        </p:nvSpPr>
        <p:spPr>
          <a:xfrm>
            <a:off x="9215438" y="4719653"/>
            <a:ext cx="2521268" cy="293489"/>
          </a:xfrm>
          <a:prstGeom prst="rect">
            <a:avLst/>
          </a:prstGeom>
          <a:noFill/>
          <a:ln/>
        </p:spPr>
        <p:txBody>
          <a:bodyPr wrap="none" lIns="0" tIns="0" rIns="0" bIns="0" rtlCol="0" anchor="t"/>
          <a:lstStyle/>
          <a:p>
            <a:pPr marL="0" indent="0" algn="l">
              <a:lnSpc>
                <a:spcPts val="2300"/>
              </a:lnSpc>
              <a:buNone/>
            </a:pPr>
            <a:r>
              <a:rPr lang="en-US" sz="2800" b="1" dirty="0">
                <a:solidFill>
                  <a:srgbClr val="3B4E4E"/>
                </a:solidFill>
                <a:latin typeface="Syne Bold" pitchFamily="34" charset="0"/>
                <a:ea typeface="Syne Bold" pitchFamily="34" charset="-122"/>
                <a:cs typeface="Syne Bold" pitchFamily="34" charset="-120"/>
              </a:rPr>
              <a:t>Xử lý nhiễu hiệu quả</a:t>
            </a:r>
            <a:endParaRPr lang="en-US" sz="2800" dirty="0"/>
          </a:p>
        </p:txBody>
      </p:sp>
      <p:sp>
        <p:nvSpPr>
          <p:cNvPr id="14" name="Text 11"/>
          <p:cNvSpPr/>
          <p:nvPr/>
        </p:nvSpPr>
        <p:spPr>
          <a:xfrm>
            <a:off x="9215438" y="5106368"/>
            <a:ext cx="3825954" cy="549354"/>
          </a:xfrm>
          <a:prstGeom prst="rect">
            <a:avLst/>
          </a:prstGeom>
          <a:noFill/>
          <a:ln/>
        </p:spPr>
        <p:txBody>
          <a:bodyPr wrap="squar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Giảm ảnh hưởng của sai số và nhiễu từ cảm biến vật lý, tăng độ ổn định của hệ thống</a:t>
            </a:r>
            <a:endParaRPr lang="en-US" sz="2000" dirty="0"/>
          </a:p>
        </p:txBody>
      </p:sp>
      <p:sp>
        <p:nvSpPr>
          <p:cNvPr id="15" name="Text 0">
            <a:extLst>
              <a:ext uri="{FF2B5EF4-FFF2-40B4-BE49-F238E27FC236}">
                <a16:creationId xmlns:a16="http://schemas.microsoft.com/office/drawing/2014/main" id="{F83E31D1-4158-4ADA-023A-D44C8FE0206F}"/>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144000" y="0"/>
            <a:ext cx="5486400" cy="8229600"/>
          </a:xfrm>
          <a:prstGeom prst="rect">
            <a:avLst/>
          </a:prstGeom>
          <a:solidFill>
            <a:srgbClr val="DDEEE6"/>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9255562" y="167283"/>
            <a:ext cx="5263277" cy="7894915"/>
          </a:xfrm>
          <a:prstGeom prst="rect">
            <a:avLst/>
          </a:prstGeom>
        </p:spPr>
      </p:pic>
      <p:sp>
        <p:nvSpPr>
          <p:cNvPr id="4" name="Text 1"/>
          <p:cNvSpPr/>
          <p:nvPr/>
        </p:nvSpPr>
        <p:spPr>
          <a:xfrm>
            <a:off x="897791" y="820341"/>
            <a:ext cx="5582007" cy="697706"/>
          </a:xfrm>
          <a:prstGeom prst="rect">
            <a:avLst/>
          </a:prstGeom>
          <a:noFill/>
          <a:ln/>
        </p:spPr>
        <p:txBody>
          <a:bodyPr wrap="none" lIns="0" tIns="0" rIns="0" bIns="0" rtlCol="0" anchor="t"/>
          <a:lstStyle/>
          <a:p>
            <a:pPr marL="0" indent="0" algn="l">
              <a:lnSpc>
                <a:spcPts val="5450"/>
              </a:lnSpc>
              <a:buNone/>
            </a:pPr>
            <a:r>
              <a:rPr lang="en-US" sz="4350" b="1" dirty="0">
                <a:solidFill>
                  <a:srgbClr val="233939"/>
                </a:solidFill>
                <a:latin typeface="Syne Bold" pitchFamily="34" charset="0"/>
                <a:ea typeface="Syne Bold" pitchFamily="34" charset="-122"/>
                <a:cs typeface="Syne Bold" pitchFamily="34" charset="-120"/>
              </a:rPr>
              <a:t>Cấu trúc hệ thống</a:t>
            </a:r>
            <a:endParaRPr lang="en-US" sz="4350" dirty="0"/>
          </a:p>
        </p:txBody>
      </p:sp>
      <p:pic>
        <p:nvPicPr>
          <p:cNvPr id="5" name="Image 1" descr="preencoded.png"/>
          <p:cNvPicPr>
            <a:picLocks noChangeAspect="1"/>
          </p:cNvPicPr>
          <p:nvPr/>
        </p:nvPicPr>
        <p:blipFill>
          <a:blip r:embed="rId4"/>
          <a:stretch>
            <a:fillRect/>
          </a:stretch>
        </p:blipFill>
        <p:spPr>
          <a:xfrm>
            <a:off x="781407" y="1647944"/>
            <a:ext cx="1116330" cy="1339691"/>
          </a:xfrm>
          <a:prstGeom prst="rect">
            <a:avLst/>
          </a:prstGeom>
        </p:spPr>
      </p:pic>
      <p:sp>
        <p:nvSpPr>
          <p:cNvPr id="6" name="Text 2"/>
          <p:cNvSpPr/>
          <p:nvPr/>
        </p:nvSpPr>
        <p:spPr>
          <a:xfrm>
            <a:off x="2117527" y="1871186"/>
            <a:ext cx="3142536" cy="348853"/>
          </a:xfrm>
          <a:prstGeom prst="rect">
            <a:avLst/>
          </a:prstGeom>
          <a:noFill/>
          <a:ln/>
        </p:spPr>
        <p:txBody>
          <a:bodyPr wrap="none" lIns="0" tIns="0" rIns="0" bIns="0" rtlCol="0" anchor="t"/>
          <a:lstStyle/>
          <a:p>
            <a:pPr marL="0" indent="0" algn="l">
              <a:lnSpc>
                <a:spcPts val="2700"/>
              </a:lnSpc>
              <a:buNone/>
            </a:pPr>
            <a:r>
              <a:rPr lang="en-US" sz="3200" b="1" dirty="0">
                <a:solidFill>
                  <a:srgbClr val="3B4E4E"/>
                </a:solidFill>
                <a:latin typeface="Syne Bold" pitchFamily="34" charset="0"/>
                <a:ea typeface="Syne Bold" pitchFamily="34" charset="-122"/>
                <a:cs typeface="Syne Bold" pitchFamily="34" charset="-120"/>
              </a:rPr>
              <a:t>Input 1: Khoảng cách</a:t>
            </a:r>
            <a:endParaRPr lang="en-US" sz="3200" dirty="0"/>
          </a:p>
        </p:txBody>
      </p:sp>
      <p:sp>
        <p:nvSpPr>
          <p:cNvPr id="7" name="Text 3"/>
          <p:cNvSpPr/>
          <p:nvPr/>
        </p:nvSpPr>
        <p:spPr>
          <a:xfrm>
            <a:off x="2117527" y="2351842"/>
            <a:ext cx="6245066" cy="354330"/>
          </a:xfrm>
          <a:prstGeom prst="rect">
            <a:avLst/>
          </a:prstGeom>
          <a:noFill/>
          <a:ln/>
        </p:spPr>
        <p:txBody>
          <a:bodyPr wrap="none" lIns="0" tIns="0" rIns="0" bIns="0" rtlCol="0" anchor="t"/>
          <a:lstStyle/>
          <a:p>
            <a:pPr marL="0" indent="0" algn="l">
              <a:lnSpc>
                <a:spcPts val="2750"/>
              </a:lnSpc>
              <a:buNone/>
            </a:pPr>
            <a:r>
              <a:rPr lang="en-US" sz="2400" dirty="0">
                <a:solidFill>
                  <a:srgbClr val="3B4E4E"/>
                </a:solidFill>
                <a:latin typeface="Overpass Light" pitchFamily="34" charset="0"/>
                <a:ea typeface="Overpass Light" pitchFamily="34" charset="-122"/>
                <a:cs typeface="Overpass Light" pitchFamily="34" charset="-120"/>
              </a:rPr>
              <a:t>Lấy từ cảm biến siêu âm (0-40m)</a:t>
            </a:r>
            <a:endParaRPr lang="en-US" sz="2400" dirty="0"/>
          </a:p>
        </p:txBody>
      </p:sp>
      <p:pic>
        <p:nvPicPr>
          <p:cNvPr id="8" name="Image 2" descr="preencoded.png"/>
          <p:cNvPicPr>
            <a:picLocks noChangeAspect="1"/>
          </p:cNvPicPr>
          <p:nvPr/>
        </p:nvPicPr>
        <p:blipFill>
          <a:blip r:embed="rId5"/>
          <a:stretch>
            <a:fillRect/>
          </a:stretch>
        </p:blipFill>
        <p:spPr>
          <a:xfrm>
            <a:off x="781407" y="2987635"/>
            <a:ext cx="1116330" cy="1339691"/>
          </a:xfrm>
          <a:prstGeom prst="rect">
            <a:avLst/>
          </a:prstGeom>
        </p:spPr>
      </p:pic>
      <p:sp>
        <p:nvSpPr>
          <p:cNvPr id="9" name="Text 4"/>
          <p:cNvSpPr/>
          <p:nvPr/>
        </p:nvSpPr>
        <p:spPr>
          <a:xfrm>
            <a:off x="2117527" y="3210877"/>
            <a:ext cx="2933938" cy="348853"/>
          </a:xfrm>
          <a:prstGeom prst="rect">
            <a:avLst/>
          </a:prstGeom>
          <a:noFill/>
          <a:ln/>
        </p:spPr>
        <p:txBody>
          <a:bodyPr wrap="none" lIns="0" tIns="0" rIns="0" bIns="0" rtlCol="0" anchor="t"/>
          <a:lstStyle/>
          <a:p>
            <a:pPr marL="0" indent="0" algn="l">
              <a:lnSpc>
                <a:spcPts val="2700"/>
              </a:lnSpc>
              <a:buNone/>
            </a:pPr>
            <a:r>
              <a:rPr lang="en-US" sz="3200" b="1" dirty="0">
                <a:solidFill>
                  <a:srgbClr val="3B4E4E"/>
                </a:solidFill>
                <a:latin typeface="Syne Bold" pitchFamily="34" charset="0"/>
                <a:ea typeface="Syne Bold" pitchFamily="34" charset="-122"/>
                <a:cs typeface="Syne Bold" pitchFamily="34" charset="-120"/>
              </a:rPr>
              <a:t>Input 2: Độ hung dữ</a:t>
            </a:r>
            <a:endParaRPr lang="en-US" sz="3200" dirty="0"/>
          </a:p>
        </p:txBody>
      </p:sp>
      <p:sp>
        <p:nvSpPr>
          <p:cNvPr id="10" name="Text 5"/>
          <p:cNvSpPr/>
          <p:nvPr/>
        </p:nvSpPr>
        <p:spPr>
          <a:xfrm>
            <a:off x="2117527" y="3691533"/>
            <a:ext cx="6245066" cy="354330"/>
          </a:xfrm>
          <a:prstGeom prst="rect">
            <a:avLst/>
          </a:prstGeom>
          <a:noFill/>
          <a:ln/>
        </p:spPr>
        <p:txBody>
          <a:bodyPr wrap="none" lIns="0" tIns="0" rIns="0" bIns="0" rtlCol="0" anchor="t"/>
          <a:lstStyle/>
          <a:p>
            <a:pPr marL="0" indent="0" algn="l">
              <a:lnSpc>
                <a:spcPts val="2750"/>
              </a:lnSpc>
              <a:buNone/>
            </a:pPr>
            <a:r>
              <a:rPr lang="en-US" sz="2400" dirty="0">
                <a:solidFill>
                  <a:srgbClr val="3B4E4E"/>
                </a:solidFill>
                <a:latin typeface="Overpass Light" pitchFamily="34" charset="0"/>
                <a:ea typeface="Overpass Light" pitchFamily="34" charset="-122"/>
                <a:cs typeface="Overpass Light" pitchFamily="34" charset="-120"/>
              </a:rPr>
              <a:t>Lấy từ mô hình AI (1-10 điểm)</a:t>
            </a:r>
            <a:endParaRPr lang="en-US" sz="2400" dirty="0"/>
          </a:p>
        </p:txBody>
      </p:sp>
      <p:pic>
        <p:nvPicPr>
          <p:cNvPr id="11" name="Image 3" descr="preencoded.png"/>
          <p:cNvPicPr>
            <a:picLocks noChangeAspect="1"/>
          </p:cNvPicPr>
          <p:nvPr/>
        </p:nvPicPr>
        <p:blipFill>
          <a:blip r:embed="rId6"/>
          <a:stretch>
            <a:fillRect/>
          </a:stretch>
        </p:blipFill>
        <p:spPr>
          <a:xfrm>
            <a:off x="781407" y="4327327"/>
            <a:ext cx="1116330" cy="1339691"/>
          </a:xfrm>
          <a:prstGeom prst="rect">
            <a:avLst/>
          </a:prstGeom>
        </p:spPr>
      </p:pic>
      <p:sp>
        <p:nvSpPr>
          <p:cNvPr id="12" name="Text 6"/>
          <p:cNvSpPr/>
          <p:nvPr/>
        </p:nvSpPr>
        <p:spPr>
          <a:xfrm>
            <a:off x="2117527" y="4550569"/>
            <a:ext cx="3450312" cy="348853"/>
          </a:xfrm>
          <a:prstGeom prst="rect">
            <a:avLst/>
          </a:prstGeom>
          <a:noFill/>
          <a:ln/>
        </p:spPr>
        <p:txBody>
          <a:bodyPr wrap="none" lIns="0" tIns="0" rIns="0" bIns="0" rtlCol="0" anchor="t"/>
          <a:lstStyle/>
          <a:p>
            <a:pPr marL="0" indent="0" algn="l">
              <a:lnSpc>
                <a:spcPts val="2700"/>
              </a:lnSpc>
              <a:buNone/>
            </a:pPr>
            <a:r>
              <a:rPr lang="en-US" sz="3200" b="1" dirty="0">
                <a:solidFill>
                  <a:srgbClr val="3B4E4E"/>
                </a:solidFill>
                <a:latin typeface="Syne Bold" pitchFamily="34" charset="0"/>
                <a:ea typeface="Syne Bold" pitchFamily="34" charset="-122"/>
                <a:cs typeface="Syne Bold" pitchFamily="34" charset="-120"/>
              </a:rPr>
              <a:t>Output: Mức báo động</a:t>
            </a:r>
            <a:endParaRPr lang="en-US" sz="3200" dirty="0"/>
          </a:p>
        </p:txBody>
      </p:sp>
      <p:sp>
        <p:nvSpPr>
          <p:cNvPr id="13" name="Text 7"/>
          <p:cNvSpPr/>
          <p:nvPr/>
        </p:nvSpPr>
        <p:spPr>
          <a:xfrm>
            <a:off x="2117527" y="5031224"/>
            <a:ext cx="6245066" cy="354330"/>
          </a:xfrm>
          <a:prstGeom prst="rect">
            <a:avLst/>
          </a:prstGeom>
          <a:noFill/>
          <a:ln/>
        </p:spPr>
        <p:txBody>
          <a:bodyPr wrap="none" lIns="0" tIns="0" rIns="0" bIns="0" rtlCol="0" anchor="t"/>
          <a:lstStyle/>
          <a:p>
            <a:pPr marL="0" indent="0" algn="l">
              <a:lnSpc>
                <a:spcPts val="2750"/>
              </a:lnSpc>
              <a:buNone/>
            </a:pPr>
            <a:r>
              <a:rPr lang="en-US" sz="2400" dirty="0">
                <a:solidFill>
                  <a:srgbClr val="3B4E4E"/>
                </a:solidFill>
                <a:latin typeface="Overpass Light" pitchFamily="34" charset="0"/>
                <a:ea typeface="Overpass Light" pitchFamily="34" charset="-122"/>
                <a:cs typeface="Overpass Light" pitchFamily="34" charset="-120"/>
              </a:rPr>
              <a:t>% điều khiển còi/LED (0-100%)</a:t>
            </a:r>
            <a:endParaRPr lang="en-US" sz="2400" dirty="0"/>
          </a:p>
        </p:txBody>
      </p:sp>
      <p:sp>
        <p:nvSpPr>
          <p:cNvPr id="14" name="Text 8"/>
          <p:cNvSpPr/>
          <p:nvPr/>
        </p:nvSpPr>
        <p:spPr>
          <a:xfrm>
            <a:off x="781407" y="6133981"/>
            <a:ext cx="2790944" cy="348853"/>
          </a:xfrm>
          <a:prstGeom prst="rect">
            <a:avLst/>
          </a:prstGeom>
          <a:noFill/>
          <a:ln/>
        </p:spPr>
        <p:txBody>
          <a:bodyPr wrap="none" lIns="0" tIns="0" rIns="0" bIns="0" rtlCol="0" anchor="t"/>
          <a:lstStyle/>
          <a:p>
            <a:pPr marL="0" indent="0" algn="l">
              <a:lnSpc>
                <a:spcPts val="2700"/>
              </a:lnSpc>
              <a:buNone/>
            </a:pPr>
            <a:r>
              <a:rPr lang="en-US" sz="3200" b="1" dirty="0">
                <a:solidFill>
                  <a:srgbClr val="233939"/>
                </a:solidFill>
                <a:latin typeface="Syne Bold" pitchFamily="34" charset="0"/>
                <a:ea typeface="Syne Bold" pitchFamily="34" charset="-122"/>
                <a:cs typeface="Syne Bold" pitchFamily="34" charset="-120"/>
              </a:rPr>
              <a:t>Mô hình: MISO</a:t>
            </a:r>
            <a:endParaRPr lang="en-US" sz="3200" dirty="0"/>
          </a:p>
        </p:txBody>
      </p:sp>
      <p:sp>
        <p:nvSpPr>
          <p:cNvPr id="15" name="Text 9"/>
          <p:cNvSpPr/>
          <p:nvPr/>
        </p:nvSpPr>
        <p:spPr>
          <a:xfrm>
            <a:off x="781407" y="6702623"/>
            <a:ext cx="3958948" cy="528638"/>
          </a:xfrm>
          <a:prstGeom prst="rect">
            <a:avLst/>
          </a:prstGeom>
          <a:noFill/>
          <a:ln/>
        </p:spPr>
        <p:txBody>
          <a:bodyPr wrap="none" lIns="0" tIns="0" rIns="0" bIns="0" rtlCol="0" anchor="t"/>
          <a:lstStyle/>
          <a:p>
            <a:pPr marL="0" indent="0" algn="l">
              <a:lnSpc>
                <a:spcPts val="2750"/>
              </a:lnSpc>
              <a:buNone/>
            </a:pPr>
            <a:r>
              <a:rPr lang="en-US" sz="2400" dirty="0">
                <a:solidFill>
                  <a:srgbClr val="3B4E4E"/>
                </a:solidFill>
                <a:latin typeface="Overpass Light" pitchFamily="34" charset="0"/>
                <a:ea typeface="Overpass Light" pitchFamily="34" charset="-122"/>
                <a:cs typeface="Overpass Light" pitchFamily="34" charset="-120"/>
              </a:rPr>
              <a:t>Multiple Input - Single Output</a:t>
            </a:r>
            <a:endParaRPr lang="en-US" sz="2400" dirty="0"/>
          </a:p>
        </p:txBody>
      </p:sp>
      <p:sp>
        <p:nvSpPr>
          <p:cNvPr id="16" name="Text 10"/>
          <p:cNvSpPr/>
          <p:nvPr/>
        </p:nvSpPr>
        <p:spPr>
          <a:xfrm>
            <a:off x="5260063" y="6092904"/>
            <a:ext cx="2790944" cy="348853"/>
          </a:xfrm>
          <a:prstGeom prst="rect">
            <a:avLst/>
          </a:prstGeom>
          <a:noFill/>
          <a:ln/>
        </p:spPr>
        <p:txBody>
          <a:bodyPr wrap="none" lIns="0" tIns="0" rIns="0" bIns="0" rtlCol="0" anchor="t"/>
          <a:lstStyle/>
          <a:p>
            <a:pPr marL="0" indent="0" algn="l">
              <a:lnSpc>
                <a:spcPts val="2700"/>
              </a:lnSpc>
              <a:buNone/>
            </a:pPr>
            <a:r>
              <a:rPr lang="en-US" sz="3200" b="1" dirty="0">
                <a:solidFill>
                  <a:srgbClr val="233939"/>
                </a:solidFill>
                <a:latin typeface="Syne Bold" pitchFamily="34" charset="0"/>
                <a:ea typeface="Syne Bold" pitchFamily="34" charset="-122"/>
                <a:cs typeface="Syne Bold" pitchFamily="34" charset="-120"/>
              </a:rPr>
              <a:t>Phương pháp</a:t>
            </a:r>
            <a:endParaRPr lang="en-US" sz="3200" dirty="0"/>
          </a:p>
        </p:txBody>
      </p:sp>
      <p:sp>
        <p:nvSpPr>
          <p:cNvPr id="17" name="Text 11"/>
          <p:cNvSpPr/>
          <p:nvPr/>
        </p:nvSpPr>
        <p:spPr>
          <a:xfrm>
            <a:off x="5260063" y="6661546"/>
            <a:ext cx="3518297" cy="708660"/>
          </a:xfrm>
          <a:prstGeom prst="rect">
            <a:avLst/>
          </a:prstGeom>
          <a:noFill/>
          <a:ln/>
        </p:spPr>
        <p:txBody>
          <a:bodyPr wrap="square" lIns="0" tIns="0" rIns="0" bIns="0" rtlCol="0" anchor="t"/>
          <a:lstStyle/>
          <a:p>
            <a:pPr marL="0" indent="0" algn="l">
              <a:lnSpc>
                <a:spcPts val="2750"/>
              </a:lnSpc>
              <a:buNone/>
            </a:pPr>
            <a:r>
              <a:rPr lang="en-US" sz="2400" dirty="0">
                <a:solidFill>
                  <a:srgbClr val="3B4E4E"/>
                </a:solidFill>
                <a:latin typeface="Overpass Light" pitchFamily="34" charset="0"/>
                <a:ea typeface="Overpass Light" pitchFamily="34" charset="-122"/>
                <a:cs typeface="Overpass Light" pitchFamily="34" charset="-120"/>
              </a:rPr>
              <a:t>Mamdani Inference &amp; Centroid Defuzzification</a:t>
            </a:r>
            <a:endParaRPr lang="en-US" sz="2400" dirty="0"/>
          </a:p>
        </p:txBody>
      </p:sp>
      <p:sp>
        <p:nvSpPr>
          <p:cNvPr id="18" name="Text 0">
            <a:extLst>
              <a:ext uri="{FF2B5EF4-FFF2-40B4-BE49-F238E27FC236}">
                <a16:creationId xmlns:a16="http://schemas.microsoft.com/office/drawing/2014/main" id="{A12D66A9-3259-1FC4-D232-F2577CEDECC4}"/>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p:cNvSpPr/>
          <p:nvPr/>
        </p:nvSpPr>
        <p:spPr>
          <a:xfrm>
            <a:off x="338576" y="664840"/>
            <a:ext cx="7953375" cy="1063228"/>
          </a:xfrm>
          <a:prstGeom prst="rect">
            <a:avLst/>
          </a:prstGeom>
          <a:noFill/>
          <a:ln/>
        </p:spPr>
        <p:txBody>
          <a:bodyPr wrap="square" lIns="0" tIns="0" rIns="0" bIns="0" rtlCol="0" anchor="t"/>
          <a:lstStyle/>
          <a:p>
            <a:pPr marL="0" indent="0" algn="l">
              <a:lnSpc>
                <a:spcPts val="4150"/>
              </a:lnSpc>
              <a:buNone/>
            </a:pPr>
            <a:r>
              <a:rPr lang="en-US" sz="3300" b="1" dirty="0">
                <a:solidFill>
                  <a:srgbClr val="233939"/>
                </a:solidFill>
                <a:latin typeface="Syne Bold" pitchFamily="34" charset="0"/>
                <a:ea typeface="Syne Bold" pitchFamily="34" charset="-122"/>
                <a:cs typeface="Syne Bold" pitchFamily="34" charset="-120"/>
              </a:rPr>
              <a:t>Mờ hóa - Định nghĩa các Hàm thuộc</a:t>
            </a:r>
            <a:endParaRPr lang="en-US" sz="3300" dirty="0"/>
          </a:p>
        </p:txBody>
      </p:sp>
      <p:sp>
        <p:nvSpPr>
          <p:cNvPr id="5" name="Text 2"/>
          <p:cNvSpPr/>
          <p:nvPr/>
        </p:nvSpPr>
        <p:spPr>
          <a:xfrm>
            <a:off x="6670013" y="2071925"/>
            <a:ext cx="5593675" cy="318849"/>
          </a:xfrm>
          <a:prstGeom prst="rect">
            <a:avLst/>
          </a:prstGeom>
          <a:noFill/>
          <a:ln/>
        </p:spPr>
        <p:txBody>
          <a:bodyPr wrap="none" lIns="0" tIns="0" rIns="0" bIns="0" rtlCol="0" anchor="t"/>
          <a:lstStyle/>
          <a:p>
            <a:pPr marL="0" indent="0" algn="l">
              <a:lnSpc>
                <a:spcPts val="2500"/>
              </a:lnSpc>
              <a:buNone/>
            </a:pPr>
            <a:r>
              <a:rPr lang="en-US" sz="3600" b="1" dirty="0">
                <a:solidFill>
                  <a:srgbClr val="233939"/>
                </a:solidFill>
                <a:latin typeface="Syne Bold" pitchFamily="34" charset="0"/>
                <a:ea typeface="Syne Bold" pitchFamily="34" charset="-122"/>
                <a:cs typeface="Syne Bold" pitchFamily="34" charset="-120"/>
              </a:rPr>
              <a:t>Chiến lược thiết kế: Thang - Tam - Thang</a:t>
            </a:r>
            <a:endParaRPr lang="en-US" sz="3600" dirty="0"/>
          </a:p>
        </p:txBody>
      </p:sp>
      <p:sp>
        <p:nvSpPr>
          <p:cNvPr id="6" name="Shape 3"/>
          <p:cNvSpPr/>
          <p:nvPr/>
        </p:nvSpPr>
        <p:spPr>
          <a:xfrm>
            <a:off x="280651" y="1760607"/>
            <a:ext cx="5182304" cy="1531620"/>
          </a:xfrm>
          <a:prstGeom prst="roundRect">
            <a:avLst>
              <a:gd name="adj" fmla="val 4665"/>
            </a:avLst>
          </a:prstGeom>
          <a:solidFill>
            <a:srgbClr val="FFFDE6"/>
          </a:solidFill>
          <a:ln w="22860">
            <a:solidFill>
              <a:srgbClr val="C3D4CC"/>
            </a:solidFill>
            <a:prstDash val="solid"/>
          </a:ln>
        </p:spPr>
        <p:txBody>
          <a:bodyPr/>
          <a:lstStyle/>
          <a:p>
            <a:endParaRPr lang="en-US" sz="3200"/>
          </a:p>
        </p:txBody>
      </p:sp>
      <p:sp>
        <p:nvSpPr>
          <p:cNvPr id="7" name="Shape 4"/>
          <p:cNvSpPr/>
          <p:nvPr/>
        </p:nvSpPr>
        <p:spPr>
          <a:xfrm>
            <a:off x="303511" y="1783467"/>
            <a:ext cx="680442" cy="1485900"/>
          </a:xfrm>
          <a:prstGeom prst="roundRect">
            <a:avLst>
              <a:gd name="adj" fmla="val 6469"/>
            </a:avLst>
          </a:prstGeom>
          <a:solidFill>
            <a:srgbClr val="DDEEE6"/>
          </a:solidFill>
          <a:ln/>
        </p:spPr>
        <p:txBody>
          <a:bodyPr/>
          <a:lstStyle/>
          <a:p>
            <a:endParaRPr lang="en-US" sz="3200"/>
          </a:p>
        </p:txBody>
      </p:sp>
      <p:sp>
        <p:nvSpPr>
          <p:cNvPr id="8" name="Text 5"/>
          <p:cNvSpPr/>
          <p:nvPr/>
        </p:nvSpPr>
        <p:spPr>
          <a:xfrm>
            <a:off x="512346" y="2366873"/>
            <a:ext cx="255151" cy="318968"/>
          </a:xfrm>
          <a:prstGeom prst="rect">
            <a:avLst/>
          </a:prstGeom>
          <a:noFill/>
          <a:ln/>
        </p:spPr>
        <p:txBody>
          <a:bodyPr wrap="none" lIns="0" tIns="0" rIns="0" bIns="0" rtlCol="0" anchor="t"/>
          <a:lstStyle/>
          <a:p>
            <a:pPr marL="0" indent="0" algn="l">
              <a:lnSpc>
                <a:spcPts val="2000"/>
              </a:lnSpc>
              <a:buNone/>
            </a:pPr>
            <a:r>
              <a:rPr lang="en-US" sz="3600" b="1" dirty="0">
                <a:solidFill>
                  <a:srgbClr val="3B4E4E"/>
                </a:solidFill>
                <a:latin typeface="Syne Bold" pitchFamily="34" charset="0"/>
                <a:ea typeface="Syne Bold" pitchFamily="34" charset="-122"/>
                <a:cs typeface="Syne Bold" pitchFamily="34" charset="-120"/>
              </a:rPr>
              <a:t>1</a:t>
            </a:r>
            <a:endParaRPr lang="en-US" sz="3600" dirty="0"/>
          </a:p>
        </p:txBody>
      </p:sp>
      <p:sp>
        <p:nvSpPr>
          <p:cNvPr id="9" name="Text 6"/>
          <p:cNvSpPr/>
          <p:nvPr/>
        </p:nvSpPr>
        <p:spPr>
          <a:xfrm>
            <a:off x="1111469" y="1953488"/>
            <a:ext cx="3104436" cy="265747"/>
          </a:xfrm>
          <a:prstGeom prst="rect">
            <a:avLst/>
          </a:prstGeom>
          <a:noFill/>
          <a:ln/>
        </p:spPr>
        <p:txBody>
          <a:bodyPr wrap="none" lIns="0" tIns="0" rIns="0" bIns="0" rtlCol="0" anchor="t"/>
          <a:lstStyle/>
          <a:p>
            <a:pPr marL="0" indent="0" algn="l">
              <a:lnSpc>
                <a:spcPts val="2050"/>
              </a:lnSpc>
              <a:buNone/>
            </a:pPr>
            <a:r>
              <a:rPr lang="en-US" sz="2800" b="1" dirty="0">
                <a:solidFill>
                  <a:srgbClr val="3B4E4E"/>
                </a:solidFill>
                <a:latin typeface="Syne Bold" pitchFamily="34" charset="0"/>
                <a:ea typeface="Syne Bold" pitchFamily="34" charset="-122"/>
                <a:cs typeface="Syne Bold" pitchFamily="34" charset="-120"/>
              </a:rPr>
              <a:t>Biến Khoảng cách (0-40m)</a:t>
            </a:r>
            <a:endParaRPr lang="en-US" sz="2800" dirty="0"/>
          </a:p>
        </p:txBody>
      </p:sp>
      <p:sp>
        <p:nvSpPr>
          <p:cNvPr id="10" name="Text 7"/>
          <p:cNvSpPr/>
          <p:nvPr/>
        </p:nvSpPr>
        <p:spPr>
          <a:xfrm>
            <a:off x="1111469" y="2295674"/>
            <a:ext cx="6929676" cy="803672"/>
          </a:xfrm>
          <a:prstGeom prst="rect">
            <a:avLst/>
          </a:prstGeom>
          <a:noFill/>
          <a:ln/>
        </p:spPr>
        <p:txBody>
          <a:bodyPr wrap="square" lIns="0" tIns="0" rIns="0" bIns="0" rtlCol="0" anchor="t"/>
          <a:lstStyle/>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Gần: Hình thang (Trap)</a:t>
            </a:r>
            <a:endParaRPr lang="en-US" sz="2000" dirty="0"/>
          </a:p>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Vừa: Tam giác (Tri)</a:t>
            </a:r>
            <a:endParaRPr lang="en-US" sz="2000" dirty="0"/>
          </a:p>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Xa: Hình thang (Trap)</a:t>
            </a:r>
            <a:endParaRPr lang="en-US" sz="2000" dirty="0"/>
          </a:p>
        </p:txBody>
      </p:sp>
      <p:sp>
        <p:nvSpPr>
          <p:cNvPr id="11" name="Shape 8"/>
          <p:cNvSpPr/>
          <p:nvPr/>
        </p:nvSpPr>
        <p:spPr>
          <a:xfrm>
            <a:off x="280650" y="3419743"/>
            <a:ext cx="5182304" cy="1531620"/>
          </a:xfrm>
          <a:prstGeom prst="roundRect">
            <a:avLst>
              <a:gd name="adj" fmla="val 4665"/>
            </a:avLst>
          </a:prstGeom>
          <a:solidFill>
            <a:srgbClr val="FFFDE6"/>
          </a:solidFill>
          <a:ln w="22860">
            <a:solidFill>
              <a:srgbClr val="C3D4CC"/>
            </a:solidFill>
            <a:prstDash val="solid"/>
          </a:ln>
        </p:spPr>
        <p:txBody>
          <a:bodyPr/>
          <a:lstStyle/>
          <a:p>
            <a:endParaRPr lang="en-US" sz="3200"/>
          </a:p>
        </p:txBody>
      </p:sp>
      <p:sp>
        <p:nvSpPr>
          <p:cNvPr id="12" name="Shape 9"/>
          <p:cNvSpPr/>
          <p:nvPr/>
        </p:nvSpPr>
        <p:spPr>
          <a:xfrm>
            <a:off x="303511" y="3442603"/>
            <a:ext cx="680442" cy="1485900"/>
          </a:xfrm>
          <a:prstGeom prst="roundRect">
            <a:avLst>
              <a:gd name="adj" fmla="val 6469"/>
            </a:avLst>
          </a:prstGeom>
          <a:solidFill>
            <a:srgbClr val="DDEEE6"/>
          </a:solidFill>
          <a:ln/>
        </p:spPr>
        <p:txBody>
          <a:bodyPr/>
          <a:lstStyle/>
          <a:p>
            <a:endParaRPr lang="en-US" sz="3200"/>
          </a:p>
        </p:txBody>
      </p:sp>
      <p:sp>
        <p:nvSpPr>
          <p:cNvPr id="13" name="Text 10"/>
          <p:cNvSpPr/>
          <p:nvPr/>
        </p:nvSpPr>
        <p:spPr>
          <a:xfrm>
            <a:off x="512346" y="4026009"/>
            <a:ext cx="255151" cy="318968"/>
          </a:xfrm>
          <a:prstGeom prst="rect">
            <a:avLst/>
          </a:prstGeom>
          <a:noFill/>
          <a:ln/>
        </p:spPr>
        <p:txBody>
          <a:bodyPr wrap="none" lIns="0" tIns="0" rIns="0" bIns="0" rtlCol="0" anchor="t"/>
          <a:lstStyle/>
          <a:p>
            <a:pPr marL="0" indent="0" algn="l">
              <a:lnSpc>
                <a:spcPts val="2000"/>
              </a:lnSpc>
              <a:buNone/>
            </a:pPr>
            <a:r>
              <a:rPr lang="en-US" sz="3600" b="1" dirty="0">
                <a:solidFill>
                  <a:srgbClr val="3B4E4E"/>
                </a:solidFill>
                <a:latin typeface="Syne Bold" pitchFamily="34" charset="0"/>
                <a:ea typeface="Syne Bold" pitchFamily="34" charset="-122"/>
                <a:cs typeface="Syne Bold" pitchFamily="34" charset="-120"/>
              </a:rPr>
              <a:t>2</a:t>
            </a:r>
            <a:endParaRPr lang="en-US" sz="3600" dirty="0"/>
          </a:p>
        </p:txBody>
      </p:sp>
      <p:sp>
        <p:nvSpPr>
          <p:cNvPr id="14" name="Text 11"/>
          <p:cNvSpPr/>
          <p:nvPr/>
        </p:nvSpPr>
        <p:spPr>
          <a:xfrm>
            <a:off x="1111469" y="3612624"/>
            <a:ext cx="2817019" cy="265747"/>
          </a:xfrm>
          <a:prstGeom prst="rect">
            <a:avLst/>
          </a:prstGeom>
          <a:noFill/>
          <a:ln/>
        </p:spPr>
        <p:txBody>
          <a:bodyPr wrap="none" lIns="0" tIns="0" rIns="0" bIns="0" rtlCol="0" anchor="t"/>
          <a:lstStyle/>
          <a:p>
            <a:pPr marL="0" indent="0" algn="l">
              <a:lnSpc>
                <a:spcPts val="2050"/>
              </a:lnSpc>
              <a:buNone/>
            </a:pPr>
            <a:r>
              <a:rPr lang="en-US" sz="2800" b="1" dirty="0">
                <a:solidFill>
                  <a:srgbClr val="3B4E4E"/>
                </a:solidFill>
                <a:latin typeface="Syne Bold" pitchFamily="34" charset="0"/>
                <a:ea typeface="Syne Bold" pitchFamily="34" charset="-122"/>
                <a:cs typeface="Syne Bold" pitchFamily="34" charset="-120"/>
              </a:rPr>
              <a:t>Biến Hung dữ (1-10 điểm)</a:t>
            </a:r>
            <a:endParaRPr lang="en-US" sz="2800" dirty="0"/>
          </a:p>
        </p:txBody>
      </p:sp>
      <p:sp>
        <p:nvSpPr>
          <p:cNvPr id="15" name="Text 12"/>
          <p:cNvSpPr/>
          <p:nvPr/>
        </p:nvSpPr>
        <p:spPr>
          <a:xfrm>
            <a:off x="1111469" y="3954810"/>
            <a:ext cx="6929676" cy="803672"/>
          </a:xfrm>
          <a:prstGeom prst="rect">
            <a:avLst/>
          </a:prstGeom>
          <a:noFill/>
          <a:ln/>
        </p:spPr>
        <p:txBody>
          <a:bodyPr wrap="square" lIns="0" tIns="0" rIns="0" bIns="0" rtlCol="0" anchor="t"/>
          <a:lstStyle/>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Hiền: Hình thang (Trap)</a:t>
            </a:r>
            <a:endParaRPr lang="en-US" sz="2000" dirty="0"/>
          </a:p>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Vừa: Tam giác (Tri)</a:t>
            </a:r>
            <a:endParaRPr lang="en-US" sz="2000" dirty="0"/>
          </a:p>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Dữ: Hình thang (Trap)</a:t>
            </a:r>
            <a:endParaRPr lang="en-US" sz="2000" dirty="0"/>
          </a:p>
        </p:txBody>
      </p:sp>
      <p:sp>
        <p:nvSpPr>
          <p:cNvPr id="16" name="Shape 13"/>
          <p:cNvSpPr/>
          <p:nvPr/>
        </p:nvSpPr>
        <p:spPr>
          <a:xfrm>
            <a:off x="280650" y="5078879"/>
            <a:ext cx="5182305" cy="1248847"/>
          </a:xfrm>
          <a:prstGeom prst="roundRect">
            <a:avLst>
              <a:gd name="adj" fmla="val 5721"/>
            </a:avLst>
          </a:prstGeom>
          <a:solidFill>
            <a:srgbClr val="FFFDE6"/>
          </a:solidFill>
          <a:ln w="22860">
            <a:solidFill>
              <a:srgbClr val="C3D4CC"/>
            </a:solidFill>
            <a:prstDash val="solid"/>
          </a:ln>
        </p:spPr>
        <p:txBody>
          <a:bodyPr/>
          <a:lstStyle/>
          <a:p>
            <a:endParaRPr lang="en-US" sz="3200"/>
          </a:p>
        </p:txBody>
      </p:sp>
      <p:sp>
        <p:nvSpPr>
          <p:cNvPr id="17" name="Shape 14"/>
          <p:cNvSpPr/>
          <p:nvPr/>
        </p:nvSpPr>
        <p:spPr>
          <a:xfrm>
            <a:off x="303511" y="5101739"/>
            <a:ext cx="680442" cy="1203127"/>
          </a:xfrm>
          <a:prstGeom prst="roundRect">
            <a:avLst>
              <a:gd name="adj" fmla="val 6469"/>
            </a:avLst>
          </a:prstGeom>
          <a:solidFill>
            <a:srgbClr val="DDEEE6"/>
          </a:solidFill>
          <a:ln/>
        </p:spPr>
        <p:txBody>
          <a:bodyPr/>
          <a:lstStyle/>
          <a:p>
            <a:endParaRPr lang="en-US" sz="3200"/>
          </a:p>
        </p:txBody>
      </p:sp>
      <p:sp>
        <p:nvSpPr>
          <p:cNvPr id="18" name="Text 15"/>
          <p:cNvSpPr/>
          <p:nvPr/>
        </p:nvSpPr>
        <p:spPr>
          <a:xfrm>
            <a:off x="512346" y="5543818"/>
            <a:ext cx="255151" cy="318968"/>
          </a:xfrm>
          <a:prstGeom prst="rect">
            <a:avLst/>
          </a:prstGeom>
          <a:noFill/>
          <a:ln/>
        </p:spPr>
        <p:txBody>
          <a:bodyPr wrap="none" lIns="0" tIns="0" rIns="0" bIns="0" rtlCol="0" anchor="t"/>
          <a:lstStyle/>
          <a:p>
            <a:pPr marL="0" indent="0" algn="l">
              <a:lnSpc>
                <a:spcPts val="2000"/>
              </a:lnSpc>
              <a:buNone/>
            </a:pPr>
            <a:r>
              <a:rPr lang="en-US" sz="3600" b="1" dirty="0">
                <a:solidFill>
                  <a:srgbClr val="3B4E4E"/>
                </a:solidFill>
                <a:latin typeface="Syne Bold" pitchFamily="34" charset="0"/>
                <a:ea typeface="Syne Bold" pitchFamily="34" charset="-122"/>
                <a:cs typeface="Syne Bold" pitchFamily="34" charset="-120"/>
              </a:rPr>
              <a:t>3</a:t>
            </a:r>
            <a:endParaRPr lang="en-US" sz="3600" dirty="0"/>
          </a:p>
        </p:txBody>
      </p:sp>
      <p:sp>
        <p:nvSpPr>
          <p:cNvPr id="19" name="Text 16"/>
          <p:cNvSpPr/>
          <p:nvPr/>
        </p:nvSpPr>
        <p:spPr>
          <a:xfrm>
            <a:off x="1111469" y="5271760"/>
            <a:ext cx="2719387" cy="265747"/>
          </a:xfrm>
          <a:prstGeom prst="rect">
            <a:avLst/>
          </a:prstGeom>
          <a:noFill/>
          <a:ln/>
        </p:spPr>
        <p:txBody>
          <a:bodyPr wrap="none" lIns="0" tIns="0" rIns="0" bIns="0" rtlCol="0" anchor="t"/>
          <a:lstStyle/>
          <a:p>
            <a:pPr marL="0" indent="0" algn="l">
              <a:lnSpc>
                <a:spcPts val="2050"/>
              </a:lnSpc>
              <a:buNone/>
            </a:pPr>
            <a:r>
              <a:rPr lang="en-US" sz="2800" b="1" dirty="0">
                <a:solidFill>
                  <a:srgbClr val="3B4E4E"/>
                </a:solidFill>
                <a:latin typeface="Syne Bold" pitchFamily="34" charset="0"/>
                <a:ea typeface="Syne Bold" pitchFamily="34" charset="-122"/>
                <a:cs typeface="Syne Bold" pitchFamily="34" charset="-120"/>
              </a:rPr>
              <a:t>Biến Báo động (0-100%)</a:t>
            </a:r>
            <a:endParaRPr lang="en-US" sz="2800" dirty="0"/>
          </a:p>
        </p:txBody>
      </p:sp>
      <p:sp>
        <p:nvSpPr>
          <p:cNvPr id="20" name="Text 17"/>
          <p:cNvSpPr/>
          <p:nvPr/>
        </p:nvSpPr>
        <p:spPr>
          <a:xfrm>
            <a:off x="1111469" y="5613946"/>
            <a:ext cx="6929676" cy="520898"/>
          </a:xfrm>
          <a:prstGeom prst="rect">
            <a:avLst/>
          </a:prstGeom>
          <a:noFill/>
          <a:ln/>
        </p:spPr>
        <p:txBody>
          <a:bodyPr wrap="square" lIns="0" tIns="0" rIns="0" bIns="0" rtlCol="0" anchor="t"/>
          <a:lstStyle/>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4 mức Tam giác</a:t>
            </a:r>
            <a:endParaRPr lang="en-US" sz="2000" dirty="0"/>
          </a:p>
          <a:p>
            <a:pPr marL="342900" indent="-342900" algn="l">
              <a:lnSpc>
                <a:spcPts val="1850"/>
              </a:lnSpc>
              <a:buSzPct val="100000"/>
              <a:buChar char="•"/>
            </a:pPr>
            <a:r>
              <a:rPr lang="en-US" sz="2000" dirty="0">
                <a:solidFill>
                  <a:srgbClr val="3B4E4E"/>
                </a:solidFill>
                <a:latin typeface="Overpass Light" pitchFamily="34" charset="0"/>
                <a:ea typeface="Overpass Light" pitchFamily="34" charset="-122"/>
                <a:cs typeface="Overpass Light" pitchFamily="34" charset="-120"/>
              </a:rPr>
              <a:t>An toàn, Vàng, Đỏ, Tử thần</a:t>
            </a:r>
            <a:endParaRPr lang="en-US" sz="2000" dirty="0"/>
          </a:p>
        </p:txBody>
      </p:sp>
      <p:sp>
        <p:nvSpPr>
          <p:cNvPr id="21" name="Shape 18"/>
          <p:cNvSpPr/>
          <p:nvPr/>
        </p:nvSpPr>
        <p:spPr>
          <a:xfrm>
            <a:off x="280650" y="6471195"/>
            <a:ext cx="5182305" cy="1503761"/>
          </a:xfrm>
          <a:prstGeom prst="roundRect">
            <a:avLst>
              <a:gd name="adj" fmla="val 8445"/>
            </a:avLst>
          </a:prstGeom>
          <a:solidFill>
            <a:srgbClr val="B6D6FC"/>
          </a:solidFill>
          <a:ln/>
        </p:spPr>
        <p:txBody>
          <a:bodyPr/>
          <a:lstStyle/>
          <a:p>
            <a:endParaRPr lang="en-US" sz="3200"/>
          </a:p>
        </p:txBody>
      </p:sp>
      <p:pic>
        <p:nvPicPr>
          <p:cNvPr id="22" name="Image 1" descr="preencoded.png"/>
          <p:cNvPicPr>
            <a:picLocks noChangeAspect="1"/>
          </p:cNvPicPr>
          <p:nvPr/>
        </p:nvPicPr>
        <p:blipFill>
          <a:blip r:embed="rId3"/>
          <a:stretch>
            <a:fillRect/>
          </a:stretch>
        </p:blipFill>
        <p:spPr>
          <a:xfrm>
            <a:off x="280960" y="6641217"/>
            <a:ext cx="528489" cy="422553"/>
          </a:xfrm>
          <a:prstGeom prst="rect">
            <a:avLst/>
          </a:prstGeom>
        </p:spPr>
      </p:pic>
      <p:sp>
        <p:nvSpPr>
          <p:cNvPr id="23" name="Text 19"/>
          <p:cNvSpPr/>
          <p:nvPr/>
        </p:nvSpPr>
        <p:spPr>
          <a:xfrm>
            <a:off x="833339" y="6641217"/>
            <a:ext cx="4120626" cy="476250"/>
          </a:xfrm>
          <a:prstGeom prst="rect">
            <a:avLst/>
          </a:prstGeom>
          <a:noFill/>
          <a:ln/>
        </p:spPr>
        <p:txBody>
          <a:bodyPr wrap="square" lIns="0" tIns="0" rIns="0" bIns="0" rtlCol="0" anchor="t"/>
          <a:lstStyle/>
          <a:p>
            <a:pPr marL="0" indent="0" algn="l">
              <a:lnSpc>
                <a:spcPts val="1850"/>
              </a:lnSpc>
              <a:buNone/>
            </a:pPr>
            <a:r>
              <a:rPr lang="en-US" sz="2000" b="1" dirty="0">
                <a:solidFill>
                  <a:srgbClr val="000000"/>
                </a:solidFill>
                <a:latin typeface="Overpass Light" pitchFamily="34" charset="0"/>
                <a:ea typeface="Overpass Light" pitchFamily="34" charset="-122"/>
                <a:cs typeface="Overpass Light" pitchFamily="34" charset="-120"/>
              </a:rPr>
              <a:t>Tại sao dùng hình thang ở biên?</a:t>
            </a:r>
            <a:r>
              <a:rPr lang="en-US" sz="2000" dirty="0">
                <a:solidFill>
                  <a:srgbClr val="000000"/>
                </a:solidFill>
                <a:latin typeface="Overpass Light" pitchFamily="34" charset="0"/>
                <a:ea typeface="Overpass Light" pitchFamily="34" charset="-122"/>
                <a:cs typeface="Overpass Light" pitchFamily="34" charset="-120"/>
              </a:rPr>
              <a:t> Để giữ giá trị bão hòa 1 ở các vùng cực đoan, đảm bảo hệ thống phản ứng mạnh mẽ với các tình huống nguy hiểm cao.</a:t>
            </a:r>
            <a:endParaRPr lang="en-US" sz="2000" dirty="0"/>
          </a:p>
        </p:txBody>
      </p:sp>
      <p:pic>
        <p:nvPicPr>
          <p:cNvPr id="25" name="Picture 24">
            <a:extLst>
              <a:ext uri="{FF2B5EF4-FFF2-40B4-BE49-F238E27FC236}">
                <a16:creationId xmlns:a16="http://schemas.microsoft.com/office/drawing/2014/main" id="{22CE3BE3-CFAD-D320-F779-7478D29F009C}"/>
              </a:ext>
            </a:extLst>
          </p:cNvPr>
          <p:cNvPicPr>
            <a:picLocks noChangeAspect="1"/>
          </p:cNvPicPr>
          <p:nvPr/>
        </p:nvPicPr>
        <p:blipFill>
          <a:blip r:embed="rId4"/>
          <a:stretch>
            <a:fillRect/>
          </a:stretch>
        </p:blipFill>
        <p:spPr>
          <a:xfrm>
            <a:off x="6015643" y="2482786"/>
            <a:ext cx="8614757" cy="5647015"/>
          </a:xfrm>
          <a:prstGeom prst="rect">
            <a:avLst/>
          </a:prstGeom>
        </p:spPr>
      </p:pic>
      <p:sp>
        <p:nvSpPr>
          <p:cNvPr id="3" name="Text 0">
            <a:extLst>
              <a:ext uri="{FF2B5EF4-FFF2-40B4-BE49-F238E27FC236}">
                <a16:creationId xmlns:a16="http://schemas.microsoft.com/office/drawing/2014/main" id="{6B391957-FDC8-0C80-3AEB-CD98E17623FF}"/>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144000" y="0"/>
            <a:ext cx="5486400" cy="8229600"/>
          </a:xfrm>
          <a:prstGeom prst="rect">
            <a:avLst/>
          </a:prstGeom>
          <a:solidFill>
            <a:srgbClr val="DDEEE6"/>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9257348" y="170021"/>
            <a:ext cx="5259705" cy="7889558"/>
          </a:xfrm>
          <a:prstGeom prst="rect">
            <a:avLst/>
          </a:prstGeom>
        </p:spPr>
      </p:pic>
      <p:sp>
        <p:nvSpPr>
          <p:cNvPr id="4" name="Text 1"/>
          <p:cNvSpPr/>
          <p:nvPr/>
        </p:nvSpPr>
        <p:spPr>
          <a:xfrm>
            <a:off x="793790" y="765453"/>
            <a:ext cx="7556421" cy="1417558"/>
          </a:xfrm>
          <a:prstGeom prst="rect">
            <a:avLst/>
          </a:prstGeom>
          <a:noFill/>
          <a:ln/>
        </p:spPr>
        <p:txBody>
          <a:bodyPr wrap="square" lIns="0" tIns="0" rIns="0" bIns="0" rtlCol="0" anchor="t"/>
          <a:lstStyle/>
          <a:p>
            <a:pPr marL="0" indent="0" algn="l">
              <a:lnSpc>
                <a:spcPts val="5550"/>
              </a:lnSpc>
              <a:buNone/>
            </a:pPr>
            <a:r>
              <a:rPr lang="en-US" sz="4450" b="1" dirty="0">
                <a:solidFill>
                  <a:srgbClr val="233939"/>
                </a:solidFill>
                <a:latin typeface="Syne Bold" pitchFamily="34" charset="0"/>
                <a:ea typeface="Syne Bold" pitchFamily="34" charset="-122"/>
                <a:cs typeface="Syne Bold" pitchFamily="34" charset="-120"/>
              </a:rPr>
              <a:t>Lý do 1: Khả năng biểu diễn "Vùng bão hòa"</a:t>
            </a:r>
            <a:endParaRPr lang="en-US" sz="4450" dirty="0"/>
          </a:p>
        </p:txBody>
      </p:sp>
      <p:sp>
        <p:nvSpPr>
          <p:cNvPr id="5" name="Text 2"/>
          <p:cNvSpPr/>
          <p:nvPr/>
        </p:nvSpPr>
        <p:spPr>
          <a:xfrm>
            <a:off x="793790" y="2343402"/>
            <a:ext cx="7556421" cy="1088708"/>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Hàm hình thang có một </a:t>
            </a:r>
            <a:r>
              <a:rPr lang="en-US" sz="2000" b="1" dirty="0">
                <a:solidFill>
                  <a:srgbClr val="3B4E4E"/>
                </a:solidFill>
                <a:latin typeface="Overpass Light" pitchFamily="34" charset="0"/>
                <a:ea typeface="Overpass Light" pitchFamily="34" charset="-122"/>
                <a:cs typeface="Overpass Light" pitchFamily="34" charset="-120"/>
              </a:rPr>
              <a:t>"đoạn phẳng" (plateau)</a:t>
            </a:r>
            <a:r>
              <a:rPr lang="en-US" sz="2000" dirty="0">
                <a:solidFill>
                  <a:srgbClr val="3B4E4E"/>
                </a:solidFill>
                <a:latin typeface="Overpass Light" pitchFamily="34" charset="0"/>
                <a:ea typeface="Overpass Light" pitchFamily="34" charset="-122"/>
                <a:cs typeface="Overpass Light" pitchFamily="34" charset="-120"/>
              </a:rPr>
              <a:t> ở đỉnh, nơi độ thuộc (Membership Degree) luôn bằng </a:t>
            </a:r>
            <a:r>
              <a:rPr lang="en-US" sz="2000" b="1" dirty="0">
                <a:solidFill>
                  <a:srgbClr val="224435"/>
                </a:solidFill>
                <a:latin typeface="Overpass Light" pitchFamily="34" charset="0"/>
                <a:ea typeface="Overpass Light" pitchFamily="34" charset="-122"/>
                <a:cs typeface="Overpass Light" pitchFamily="34" charset="-120"/>
              </a:rPr>
              <a:t>1 tuyệt đối</a:t>
            </a:r>
            <a:r>
              <a:rPr lang="en-US" sz="2000" dirty="0">
                <a:solidFill>
                  <a:srgbClr val="3B4E4E"/>
                </a:solidFill>
                <a:latin typeface="Overpass Light" pitchFamily="34" charset="0"/>
                <a:ea typeface="Overpass Light" pitchFamily="34" charset="-122"/>
                <a:cs typeface="Overpass Light" pitchFamily="34" charset="-120"/>
              </a:rPr>
              <a:t>. Điều này phù hợp để mô tả các trạng thái </a:t>
            </a:r>
            <a:r>
              <a:rPr lang="en-US" sz="2000" b="1" dirty="0">
                <a:solidFill>
                  <a:srgbClr val="3B4E4E"/>
                </a:solidFill>
                <a:latin typeface="Overpass Light" pitchFamily="34" charset="0"/>
                <a:ea typeface="Overpass Light" pitchFamily="34" charset="-122"/>
                <a:cs typeface="Overpass Light" pitchFamily="34" charset="-120"/>
              </a:rPr>
              <a:t>Bão hòa</a:t>
            </a:r>
            <a:r>
              <a:rPr lang="en-US" sz="2000" dirty="0">
                <a:solidFill>
                  <a:srgbClr val="3B4E4E"/>
                </a:solidFill>
                <a:latin typeface="Overpass Light" pitchFamily="34" charset="0"/>
                <a:ea typeface="Overpass Light" pitchFamily="34" charset="-122"/>
                <a:cs typeface="Overpass Light" pitchFamily="34" charset="-120"/>
              </a:rPr>
              <a:t> trong thực tế an ninh.</a:t>
            </a:r>
            <a:endParaRPr lang="en-US" sz="2000" dirty="0"/>
          </a:p>
        </p:txBody>
      </p:sp>
      <p:sp>
        <p:nvSpPr>
          <p:cNvPr id="6" name="Shape 3"/>
          <p:cNvSpPr/>
          <p:nvPr/>
        </p:nvSpPr>
        <p:spPr>
          <a:xfrm>
            <a:off x="793790" y="3867031"/>
            <a:ext cx="7556421" cy="1685092"/>
          </a:xfrm>
          <a:prstGeom prst="roundRect">
            <a:avLst>
              <a:gd name="adj" fmla="val 5654"/>
            </a:avLst>
          </a:prstGeom>
          <a:solidFill>
            <a:srgbClr val="DDEEE6"/>
          </a:solidFill>
          <a:ln w="7620">
            <a:solidFill>
              <a:srgbClr val="C3D4CC"/>
            </a:solidFill>
            <a:prstDash val="solid"/>
          </a:ln>
        </p:spPr>
        <p:txBody>
          <a:bodyPr/>
          <a:lstStyle/>
          <a:p>
            <a:endParaRPr lang="en-US" sz="2400"/>
          </a:p>
        </p:txBody>
      </p:sp>
      <p:sp>
        <p:nvSpPr>
          <p:cNvPr id="7" name="Text 4"/>
          <p:cNvSpPr/>
          <p:nvPr/>
        </p:nvSpPr>
        <p:spPr>
          <a:xfrm>
            <a:off x="1028224" y="4101465"/>
            <a:ext cx="2864168" cy="354330"/>
          </a:xfrm>
          <a:prstGeom prst="rect">
            <a:avLst/>
          </a:prstGeom>
          <a:noFill/>
          <a:ln/>
        </p:spPr>
        <p:txBody>
          <a:bodyPr wrap="none" lIns="0" tIns="0" rIns="0" bIns="0" rtlCol="0" anchor="t"/>
          <a:lstStyle/>
          <a:p>
            <a:pPr marL="0" indent="0" algn="l">
              <a:lnSpc>
                <a:spcPts val="2750"/>
              </a:lnSpc>
              <a:buNone/>
            </a:pPr>
            <a:r>
              <a:rPr lang="en-US" sz="2800" b="1" dirty="0">
                <a:solidFill>
                  <a:srgbClr val="3B4E4E"/>
                </a:solidFill>
                <a:latin typeface="Syne Bold" pitchFamily="34" charset="0"/>
                <a:ea typeface="Syne Bold" pitchFamily="34" charset="-122"/>
                <a:cs typeface="Syne Bold" pitchFamily="34" charset="-120"/>
              </a:rPr>
              <a:t>Ví dụ: Tập mờ GẦN</a:t>
            </a:r>
            <a:endParaRPr lang="en-US" sz="2800" dirty="0"/>
          </a:p>
        </p:txBody>
      </p:sp>
      <p:sp>
        <p:nvSpPr>
          <p:cNvPr id="8" name="Text 5"/>
          <p:cNvSpPr/>
          <p:nvPr/>
        </p:nvSpPr>
        <p:spPr>
          <a:xfrm>
            <a:off x="1028224" y="4591883"/>
            <a:ext cx="7087553" cy="725805"/>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Từ 0m đến 7m, bất kể là 2m hay 6m thì mức độ nguy hiểm là </a:t>
            </a:r>
            <a:r>
              <a:rPr lang="en-US" sz="2000" b="1" dirty="0">
                <a:solidFill>
                  <a:srgbClr val="3B4E4E"/>
                </a:solidFill>
                <a:latin typeface="Overpass Light" pitchFamily="34" charset="0"/>
                <a:ea typeface="Overpass Light" pitchFamily="34" charset="-122"/>
                <a:cs typeface="Overpass Light" pitchFamily="34" charset="-120"/>
              </a:rPr>
              <a:t>tương đương nhau</a:t>
            </a:r>
            <a:r>
              <a:rPr lang="en-US" sz="2000" dirty="0">
                <a:solidFill>
                  <a:srgbClr val="3B4E4E"/>
                </a:solidFill>
                <a:latin typeface="Overpass Light" pitchFamily="34" charset="0"/>
                <a:ea typeface="Overpass Light" pitchFamily="34" charset="-122"/>
                <a:cs typeface="Overpass Light" pitchFamily="34" charset="-120"/>
              </a:rPr>
              <a:t>.</a:t>
            </a:r>
            <a:endParaRPr lang="en-US" sz="2000" dirty="0"/>
          </a:p>
        </p:txBody>
      </p:sp>
      <p:sp>
        <p:nvSpPr>
          <p:cNvPr id="9" name="Shape 6"/>
          <p:cNvSpPr/>
          <p:nvPr/>
        </p:nvSpPr>
        <p:spPr>
          <a:xfrm>
            <a:off x="793790" y="5778936"/>
            <a:ext cx="7556421" cy="2039183"/>
          </a:xfrm>
          <a:prstGeom prst="roundRect">
            <a:avLst>
              <a:gd name="adj" fmla="val 5654"/>
            </a:avLst>
          </a:prstGeom>
          <a:solidFill>
            <a:srgbClr val="DDEEE6"/>
          </a:solidFill>
          <a:ln w="7620">
            <a:solidFill>
              <a:srgbClr val="C3D4CC"/>
            </a:solidFill>
            <a:prstDash val="solid"/>
          </a:ln>
        </p:spPr>
        <p:txBody>
          <a:bodyPr/>
          <a:lstStyle/>
          <a:p>
            <a:endParaRPr lang="en-US" sz="2400"/>
          </a:p>
        </p:txBody>
      </p:sp>
      <p:sp>
        <p:nvSpPr>
          <p:cNvPr id="10" name="Text 7"/>
          <p:cNvSpPr/>
          <p:nvPr/>
        </p:nvSpPr>
        <p:spPr>
          <a:xfrm>
            <a:off x="1028224" y="6013371"/>
            <a:ext cx="3264218" cy="354330"/>
          </a:xfrm>
          <a:prstGeom prst="rect">
            <a:avLst/>
          </a:prstGeom>
          <a:noFill/>
          <a:ln/>
        </p:spPr>
        <p:txBody>
          <a:bodyPr wrap="none" lIns="0" tIns="0" rIns="0" bIns="0" rtlCol="0" anchor="t"/>
          <a:lstStyle/>
          <a:p>
            <a:pPr marL="0" indent="0" algn="l">
              <a:lnSpc>
                <a:spcPts val="2750"/>
              </a:lnSpc>
              <a:buNone/>
            </a:pPr>
            <a:r>
              <a:rPr lang="en-US" sz="2800" b="1" dirty="0">
                <a:solidFill>
                  <a:srgbClr val="3B4E4E"/>
                </a:solidFill>
                <a:latin typeface="Syne Bold" pitchFamily="34" charset="0"/>
                <a:ea typeface="Syne Bold" pitchFamily="34" charset="-122"/>
                <a:cs typeface="Syne Bold" pitchFamily="34" charset="-120"/>
              </a:rPr>
              <a:t>So sánh với Gaussian</a:t>
            </a:r>
            <a:endParaRPr lang="en-US" sz="2800" dirty="0"/>
          </a:p>
        </p:txBody>
      </p:sp>
      <p:sp>
        <p:nvSpPr>
          <p:cNvPr id="11" name="Text 8"/>
          <p:cNvSpPr/>
          <p:nvPr/>
        </p:nvSpPr>
        <p:spPr>
          <a:xfrm>
            <a:off x="1028224" y="6503789"/>
            <a:ext cx="7087553" cy="725805"/>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Nếu dùng hàm Gaussian (hình chuông), độ thuộc chỉ đạt 1 tại một điểm duy nhất, điều này không đúng với bản chất của "Vùng nguy hiểm".</a:t>
            </a:r>
            <a:endParaRPr lang="en-US" sz="2000" dirty="0"/>
          </a:p>
        </p:txBody>
      </p:sp>
      <p:sp>
        <p:nvSpPr>
          <p:cNvPr id="12" name="Text 0">
            <a:extLst>
              <a:ext uri="{FF2B5EF4-FFF2-40B4-BE49-F238E27FC236}">
                <a16:creationId xmlns:a16="http://schemas.microsoft.com/office/drawing/2014/main" id="{F018A949-70E7-31F4-FFD1-BB187DDD612D}"/>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
            <a:extLst>
              <a:ext uri="{FF2B5EF4-FFF2-40B4-BE49-F238E27FC236}">
                <a16:creationId xmlns:a16="http://schemas.microsoft.com/office/drawing/2014/main" id="{B1070748-AF1E-5E66-C8B0-69CA65CECB21}"/>
              </a:ext>
            </a:extLst>
          </p:cNvPr>
          <p:cNvSpPr/>
          <p:nvPr/>
        </p:nvSpPr>
        <p:spPr>
          <a:xfrm>
            <a:off x="655321" y="1634004"/>
            <a:ext cx="13181290" cy="3708687"/>
          </a:xfrm>
          <a:prstGeom prst="roundRect">
            <a:avLst>
              <a:gd name="adj" fmla="val 12013"/>
            </a:avLst>
          </a:prstGeom>
          <a:solidFill>
            <a:srgbClr val="F2EEEE"/>
          </a:solidFill>
          <a:ln/>
        </p:spPr>
        <p:txBody>
          <a:bodyPr/>
          <a:lstStyle/>
          <a:p>
            <a:endParaRPr lang="en-US"/>
          </a:p>
        </p:txBody>
      </p:sp>
      <p:sp>
        <p:nvSpPr>
          <p:cNvPr id="2" name="Text 0"/>
          <p:cNvSpPr/>
          <p:nvPr/>
        </p:nvSpPr>
        <p:spPr>
          <a:xfrm>
            <a:off x="793790" y="1227415"/>
            <a:ext cx="11299627" cy="708779"/>
          </a:xfrm>
          <a:prstGeom prst="rect">
            <a:avLst/>
          </a:prstGeom>
          <a:noFill/>
          <a:ln/>
        </p:spPr>
        <p:txBody>
          <a:bodyPr wrap="none" lIns="0" tIns="0" rIns="0" bIns="0" rtlCol="0" anchor="t"/>
          <a:lstStyle/>
          <a:p>
            <a:pPr marL="0" indent="0" algn="l">
              <a:lnSpc>
                <a:spcPts val="5550"/>
              </a:lnSpc>
              <a:buNone/>
            </a:pPr>
            <a:r>
              <a:rPr lang="en-US" sz="4450" b="1" dirty="0">
                <a:solidFill>
                  <a:srgbClr val="233939"/>
                </a:solidFill>
                <a:latin typeface="Syne Bold" pitchFamily="34" charset="0"/>
                <a:ea typeface="Syne Bold" pitchFamily="34" charset="-122"/>
                <a:cs typeface="Syne Bold" pitchFamily="34" charset="-120"/>
              </a:rPr>
              <a:t>Lý do 2: Tối ưu hiệu năng cho Edge AI</a:t>
            </a:r>
            <a:endParaRPr lang="en-US" sz="4450" dirty="0"/>
          </a:p>
        </p:txBody>
      </p:sp>
      <p:sp>
        <p:nvSpPr>
          <p:cNvPr id="3" name="Text 1"/>
          <p:cNvSpPr/>
          <p:nvPr/>
        </p:nvSpPr>
        <p:spPr>
          <a:xfrm>
            <a:off x="793790" y="2503170"/>
            <a:ext cx="3402330" cy="425291"/>
          </a:xfrm>
          <a:prstGeom prst="rect">
            <a:avLst/>
          </a:prstGeom>
          <a:noFill/>
          <a:ln/>
        </p:spPr>
        <p:txBody>
          <a:bodyPr wrap="none" lIns="0" tIns="0" rIns="0" bIns="0" rtlCol="0" anchor="t"/>
          <a:lstStyle/>
          <a:p>
            <a:pPr marL="0" indent="0" algn="l">
              <a:lnSpc>
                <a:spcPts val="3300"/>
              </a:lnSpc>
              <a:buNone/>
            </a:pPr>
            <a:r>
              <a:rPr lang="en-US" sz="3200" b="1" dirty="0">
                <a:solidFill>
                  <a:srgbClr val="233939"/>
                </a:solidFill>
                <a:latin typeface="Syne Bold" pitchFamily="34" charset="0"/>
                <a:ea typeface="Syne Bold" pitchFamily="34" charset="-122"/>
                <a:cs typeface="Syne Bold" pitchFamily="34" charset="-120"/>
              </a:rPr>
              <a:t>Toán học đơn giản</a:t>
            </a:r>
            <a:endParaRPr lang="en-US" sz="3200" dirty="0"/>
          </a:p>
        </p:txBody>
      </p:sp>
      <p:sp>
        <p:nvSpPr>
          <p:cNvPr id="4" name="Text 2"/>
          <p:cNvSpPr/>
          <p:nvPr/>
        </p:nvSpPr>
        <p:spPr>
          <a:xfrm>
            <a:off x="793790" y="3155275"/>
            <a:ext cx="6244709" cy="1466850"/>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Hàm hình thang được cấu thành từ các phương trình đường thẳng bậc nhất (</a:t>
            </a:r>
            <a:r>
              <a:rPr lang="en-US" sz="2000" i="1" dirty="0">
                <a:solidFill>
                  <a:srgbClr val="3B4E4E"/>
                </a:solidFill>
                <a:latin typeface="Overpass Light" pitchFamily="34" charset="0"/>
                <a:ea typeface="Overpass Light" pitchFamily="34" charset="-122"/>
                <a:cs typeface="Overpass Light" pitchFamily="34" charset="-120"/>
              </a:rPr>
              <a:t>y = ax + b</a:t>
            </a:r>
            <a:r>
              <a:rPr lang="en-US" sz="2000" dirty="0">
                <a:solidFill>
                  <a:srgbClr val="3B4E4E"/>
                </a:solidFill>
                <a:latin typeface="Overpass Light" pitchFamily="34" charset="0"/>
                <a:ea typeface="Overpass Light" pitchFamily="34" charset="-122"/>
                <a:cs typeface="Overpass Light" pitchFamily="34" charset="-120"/>
              </a:rPr>
              <a:t>), giúp vi điều khiển (ESP32) và hệ thống xử lý thời gian thực tính toán giải mờ cực nhanh, độ trễ gần như bằng 0.</a:t>
            </a:r>
            <a:endParaRPr lang="en-US" sz="2000" dirty="0"/>
          </a:p>
        </p:txBody>
      </p:sp>
      <p:sp>
        <p:nvSpPr>
          <p:cNvPr id="5" name="Text 3"/>
          <p:cNvSpPr/>
          <p:nvPr/>
        </p:nvSpPr>
        <p:spPr>
          <a:xfrm>
            <a:off x="7599521" y="2503170"/>
            <a:ext cx="3402330" cy="425291"/>
          </a:xfrm>
          <a:prstGeom prst="rect">
            <a:avLst/>
          </a:prstGeom>
          <a:noFill/>
          <a:ln/>
        </p:spPr>
        <p:txBody>
          <a:bodyPr wrap="none" lIns="0" tIns="0" rIns="0" bIns="0" rtlCol="0" anchor="t"/>
          <a:lstStyle/>
          <a:p>
            <a:pPr marL="0" indent="0" algn="l">
              <a:lnSpc>
                <a:spcPts val="3300"/>
              </a:lnSpc>
              <a:buNone/>
            </a:pPr>
            <a:r>
              <a:rPr lang="en-US" sz="3200" b="1" dirty="0">
                <a:solidFill>
                  <a:srgbClr val="233939"/>
                </a:solidFill>
                <a:latin typeface="Syne Bold" pitchFamily="34" charset="0"/>
                <a:ea typeface="Syne Bold" pitchFamily="34" charset="-122"/>
                <a:cs typeface="Syne Bold" pitchFamily="34" charset="-120"/>
              </a:rPr>
              <a:t>So sánh hiệu năng</a:t>
            </a:r>
            <a:endParaRPr lang="en-US" sz="3200" dirty="0"/>
          </a:p>
        </p:txBody>
      </p:sp>
      <p:sp>
        <p:nvSpPr>
          <p:cNvPr id="6" name="Shape 4"/>
          <p:cNvSpPr/>
          <p:nvPr/>
        </p:nvSpPr>
        <p:spPr>
          <a:xfrm>
            <a:off x="7599521" y="3183612"/>
            <a:ext cx="6244709" cy="1966198"/>
          </a:xfrm>
          <a:prstGeom prst="roundRect">
            <a:avLst>
              <a:gd name="adj" fmla="val 4845"/>
            </a:avLst>
          </a:prstGeom>
          <a:noFill/>
          <a:ln w="7620">
            <a:solidFill>
              <a:srgbClr val="000000">
                <a:alpha val="8000"/>
              </a:srgbClr>
            </a:solidFill>
            <a:prstDash val="solid"/>
          </a:ln>
        </p:spPr>
        <p:txBody>
          <a:bodyPr/>
          <a:lstStyle/>
          <a:p>
            <a:endParaRPr lang="en-US" sz="2400"/>
          </a:p>
        </p:txBody>
      </p:sp>
      <p:sp>
        <p:nvSpPr>
          <p:cNvPr id="7" name="Shape 5"/>
          <p:cNvSpPr/>
          <p:nvPr/>
        </p:nvSpPr>
        <p:spPr>
          <a:xfrm>
            <a:off x="7607141" y="3191232"/>
            <a:ext cx="6229469" cy="650319"/>
          </a:xfrm>
          <a:prstGeom prst="rect">
            <a:avLst/>
          </a:prstGeom>
          <a:solidFill>
            <a:srgbClr val="FFFFFF">
              <a:alpha val="4000"/>
            </a:srgbClr>
          </a:solidFill>
          <a:ln/>
        </p:spPr>
        <p:txBody>
          <a:bodyPr/>
          <a:lstStyle/>
          <a:p>
            <a:endParaRPr lang="en-US" sz="2400"/>
          </a:p>
        </p:txBody>
      </p:sp>
      <p:sp>
        <p:nvSpPr>
          <p:cNvPr id="8" name="Text 6"/>
          <p:cNvSpPr/>
          <p:nvPr/>
        </p:nvSpPr>
        <p:spPr>
          <a:xfrm>
            <a:off x="7834074" y="3334941"/>
            <a:ext cx="2657237" cy="362903"/>
          </a:xfrm>
          <a:prstGeom prst="rect">
            <a:avLst/>
          </a:prstGeom>
          <a:noFill/>
          <a:ln/>
        </p:spPr>
        <p:txBody>
          <a:bodyPr wrap="none" lIns="0" tIns="0" rIns="0" bIns="0" rtlCol="0" anchor="t"/>
          <a:lstStyle/>
          <a:p>
            <a:pPr marL="0" indent="0" algn="l">
              <a:lnSpc>
                <a:spcPts val="2850"/>
              </a:lnSpc>
              <a:buNone/>
            </a:pPr>
            <a:r>
              <a:rPr lang="en-US" sz="2000" b="1" dirty="0">
                <a:solidFill>
                  <a:srgbClr val="3B4E4E"/>
                </a:solidFill>
                <a:latin typeface="Overpass Light" pitchFamily="34" charset="0"/>
                <a:ea typeface="Overpass Light" pitchFamily="34" charset="-122"/>
                <a:cs typeface="Overpass Light" pitchFamily="34" charset="-120"/>
              </a:rPr>
              <a:t>Loại hàm</a:t>
            </a:r>
            <a:endParaRPr lang="en-US" sz="2000" dirty="0"/>
          </a:p>
        </p:txBody>
      </p:sp>
      <p:sp>
        <p:nvSpPr>
          <p:cNvPr id="9" name="Text 7"/>
          <p:cNvSpPr/>
          <p:nvPr/>
        </p:nvSpPr>
        <p:spPr>
          <a:xfrm>
            <a:off x="10952559" y="3334941"/>
            <a:ext cx="2657237" cy="362903"/>
          </a:xfrm>
          <a:prstGeom prst="rect">
            <a:avLst/>
          </a:prstGeom>
          <a:noFill/>
          <a:ln/>
        </p:spPr>
        <p:txBody>
          <a:bodyPr wrap="none" lIns="0" tIns="0" rIns="0" bIns="0" rtlCol="0" anchor="t"/>
          <a:lstStyle/>
          <a:p>
            <a:pPr marL="0" indent="0" algn="l">
              <a:lnSpc>
                <a:spcPts val="2850"/>
              </a:lnSpc>
              <a:buNone/>
            </a:pPr>
            <a:r>
              <a:rPr lang="en-US" sz="2000" b="1" dirty="0">
                <a:solidFill>
                  <a:srgbClr val="3B4E4E"/>
                </a:solidFill>
                <a:latin typeface="Overpass Light" pitchFamily="34" charset="0"/>
                <a:ea typeface="Overpass Light" pitchFamily="34" charset="-122"/>
                <a:cs typeface="Overpass Light" pitchFamily="34" charset="-120"/>
              </a:rPr>
              <a:t>Tính chất</a:t>
            </a:r>
            <a:endParaRPr lang="en-US" sz="2000" dirty="0"/>
          </a:p>
        </p:txBody>
      </p:sp>
      <p:sp>
        <p:nvSpPr>
          <p:cNvPr id="10" name="Shape 8"/>
          <p:cNvSpPr/>
          <p:nvPr/>
        </p:nvSpPr>
        <p:spPr>
          <a:xfrm>
            <a:off x="7607141" y="3841552"/>
            <a:ext cx="6229469" cy="650319"/>
          </a:xfrm>
          <a:prstGeom prst="rect">
            <a:avLst/>
          </a:prstGeom>
          <a:solidFill>
            <a:srgbClr val="000000">
              <a:alpha val="4000"/>
            </a:srgbClr>
          </a:solidFill>
          <a:ln/>
        </p:spPr>
        <p:txBody>
          <a:bodyPr/>
          <a:lstStyle/>
          <a:p>
            <a:endParaRPr lang="en-US" sz="2400"/>
          </a:p>
        </p:txBody>
      </p:sp>
      <p:sp>
        <p:nvSpPr>
          <p:cNvPr id="11" name="Text 9"/>
          <p:cNvSpPr/>
          <p:nvPr/>
        </p:nvSpPr>
        <p:spPr>
          <a:xfrm>
            <a:off x="7834074" y="3985260"/>
            <a:ext cx="2657237" cy="362903"/>
          </a:xfrm>
          <a:prstGeom prst="rect">
            <a:avLst/>
          </a:prstGeom>
          <a:noFill/>
          <a:ln/>
        </p:spPr>
        <p:txBody>
          <a:bodyPr wrap="non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Hàm Thang/Tam giác</a:t>
            </a:r>
            <a:endParaRPr lang="en-US" sz="2000" dirty="0"/>
          </a:p>
        </p:txBody>
      </p:sp>
      <p:sp>
        <p:nvSpPr>
          <p:cNvPr id="12" name="Text 10"/>
          <p:cNvSpPr/>
          <p:nvPr/>
        </p:nvSpPr>
        <p:spPr>
          <a:xfrm>
            <a:off x="10952559" y="3985260"/>
            <a:ext cx="2657237" cy="362903"/>
          </a:xfrm>
          <a:prstGeom prst="rect">
            <a:avLst/>
          </a:prstGeom>
          <a:noFill/>
          <a:ln/>
        </p:spPr>
        <p:txBody>
          <a:bodyPr wrap="non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Nhẹ - Nhanh - Tuyến tính</a:t>
            </a:r>
            <a:endParaRPr lang="en-US" sz="2000" dirty="0"/>
          </a:p>
        </p:txBody>
      </p:sp>
      <p:sp>
        <p:nvSpPr>
          <p:cNvPr id="13" name="Shape 11"/>
          <p:cNvSpPr/>
          <p:nvPr/>
        </p:nvSpPr>
        <p:spPr>
          <a:xfrm>
            <a:off x="7607141" y="4491871"/>
            <a:ext cx="6229469" cy="650319"/>
          </a:xfrm>
          <a:prstGeom prst="rect">
            <a:avLst/>
          </a:prstGeom>
          <a:solidFill>
            <a:srgbClr val="FFFFFF">
              <a:alpha val="4000"/>
            </a:srgbClr>
          </a:solidFill>
          <a:ln/>
        </p:spPr>
        <p:txBody>
          <a:bodyPr/>
          <a:lstStyle/>
          <a:p>
            <a:endParaRPr lang="en-US" sz="2400"/>
          </a:p>
        </p:txBody>
      </p:sp>
      <p:sp>
        <p:nvSpPr>
          <p:cNvPr id="14" name="Text 12"/>
          <p:cNvSpPr/>
          <p:nvPr/>
        </p:nvSpPr>
        <p:spPr>
          <a:xfrm>
            <a:off x="7834074" y="4635579"/>
            <a:ext cx="2657237" cy="362903"/>
          </a:xfrm>
          <a:prstGeom prst="rect">
            <a:avLst/>
          </a:prstGeom>
          <a:noFill/>
          <a:ln/>
        </p:spPr>
        <p:txBody>
          <a:bodyPr wrap="non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Hàm Cong</a:t>
            </a:r>
            <a:endParaRPr lang="en-US" sz="2000" dirty="0"/>
          </a:p>
        </p:txBody>
      </p:sp>
      <p:sp>
        <p:nvSpPr>
          <p:cNvPr id="15" name="Text 13"/>
          <p:cNvSpPr/>
          <p:nvPr/>
        </p:nvSpPr>
        <p:spPr>
          <a:xfrm>
            <a:off x="10952559" y="4635579"/>
            <a:ext cx="2657237" cy="362903"/>
          </a:xfrm>
          <a:prstGeom prst="rect">
            <a:avLst/>
          </a:prstGeom>
          <a:noFill/>
          <a:ln/>
        </p:spPr>
        <p:txBody>
          <a:bodyPr wrap="non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Nặng - Chậm - Phi tuyến</a:t>
            </a:r>
            <a:endParaRPr lang="en-US" sz="2000" dirty="0"/>
          </a:p>
        </p:txBody>
      </p:sp>
      <p:sp>
        <p:nvSpPr>
          <p:cNvPr id="16" name="Shape 14"/>
          <p:cNvSpPr/>
          <p:nvPr/>
        </p:nvSpPr>
        <p:spPr>
          <a:xfrm>
            <a:off x="793790" y="5660112"/>
            <a:ext cx="13042821" cy="1341953"/>
          </a:xfrm>
          <a:prstGeom prst="roundRect">
            <a:avLst>
              <a:gd name="adj" fmla="val 7099"/>
            </a:avLst>
          </a:prstGeom>
          <a:solidFill>
            <a:srgbClr val="FCF2B5"/>
          </a:solidFill>
          <a:ln/>
        </p:spPr>
        <p:txBody>
          <a:bodyPr/>
          <a:lstStyle/>
          <a:p>
            <a:endParaRPr lang="en-US" sz="2400"/>
          </a:p>
        </p:txBody>
      </p:sp>
      <p:pic>
        <p:nvPicPr>
          <p:cNvPr id="17" name="Image 0" descr="preencoded.png"/>
          <p:cNvPicPr>
            <a:picLocks noChangeAspect="1"/>
          </p:cNvPicPr>
          <p:nvPr/>
        </p:nvPicPr>
        <p:blipFill>
          <a:blip r:embed="rId3"/>
          <a:stretch>
            <a:fillRect/>
          </a:stretch>
        </p:blipFill>
        <p:spPr>
          <a:xfrm>
            <a:off x="1020604" y="5981343"/>
            <a:ext cx="283488" cy="226814"/>
          </a:xfrm>
          <a:prstGeom prst="rect">
            <a:avLst/>
          </a:prstGeom>
        </p:spPr>
      </p:pic>
      <p:sp>
        <p:nvSpPr>
          <p:cNvPr id="18" name="Text 15"/>
          <p:cNvSpPr/>
          <p:nvPr/>
        </p:nvSpPr>
        <p:spPr>
          <a:xfrm>
            <a:off x="1530906" y="5943600"/>
            <a:ext cx="12078891" cy="741045"/>
          </a:xfrm>
          <a:prstGeom prst="rect">
            <a:avLst/>
          </a:prstGeom>
          <a:noFill/>
          <a:ln/>
        </p:spPr>
        <p:txBody>
          <a:bodyPr wrap="square" lIns="0" tIns="0" rIns="0" bIns="0" rtlCol="0" anchor="t"/>
          <a:lstStyle/>
          <a:p>
            <a:pPr marL="0" indent="0" algn="l">
              <a:lnSpc>
                <a:spcPts val="2850"/>
              </a:lnSpc>
              <a:buNone/>
            </a:pPr>
            <a:r>
              <a:rPr lang="en-US" sz="2000" dirty="0">
                <a:solidFill>
                  <a:srgbClr val="000000"/>
                </a:solidFill>
                <a:latin typeface="Overpass Light" pitchFamily="34" charset="0"/>
                <a:ea typeface="Overpass Light" pitchFamily="34" charset="-122"/>
                <a:cs typeface="Overpass Light" pitchFamily="34" charset="-120"/>
              </a:rPr>
              <a:t>Các hàm cong (Gaussian, Sigmoid) đòi hỏi tính toán hàm mũ (</a:t>
            </a:r>
            <a:r>
              <a:rPr lang="en-US" sz="2000" i="1" dirty="0">
                <a:solidFill>
                  <a:srgbClr val="000000"/>
                </a:solidFill>
                <a:latin typeface="Overpass Light" pitchFamily="34" charset="0"/>
                <a:ea typeface="Overpass Light" pitchFamily="34" charset="-122"/>
                <a:cs typeface="Overpass Light" pitchFamily="34" charset="-120"/>
              </a:rPr>
              <a:t>e^x</a:t>
            </a:r>
            <a:r>
              <a:rPr lang="en-US" sz="2000" dirty="0">
                <a:solidFill>
                  <a:srgbClr val="000000"/>
                </a:solidFill>
                <a:latin typeface="Overpass Light" pitchFamily="34" charset="0"/>
                <a:ea typeface="Overpass Light" pitchFamily="34" charset="-122"/>
                <a:cs typeface="Overpass Light" pitchFamily="34" charset="-120"/>
              </a:rPr>
              <a:t>), logarit phức tạp, gây tiêu tốn tài nguyên CPU và làm chậm hệ thống cảnh báo.</a:t>
            </a:r>
            <a:endParaRPr lang="en-US" sz="2000" dirty="0"/>
          </a:p>
        </p:txBody>
      </p:sp>
      <p:sp>
        <p:nvSpPr>
          <p:cNvPr id="19" name="Text 0">
            <a:extLst>
              <a:ext uri="{FF2B5EF4-FFF2-40B4-BE49-F238E27FC236}">
                <a16:creationId xmlns:a16="http://schemas.microsoft.com/office/drawing/2014/main" id="{CF55EF27-AA0F-8A69-3A9B-17A869E6EF7C}"/>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hape 1">
            <a:extLst>
              <a:ext uri="{FF2B5EF4-FFF2-40B4-BE49-F238E27FC236}">
                <a16:creationId xmlns:a16="http://schemas.microsoft.com/office/drawing/2014/main" id="{D8963587-693B-79E6-880E-35497E55A834}"/>
              </a:ext>
            </a:extLst>
          </p:cNvPr>
          <p:cNvSpPr/>
          <p:nvPr/>
        </p:nvSpPr>
        <p:spPr>
          <a:xfrm>
            <a:off x="502921" y="1634004"/>
            <a:ext cx="13441680" cy="4812516"/>
          </a:xfrm>
          <a:prstGeom prst="roundRect">
            <a:avLst>
              <a:gd name="adj" fmla="val 12013"/>
            </a:avLst>
          </a:prstGeom>
          <a:solidFill>
            <a:srgbClr val="F2EEEE"/>
          </a:solidFill>
          <a:ln/>
        </p:spPr>
        <p:txBody>
          <a:bodyPr/>
          <a:lstStyle/>
          <a:p>
            <a:endParaRPr lang="en-US"/>
          </a:p>
        </p:txBody>
      </p:sp>
      <p:sp>
        <p:nvSpPr>
          <p:cNvPr id="2" name="Text 0"/>
          <p:cNvSpPr/>
          <p:nvPr/>
        </p:nvSpPr>
        <p:spPr>
          <a:xfrm>
            <a:off x="793790" y="2031444"/>
            <a:ext cx="12115681" cy="708779"/>
          </a:xfrm>
          <a:prstGeom prst="rect">
            <a:avLst/>
          </a:prstGeom>
          <a:noFill/>
          <a:ln/>
        </p:spPr>
        <p:txBody>
          <a:bodyPr wrap="none" lIns="0" tIns="0" rIns="0" bIns="0" rtlCol="0" anchor="t"/>
          <a:lstStyle/>
          <a:p>
            <a:pPr marL="0" indent="0" algn="l">
              <a:lnSpc>
                <a:spcPts val="5550"/>
              </a:lnSpc>
              <a:buNone/>
            </a:pPr>
            <a:r>
              <a:rPr lang="en-US" sz="4450" b="1" dirty="0">
                <a:solidFill>
                  <a:srgbClr val="233939"/>
                </a:solidFill>
                <a:latin typeface="Syne Bold" pitchFamily="34" charset="0"/>
                <a:ea typeface="Syne Bold" pitchFamily="34" charset="-122"/>
                <a:cs typeface="Syne Bold" pitchFamily="34" charset="-120"/>
              </a:rPr>
              <a:t>Lý do 3: Tính trực quan và Dễ tinh chỉnh</a:t>
            </a:r>
            <a:endParaRPr lang="en-US" sz="4450" dirty="0"/>
          </a:p>
        </p:txBody>
      </p:sp>
      <p:sp>
        <p:nvSpPr>
          <p:cNvPr id="3" name="Text 1"/>
          <p:cNvSpPr/>
          <p:nvPr/>
        </p:nvSpPr>
        <p:spPr>
          <a:xfrm>
            <a:off x="793790" y="3193852"/>
            <a:ext cx="453628" cy="283488"/>
          </a:xfrm>
          <a:prstGeom prst="rect">
            <a:avLst/>
          </a:prstGeom>
          <a:noFill/>
          <a:ln/>
        </p:spPr>
        <p:txBody>
          <a:bodyPr wrap="none" lIns="0" tIns="0" rIns="0" bIns="0" rtlCol="0" anchor="t"/>
          <a:lstStyle/>
          <a:p>
            <a:pPr marL="0" indent="0" algn="l">
              <a:lnSpc>
                <a:spcPts val="2850"/>
              </a:lnSpc>
              <a:buNone/>
            </a:pPr>
            <a:r>
              <a:rPr lang="en-US" sz="2800" b="1" dirty="0">
                <a:solidFill>
                  <a:srgbClr val="3B4E4E"/>
                </a:solidFill>
                <a:latin typeface="Syne Light" pitchFamily="34" charset="0"/>
                <a:ea typeface="Syne Light" pitchFamily="34" charset="-122"/>
                <a:cs typeface="Syne Light" pitchFamily="34" charset="-120"/>
              </a:rPr>
              <a:t>01</a:t>
            </a:r>
            <a:endParaRPr lang="en-US" sz="2800" b="1" dirty="0"/>
          </a:p>
        </p:txBody>
      </p:sp>
      <p:sp>
        <p:nvSpPr>
          <p:cNvPr id="4" name="Shape 2"/>
          <p:cNvSpPr/>
          <p:nvPr/>
        </p:nvSpPr>
        <p:spPr>
          <a:xfrm>
            <a:off x="793790" y="3548896"/>
            <a:ext cx="4196358" cy="30480"/>
          </a:xfrm>
          <a:prstGeom prst="rect">
            <a:avLst/>
          </a:prstGeom>
          <a:solidFill>
            <a:srgbClr val="224435"/>
          </a:solidFill>
          <a:ln/>
        </p:spPr>
        <p:txBody>
          <a:bodyPr/>
          <a:lstStyle/>
          <a:p>
            <a:endParaRPr lang="en-US" sz="2400"/>
          </a:p>
        </p:txBody>
      </p:sp>
      <p:sp>
        <p:nvSpPr>
          <p:cNvPr id="5" name="Text 3"/>
          <p:cNvSpPr/>
          <p:nvPr/>
        </p:nvSpPr>
        <p:spPr>
          <a:xfrm>
            <a:off x="793790" y="3723203"/>
            <a:ext cx="2933819" cy="354330"/>
          </a:xfrm>
          <a:prstGeom prst="rect">
            <a:avLst/>
          </a:prstGeom>
          <a:noFill/>
          <a:ln/>
        </p:spPr>
        <p:txBody>
          <a:bodyPr wrap="none" lIns="0" tIns="0" rIns="0" bIns="0" rtlCol="0" anchor="t"/>
          <a:lstStyle/>
          <a:p>
            <a:pPr marL="0" indent="0" algn="l">
              <a:lnSpc>
                <a:spcPts val="2750"/>
              </a:lnSpc>
              <a:buNone/>
            </a:pPr>
            <a:r>
              <a:rPr lang="en-US" sz="2800" b="1" dirty="0">
                <a:solidFill>
                  <a:srgbClr val="3B4E4E"/>
                </a:solidFill>
                <a:latin typeface="Syne Bold" pitchFamily="34" charset="0"/>
                <a:ea typeface="Syne Bold" pitchFamily="34" charset="-122"/>
                <a:cs typeface="Syne Bold" pitchFamily="34" charset="-120"/>
              </a:rPr>
              <a:t>Kiểm soát ranh giới</a:t>
            </a:r>
            <a:endParaRPr lang="en-US" sz="2800" dirty="0"/>
          </a:p>
        </p:txBody>
      </p:sp>
      <p:sp>
        <p:nvSpPr>
          <p:cNvPr id="6" name="Text 4"/>
          <p:cNvSpPr/>
          <p:nvPr/>
        </p:nvSpPr>
        <p:spPr>
          <a:xfrm>
            <a:off x="793790" y="4213622"/>
            <a:ext cx="4196358" cy="1103948"/>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Chỉ cần 4 tham số </a:t>
            </a:r>
            <a:r>
              <a:rPr lang="en-US" sz="2000" i="1" dirty="0">
                <a:solidFill>
                  <a:srgbClr val="3B4E4E"/>
                </a:solidFill>
                <a:latin typeface="Overpass Light" pitchFamily="34" charset="0"/>
                <a:ea typeface="Overpass Light" pitchFamily="34" charset="-122"/>
                <a:cs typeface="Overpass Light" pitchFamily="34" charset="-120"/>
              </a:rPr>
              <a:t>[a, b, c, d]</a:t>
            </a:r>
            <a:r>
              <a:rPr lang="en-US" sz="2000" dirty="0">
                <a:solidFill>
                  <a:srgbClr val="3B4E4E"/>
                </a:solidFill>
                <a:latin typeface="Overpass Light" pitchFamily="34" charset="0"/>
                <a:ea typeface="Overpass Light" pitchFamily="34" charset="-122"/>
                <a:cs typeface="Overpass Light" pitchFamily="34" charset="-120"/>
              </a:rPr>
              <a:t> để xác định chính xác điểm bắt đầu, vùng bão hòa và điểm kết thúc của một trạng thái.</a:t>
            </a:r>
            <a:endParaRPr lang="en-US" sz="2000" dirty="0"/>
          </a:p>
        </p:txBody>
      </p:sp>
      <p:sp>
        <p:nvSpPr>
          <p:cNvPr id="7" name="Text 5"/>
          <p:cNvSpPr/>
          <p:nvPr/>
        </p:nvSpPr>
        <p:spPr>
          <a:xfrm>
            <a:off x="5216962" y="3193852"/>
            <a:ext cx="453628" cy="283488"/>
          </a:xfrm>
          <a:prstGeom prst="rect">
            <a:avLst/>
          </a:prstGeom>
          <a:noFill/>
          <a:ln/>
        </p:spPr>
        <p:txBody>
          <a:bodyPr wrap="none" lIns="0" tIns="0" rIns="0" bIns="0" rtlCol="0" anchor="t"/>
          <a:lstStyle/>
          <a:p>
            <a:pPr marL="0" indent="0" algn="l">
              <a:lnSpc>
                <a:spcPts val="2850"/>
              </a:lnSpc>
              <a:buNone/>
            </a:pPr>
            <a:r>
              <a:rPr lang="en-US" sz="2800" b="1" dirty="0">
                <a:solidFill>
                  <a:srgbClr val="3B4E4E"/>
                </a:solidFill>
                <a:latin typeface="Syne Light" pitchFamily="34" charset="0"/>
                <a:ea typeface="Syne Light" pitchFamily="34" charset="-122"/>
                <a:cs typeface="Syne Light" pitchFamily="34" charset="-120"/>
              </a:rPr>
              <a:t>02</a:t>
            </a:r>
            <a:endParaRPr lang="en-US" sz="2800" b="1" dirty="0"/>
          </a:p>
        </p:txBody>
      </p:sp>
      <p:sp>
        <p:nvSpPr>
          <p:cNvPr id="8" name="Shape 6"/>
          <p:cNvSpPr/>
          <p:nvPr/>
        </p:nvSpPr>
        <p:spPr>
          <a:xfrm>
            <a:off x="5216962" y="3548896"/>
            <a:ext cx="4196358" cy="30480"/>
          </a:xfrm>
          <a:prstGeom prst="rect">
            <a:avLst/>
          </a:prstGeom>
          <a:solidFill>
            <a:srgbClr val="224435"/>
          </a:solidFill>
          <a:ln/>
        </p:spPr>
        <p:txBody>
          <a:bodyPr/>
          <a:lstStyle/>
          <a:p>
            <a:endParaRPr lang="en-US" sz="2400"/>
          </a:p>
        </p:txBody>
      </p:sp>
      <p:sp>
        <p:nvSpPr>
          <p:cNvPr id="9" name="Text 7"/>
          <p:cNvSpPr/>
          <p:nvPr/>
        </p:nvSpPr>
        <p:spPr>
          <a:xfrm>
            <a:off x="5216962" y="3723203"/>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3B4E4E"/>
                </a:solidFill>
                <a:latin typeface="Syne Bold" pitchFamily="34" charset="0"/>
                <a:ea typeface="Syne Bold" pitchFamily="34" charset="-122"/>
                <a:cs typeface="Syne Bold" pitchFamily="34" charset="-120"/>
              </a:rPr>
              <a:t>Dễ bảo trì</a:t>
            </a:r>
            <a:endParaRPr lang="en-US" sz="2800" dirty="0"/>
          </a:p>
        </p:txBody>
      </p:sp>
      <p:sp>
        <p:nvSpPr>
          <p:cNvPr id="10" name="Text 8"/>
          <p:cNvSpPr/>
          <p:nvPr/>
        </p:nvSpPr>
        <p:spPr>
          <a:xfrm>
            <a:off x="5216962" y="4213622"/>
            <a:ext cx="4196358" cy="1814513"/>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Khi cần thay đổi ngưỡng an toàn (ví dụ từ 7m lên 10m), người kỹ sư chỉ cần thay đổi tọa độ điểm mà không làm biến dạng toàn bộ hình dáng hàm như các hàm phi tuyến.</a:t>
            </a:r>
            <a:endParaRPr lang="en-US" sz="2000" dirty="0"/>
          </a:p>
        </p:txBody>
      </p:sp>
      <p:sp>
        <p:nvSpPr>
          <p:cNvPr id="11" name="Text 9"/>
          <p:cNvSpPr/>
          <p:nvPr/>
        </p:nvSpPr>
        <p:spPr>
          <a:xfrm>
            <a:off x="9640133" y="3193852"/>
            <a:ext cx="453628" cy="283488"/>
          </a:xfrm>
          <a:prstGeom prst="rect">
            <a:avLst/>
          </a:prstGeom>
          <a:noFill/>
          <a:ln/>
        </p:spPr>
        <p:txBody>
          <a:bodyPr wrap="none" lIns="0" tIns="0" rIns="0" bIns="0" rtlCol="0" anchor="t"/>
          <a:lstStyle/>
          <a:p>
            <a:pPr marL="0" indent="0" algn="l">
              <a:lnSpc>
                <a:spcPts val="2850"/>
              </a:lnSpc>
              <a:buNone/>
            </a:pPr>
            <a:r>
              <a:rPr lang="en-US" sz="2800" b="1" dirty="0">
                <a:solidFill>
                  <a:srgbClr val="3B4E4E"/>
                </a:solidFill>
                <a:latin typeface="Syne Light" pitchFamily="34" charset="0"/>
                <a:ea typeface="Syne Light" pitchFamily="34" charset="-122"/>
                <a:cs typeface="Syne Light" pitchFamily="34" charset="-120"/>
              </a:rPr>
              <a:t>03</a:t>
            </a:r>
            <a:endParaRPr lang="en-US" sz="2800" b="1" dirty="0"/>
          </a:p>
        </p:txBody>
      </p:sp>
      <p:sp>
        <p:nvSpPr>
          <p:cNvPr id="12" name="Shape 10"/>
          <p:cNvSpPr/>
          <p:nvPr/>
        </p:nvSpPr>
        <p:spPr>
          <a:xfrm>
            <a:off x="9640133" y="3548896"/>
            <a:ext cx="4196358" cy="30480"/>
          </a:xfrm>
          <a:prstGeom prst="rect">
            <a:avLst/>
          </a:prstGeom>
          <a:solidFill>
            <a:srgbClr val="224435"/>
          </a:solidFill>
          <a:ln/>
        </p:spPr>
        <p:txBody>
          <a:bodyPr/>
          <a:lstStyle/>
          <a:p>
            <a:endParaRPr lang="en-US" sz="2400"/>
          </a:p>
        </p:txBody>
      </p:sp>
      <p:sp>
        <p:nvSpPr>
          <p:cNvPr id="13" name="Text 11"/>
          <p:cNvSpPr/>
          <p:nvPr/>
        </p:nvSpPr>
        <p:spPr>
          <a:xfrm>
            <a:off x="9640133" y="3723203"/>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3B4E4E"/>
                </a:solidFill>
                <a:latin typeface="Syne Bold" pitchFamily="34" charset="0"/>
                <a:ea typeface="Syne Bold" pitchFamily="34" charset="-122"/>
                <a:cs typeface="Syne Bold" pitchFamily="34" charset="-120"/>
              </a:rPr>
              <a:t>Ổn định hệ thống</a:t>
            </a:r>
            <a:endParaRPr lang="en-US" sz="2800" dirty="0"/>
          </a:p>
        </p:txBody>
      </p:sp>
      <p:sp>
        <p:nvSpPr>
          <p:cNvPr id="14" name="Text 12"/>
          <p:cNvSpPr/>
          <p:nvPr/>
        </p:nvSpPr>
        <p:spPr>
          <a:xfrm>
            <a:off x="9640133" y="4213622"/>
            <a:ext cx="4196358" cy="1451610"/>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Việc định nghĩa mức </a:t>
            </a:r>
            <a:r>
              <a:rPr lang="en-US" sz="2000" b="1" dirty="0">
                <a:solidFill>
                  <a:srgbClr val="224435"/>
                </a:solidFill>
                <a:latin typeface="Overpass Light" pitchFamily="34" charset="0"/>
                <a:ea typeface="Overpass Light" pitchFamily="34" charset="-122"/>
                <a:cs typeface="Overpass Light" pitchFamily="34" charset="-120"/>
              </a:rPr>
              <a:t>"HIỀN"</a:t>
            </a:r>
            <a:r>
              <a:rPr lang="en-US" sz="2000" dirty="0">
                <a:solidFill>
                  <a:srgbClr val="3B4E4E"/>
                </a:solidFill>
                <a:latin typeface="Overpass Light" pitchFamily="34" charset="0"/>
                <a:ea typeface="Overpass Light" pitchFamily="34" charset="-122"/>
                <a:cs typeface="Overpass Light" pitchFamily="34" charset="-120"/>
              </a:rPr>
              <a:t> từ 1 đến 3 điểm AI giúp hệ thống ổn định, không bị "nhảy số" cảnh báo giả khi điểm số AI dao động nhỏ trong vùng này.</a:t>
            </a:r>
            <a:endParaRPr lang="en-US" sz="2000" dirty="0"/>
          </a:p>
        </p:txBody>
      </p:sp>
      <p:sp>
        <p:nvSpPr>
          <p:cNvPr id="15" name="Text 0">
            <a:extLst>
              <a:ext uri="{FF2B5EF4-FFF2-40B4-BE49-F238E27FC236}">
                <a16:creationId xmlns:a16="http://schemas.microsoft.com/office/drawing/2014/main" id="{2F0477ED-0A81-E8B8-1F54-8C90C5B50FCF}"/>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60390" y="619006"/>
            <a:ext cx="13042821" cy="1417558"/>
          </a:xfrm>
          <a:prstGeom prst="rect">
            <a:avLst/>
          </a:prstGeom>
          <a:noFill/>
          <a:ln/>
        </p:spPr>
        <p:txBody>
          <a:bodyPr wrap="square" lIns="0" tIns="0" rIns="0" bIns="0" rtlCol="0" anchor="t"/>
          <a:lstStyle/>
          <a:p>
            <a:pPr marL="0" indent="0" algn="l">
              <a:lnSpc>
                <a:spcPts val="5550"/>
              </a:lnSpc>
              <a:buNone/>
            </a:pPr>
            <a:r>
              <a:rPr lang="en-US" sz="4450" b="1" dirty="0">
                <a:solidFill>
                  <a:srgbClr val="233939"/>
                </a:solidFill>
                <a:latin typeface="Syne Bold" pitchFamily="34" charset="0"/>
                <a:ea typeface="Syne Bold" pitchFamily="34" charset="-122"/>
                <a:cs typeface="Syne Bold" pitchFamily="34" charset="-120"/>
              </a:rPr>
              <a:t>Vấn đề của "Vùng chết" trong Hàm Hình Thang</a:t>
            </a:r>
            <a:endParaRPr lang="en-US" sz="4450" dirty="0"/>
          </a:p>
        </p:txBody>
      </p:sp>
      <p:sp>
        <p:nvSpPr>
          <p:cNvPr id="3" name="Text 1"/>
          <p:cNvSpPr/>
          <p:nvPr/>
        </p:nvSpPr>
        <p:spPr>
          <a:xfrm>
            <a:off x="368855" y="1327785"/>
            <a:ext cx="13042821" cy="741045"/>
          </a:xfrm>
          <a:prstGeom prst="rect">
            <a:avLst/>
          </a:prstGeom>
          <a:noFill/>
          <a:ln/>
        </p:spPr>
        <p:txBody>
          <a:bodyPr wrap="square" lIns="0" tIns="0" rIns="0" bIns="0" rtlCol="0" anchor="t"/>
          <a:lstStyle/>
          <a:p>
            <a:pPr marL="0" indent="0" algn="l">
              <a:lnSpc>
                <a:spcPts val="2850"/>
              </a:lnSpc>
              <a:buNone/>
            </a:pPr>
            <a:r>
              <a:rPr lang="en-US" sz="2000" dirty="0">
                <a:solidFill>
                  <a:srgbClr val="3B4E4E"/>
                </a:solidFill>
                <a:latin typeface="Overpass Light" pitchFamily="34" charset="0"/>
                <a:ea typeface="Overpass Light" pitchFamily="34" charset="-122"/>
                <a:cs typeface="Overpass Light" pitchFamily="34" charset="-120"/>
              </a:rPr>
              <a:t>Hàm Hình Thang có một đặc điểm quan trọng: đoạn đỉnh phẳng với độ thuộc </a:t>
            </a:r>
            <a:r>
              <a:rPr lang="en-US" sz="2000" i="1" dirty="0">
                <a:solidFill>
                  <a:srgbClr val="3B4E4E"/>
                </a:solidFill>
                <a:latin typeface="Overpass Light" pitchFamily="34" charset="0"/>
                <a:ea typeface="Overpass Light" pitchFamily="34" charset="-122"/>
                <a:cs typeface="Overpass Light" pitchFamily="34" charset="-120"/>
              </a:rPr>
              <a:t>\mu = 1</a:t>
            </a:r>
            <a:r>
              <a:rPr lang="en-US" sz="2000" dirty="0">
                <a:solidFill>
                  <a:srgbClr val="3B4E4E"/>
                </a:solidFill>
                <a:latin typeface="Overpass Light" pitchFamily="34" charset="0"/>
                <a:ea typeface="Overpass Light" pitchFamily="34" charset="-122"/>
                <a:cs typeface="Overpass Light" pitchFamily="34" charset="-120"/>
              </a:rPr>
              <a:t> kéo dài cho một khoảng giá trị đầu vào. Trong khoảng này, dù đầu vào có thay đổi, đầu ra vẫn </a:t>
            </a:r>
            <a:r>
              <a:rPr lang="en-US" sz="2000" b="1" dirty="0">
                <a:solidFill>
                  <a:srgbClr val="3B4E4E"/>
                </a:solidFill>
                <a:latin typeface="Overpass Light" pitchFamily="34" charset="0"/>
                <a:ea typeface="Overpass Light" pitchFamily="34" charset="-122"/>
                <a:cs typeface="Overpass Light" pitchFamily="34" charset="-120"/>
              </a:rPr>
              <a:t>đứng yên không đổi</a:t>
            </a:r>
            <a:r>
              <a:rPr lang="en-US" sz="2000" dirty="0">
                <a:solidFill>
                  <a:srgbClr val="3B4E4E"/>
                </a:solidFill>
                <a:latin typeface="Overpass Light" pitchFamily="34" charset="0"/>
                <a:ea typeface="Overpass Light" pitchFamily="34" charset="-122"/>
                <a:cs typeface="Overpass Light" pitchFamily="34" charset="-120"/>
              </a:rPr>
              <a:t>.</a:t>
            </a:r>
            <a:endParaRPr lang="en-US" sz="2000" dirty="0"/>
          </a:p>
        </p:txBody>
      </p:sp>
      <p:sp>
        <p:nvSpPr>
          <p:cNvPr id="6" name="Text 4"/>
          <p:cNvSpPr/>
          <p:nvPr/>
        </p:nvSpPr>
        <p:spPr>
          <a:xfrm>
            <a:off x="793790" y="4987171"/>
            <a:ext cx="13042821" cy="805101"/>
          </a:xfrm>
          <a:prstGeom prst="rect">
            <a:avLst/>
          </a:prstGeom>
          <a:noFill/>
          <a:ln/>
        </p:spPr>
        <p:txBody>
          <a:bodyPr wrap="square" lIns="0" tIns="0" rIns="0" bIns="0" rtlCol="0" anchor="t"/>
          <a:lstStyle/>
          <a:p>
            <a:pPr marL="342900" indent="-342900" algn="l">
              <a:lnSpc>
                <a:spcPts val="2850"/>
              </a:lnSpc>
              <a:buSzPct val="100000"/>
              <a:buChar char="•"/>
            </a:pPr>
            <a:endParaRPr lang="en-US" sz="2000" dirty="0"/>
          </a:p>
        </p:txBody>
      </p:sp>
      <p:sp>
        <p:nvSpPr>
          <p:cNvPr id="7" name="Shape 5"/>
          <p:cNvSpPr/>
          <p:nvPr/>
        </p:nvSpPr>
        <p:spPr>
          <a:xfrm>
            <a:off x="1482048" y="7086600"/>
            <a:ext cx="13042821" cy="1077376"/>
          </a:xfrm>
          <a:prstGeom prst="roundRect">
            <a:avLst>
              <a:gd name="adj" fmla="val 6223"/>
            </a:avLst>
          </a:prstGeom>
          <a:solidFill>
            <a:srgbClr val="FCF2B5"/>
          </a:solidFill>
          <a:ln/>
        </p:spPr>
        <p:txBody>
          <a:bodyPr/>
          <a:lstStyle/>
          <a:p>
            <a:endParaRPr lang="en-US" sz="2400"/>
          </a:p>
        </p:txBody>
      </p:sp>
      <p:pic>
        <p:nvPicPr>
          <p:cNvPr id="8" name="Image 0" descr="preencoded.png"/>
          <p:cNvPicPr>
            <a:picLocks noChangeAspect="1"/>
          </p:cNvPicPr>
          <p:nvPr/>
        </p:nvPicPr>
        <p:blipFill>
          <a:blip r:embed="rId3"/>
          <a:stretch>
            <a:fillRect/>
          </a:stretch>
        </p:blipFill>
        <p:spPr>
          <a:xfrm>
            <a:off x="1020604" y="6368653"/>
            <a:ext cx="283488" cy="226814"/>
          </a:xfrm>
          <a:prstGeom prst="rect">
            <a:avLst/>
          </a:prstGeom>
        </p:spPr>
      </p:pic>
      <p:sp>
        <p:nvSpPr>
          <p:cNvPr id="9" name="Text 6"/>
          <p:cNvSpPr/>
          <p:nvPr/>
        </p:nvSpPr>
        <p:spPr>
          <a:xfrm>
            <a:off x="5554757" y="7283984"/>
            <a:ext cx="12078891" cy="362903"/>
          </a:xfrm>
          <a:prstGeom prst="rect">
            <a:avLst/>
          </a:prstGeom>
          <a:noFill/>
          <a:ln/>
        </p:spPr>
        <p:txBody>
          <a:bodyPr wrap="none" lIns="0" tIns="0" rIns="0" bIns="0" rtlCol="0" anchor="t"/>
          <a:lstStyle/>
          <a:p>
            <a:pPr marL="0" indent="0" algn="l">
              <a:lnSpc>
                <a:spcPts val="2850"/>
              </a:lnSpc>
              <a:buNone/>
            </a:pPr>
            <a:r>
              <a:rPr lang="en-US" sz="2000" b="1" dirty="0">
                <a:solidFill>
                  <a:srgbClr val="000000"/>
                </a:solidFill>
                <a:latin typeface="Overpass Light" pitchFamily="34" charset="0"/>
                <a:ea typeface="Overpass Light" pitchFamily="34" charset="-122"/>
                <a:cs typeface="Overpass Light" pitchFamily="34" charset="-120"/>
              </a:rPr>
              <a:t>VÙNG CHẾT - KHÔNG CÓ PHẢN HỒI</a:t>
            </a:r>
            <a:endParaRPr lang="en-US" sz="2000" dirty="0"/>
          </a:p>
        </p:txBody>
      </p:sp>
      <p:sp>
        <p:nvSpPr>
          <p:cNvPr id="10" name="Text 7"/>
          <p:cNvSpPr/>
          <p:nvPr/>
        </p:nvSpPr>
        <p:spPr>
          <a:xfrm>
            <a:off x="3247463" y="7731918"/>
            <a:ext cx="12078891" cy="362903"/>
          </a:xfrm>
          <a:prstGeom prst="rect">
            <a:avLst/>
          </a:prstGeom>
          <a:noFill/>
          <a:ln/>
        </p:spPr>
        <p:txBody>
          <a:bodyPr wrap="none" lIns="0" tIns="0" rIns="0" bIns="0" rtlCol="0" anchor="t"/>
          <a:lstStyle/>
          <a:p>
            <a:pPr marL="0" indent="0" algn="l">
              <a:lnSpc>
                <a:spcPts val="2850"/>
              </a:lnSpc>
              <a:buNone/>
            </a:pPr>
            <a:r>
              <a:rPr lang="en-US" sz="2000" dirty="0">
                <a:solidFill>
                  <a:srgbClr val="000000"/>
                </a:solidFill>
                <a:latin typeface="Overpass Light" pitchFamily="34" charset="0"/>
                <a:ea typeface="Overpass Light" pitchFamily="34" charset="-122"/>
                <a:cs typeface="Overpass Light" pitchFamily="34" charset="-120"/>
              </a:rPr>
              <a:t>Đoạn đỉnh phẳng tạo ra vùng mà hệ thống không nhạy với thay đổi đầu vào</a:t>
            </a:r>
            <a:endParaRPr lang="en-US" sz="2000" dirty="0"/>
          </a:p>
        </p:txBody>
      </p:sp>
      <p:pic>
        <p:nvPicPr>
          <p:cNvPr id="12" name="Picture 11">
            <a:extLst>
              <a:ext uri="{FF2B5EF4-FFF2-40B4-BE49-F238E27FC236}">
                <a16:creationId xmlns:a16="http://schemas.microsoft.com/office/drawing/2014/main" id="{9C65D9E8-DE75-7D6A-D0D0-F64DCE42F316}"/>
              </a:ext>
            </a:extLst>
          </p:cNvPr>
          <p:cNvPicPr>
            <a:picLocks noChangeAspect="1"/>
          </p:cNvPicPr>
          <p:nvPr/>
        </p:nvPicPr>
        <p:blipFill>
          <a:blip r:embed="rId4"/>
          <a:stretch>
            <a:fillRect/>
          </a:stretch>
        </p:blipFill>
        <p:spPr>
          <a:xfrm>
            <a:off x="2338507" y="2233948"/>
            <a:ext cx="10600253" cy="4851641"/>
          </a:xfrm>
          <a:prstGeom prst="rect">
            <a:avLst/>
          </a:prstGeom>
        </p:spPr>
      </p:pic>
      <p:sp>
        <p:nvSpPr>
          <p:cNvPr id="4" name="Text 0">
            <a:extLst>
              <a:ext uri="{FF2B5EF4-FFF2-40B4-BE49-F238E27FC236}">
                <a16:creationId xmlns:a16="http://schemas.microsoft.com/office/drawing/2014/main" id="{41B4BDC0-E602-F14E-EE3E-C21A219881A1}"/>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 1">
            <a:extLst>
              <a:ext uri="{FF2B5EF4-FFF2-40B4-BE49-F238E27FC236}">
                <a16:creationId xmlns:a16="http://schemas.microsoft.com/office/drawing/2014/main" id="{01B9421F-BD03-3163-4BF8-2CA307C00B68}"/>
              </a:ext>
            </a:extLst>
          </p:cNvPr>
          <p:cNvSpPr/>
          <p:nvPr/>
        </p:nvSpPr>
        <p:spPr>
          <a:xfrm>
            <a:off x="502921" y="1634003"/>
            <a:ext cx="5242559" cy="5384729"/>
          </a:xfrm>
          <a:prstGeom prst="roundRect">
            <a:avLst>
              <a:gd name="adj" fmla="val 12013"/>
            </a:avLst>
          </a:prstGeom>
          <a:solidFill>
            <a:srgbClr val="F2EEEE"/>
          </a:solidFill>
          <a:ln/>
        </p:spPr>
        <p:txBody>
          <a:bodyPr/>
          <a:lstStyle/>
          <a:p>
            <a:endParaRPr lang="en-US"/>
          </a:p>
        </p:txBody>
      </p:sp>
      <p:sp>
        <p:nvSpPr>
          <p:cNvPr id="2" name="Text 0"/>
          <p:cNvSpPr/>
          <p:nvPr/>
        </p:nvSpPr>
        <p:spPr>
          <a:xfrm>
            <a:off x="1446014" y="530781"/>
            <a:ext cx="11243072" cy="531614"/>
          </a:xfrm>
          <a:prstGeom prst="rect">
            <a:avLst/>
          </a:prstGeom>
          <a:noFill/>
          <a:ln/>
        </p:spPr>
        <p:txBody>
          <a:bodyPr wrap="none" lIns="0" tIns="0" rIns="0" bIns="0" rtlCol="0" anchor="t"/>
          <a:lstStyle/>
          <a:p>
            <a:pPr marL="0" indent="0" algn="l">
              <a:lnSpc>
                <a:spcPts val="4150"/>
              </a:lnSpc>
              <a:buNone/>
            </a:pPr>
            <a:r>
              <a:rPr lang="en-US" sz="3300" b="1" dirty="0">
                <a:solidFill>
                  <a:srgbClr val="233939"/>
                </a:solidFill>
                <a:latin typeface="Syne Bold" pitchFamily="34" charset="0"/>
                <a:ea typeface="Syne Bold" pitchFamily="34" charset="-122"/>
                <a:cs typeface="Syne Bold" pitchFamily="34" charset="-120"/>
              </a:rPr>
              <a:t>Giải pháp tối ưu: Hàm Tam Giác cho sự nhạy bén</a:t>
            </a:r>
            <a:endParaRPr lang="en-US" sz="3300" dirty="0"/>
          </a:p>
        </p:txBody>
      </p:sp>
      <p:sp>
        <p:nvSpPr>
          <p:cNvPr id="3" name="Text 1"/>
          <p:cNvSpPr/>
          <p:nvPr/>
        </p:nvSpPr>
        <p:spPr>
          <a:xfrm>
            <a:off x="722828" y="1574162"/>
            <a:ext cx="2551748" cy="318849"/>
          </a:xfrm>
          <a:prstGeom prst="rect">
            <a:avLst/>
          </a:prstGeom>
          <a:noFill/>
          <a:ln/>
        </p:spPr>
        <p:txBody>
          <a:bodyPr wrap="none" lIns="0" tIns="0" rIns="0" bIns="0" rtlCol="0" anchor="t"/>
          <a:lstStyle/>
          <a:p>
            <a:pPr marL="0" indent="0" algn="l">
              <a:lnSpc>
                <a:spcPts val="2500"/>
              </a:lnSpc>
              <a:buNone/>
            </a:pPr>
            <a:r>
              <a:rPr lang="en-US" sz="3200" b="1" dirty="0">
                <a:solidFill>
                  <a:srgbClr val="233939"/>
                </a:solidFill>
                <a:latin typeface="Syne Bold" pitchFamily="34" charset="0"/>
                <a:ea typeface="Syne Bold" pitchFamily="34" charset="-122"/>
                <a:cs typeface="Syne Bold" pitchFamily="34" charset="-120"/>
              </a:rPr>
              <a:t>Đặc điểm kỹ thuật</a:t>
            </a:r>
            <a:endParaRPr lang="en-US" sz="3200" dirty="0"/>
          </a:p>
        </p:txBody>
      </p:sp>
      <p:sp>
        <p:nvSpPr>
          <p:cNvPr id="4" name="Text 2"/>
          <p:cNvSpPr/>
          <p:nvPr/>
        </p:nvSpPr>
        <p:spPr>
          <a:xfrm>
            <a:off x="722828" y="2020527"/>
            <a:ext cx="4489252" cy="491490"/>
          </a:xfrm>
          <a:prstGeom prst="rect">
            <a:avLst/>
          </a:prstGeom>
          <a:noFill/>
          <a:ln/>
        </p:spPr>
        <p:txBody>
          <a:bodyPr wrap="square" lIns="0" tIns="0" rIns="0" bIns="0" rtlCol="0" anchor="t"/>
          <a:lstStyle/>
          <a:p>
            <a:pPr marL="0" indent="0" algn="l">
              <a:lnSpc>
                <a:spcPct val="150000"/>
              </a:lnSpc>
              <a:buNone/>
            </a:pPr>
            <a:r>
              <a:rPr lang="en-US" dirty="0">
                <a:solidFill>
                  <a:srgbClr val="3B4E4E"/>
                </a:solidFill>
                <a:latin typeface="Overpass Light" pitchFamily="34" charset="0"/>
                <a:ea typeface="Overpass Light" pitchFamily="34" charset="-122"/>
                <a:cs typeface="Overpass Light" pitchFamily="34" charset="-120"/>
              </a:rPr>
              <a:t>Hàm Tam Giác chỉ có </a:t>
            </a:r>
            <a:r>
              <a:rPr lang="en-US" b="1" dirty="0">
                <a:solidFill>
                  <a:srgbClr val="224435"/>
                </a:solidFill>
                <a:latin typeface="Overpass Light" pitchFamily="34" charset="0"/>
                <a:ea typeface="Overpass Light" pitchFamily="34" charset="-122"/>
                <a:cs typeface="Overpass Light" pitchFamily="34" charset="-120"/>
              </a:rPr>
              <a:t>duy nhất một điểm</a:t>
            </a:r>
            <a:r>
              <a:rPr lang="en-US" dirty="0">
                <a:solidFill>
                  <a:srgbClr val="3B4E4E"/>
                </a:solidFill>
                <a:latin typeface="Overpass Light" pitchFamily="34" charset="0"/>
                <a:ea typeface="Overpass Light" pitchFamily="34" charset="-122"/>
                <a:cs typeface="Overpass Light" pitchFamily="34" charset="-120"/>
              </a:rPr>
              <a:t> đạt giá trị </a:t>
            </a:r>
            <a:r>
              <a:rPr lang="en-US" i="1" dirty="0">
                <a:solidFill>
                  <a:srgbClr val="3B4E4E"/>
                </a:solidFill>
                <a:latin typeface="Overpass Light" pitchFamily="34" charset="0"/>
                <a:ea typeface="Overpass Light" pitchFamily="34" charset="-122"/>
                <a:cs typeface="Overpass Light" pitchFamily="34" charset="-120"/>
              </a:rPr>
              <a:t>\mu = 1</a:t>
            </a:r>
            <a:r>
              <a:rPr lang="en-US" dirty="0">
                <a:solidFill>
                  <a:srgbClr val="3B4E4E"/>
                </a:solidFill>
                <a:latin typeface="Overpass Light" pitchFamily="34" charset="0"/>
                <a:ea typeface="Overpass Light" pitchFamily="34" charset="-122"/>
                <a:cs typeface="Overpass Light" pitchFamily="34" charset="-120"/>
              </a:rPr>
              <a:t> tại đỉnh. Mọi sự thay đổi nhỏ nhất của đầu vào đều dẫn đến sự thay đổi tức thì của độ thuộc.</a:t>
            </a:r>
            <a:endParaRPr lang="en-US" dirty="0"/>
          </a:p>
        </p:txBody>
      </p:sp>
      <p:sp>
        <p:nvSpPr>
          <p:cNvPr id="5" name="Text 3"/>
          <p:cNvSpPr/>
          <p:nvPr/>
        </p:nvSpPr>
        <p:spPr>
          <a:xfrm>
            <a:off x="609481" y="3845565"/>
            <a:ext cx="2551748" cy="318849"/>
          </a:xfrm>
          <a:prstGeom prst="rect">
            <a:avLst/>
          </a:prstGeom>
          <a:noFill/>
          <a:ln/>
        </p:spPr>
        <p:txBody>
          <a:bodyPr wrap="none" lIns="0" tIns="0" rIns="0" bIns="0" rtlCol="0" anchor="t"/>
          <a:lstStyle/>
          <a:p>
            <a:pPr marL="0" indent="0" algn="l">
              <a:lnSpc>
                <a:spcPts val="2500"/>
              </a:lnSpc>
              <a:buNone/>
            </a:pPr>
            <a:r>
              <a:rPr lang="en-US" sz="3200" b="1" dirty="0">
                <a:solidFill>
                  <a:srgbClr val="233939"/>
                </a:solidFill>
                <a:latin typeface="Syne Bold" pitchFamily="34" charset="0"/>
                <a:ea typeface="Syne Bold" pitchFamily="34" charset="-122"/>
                <a:cs typeface="Syne Bold" pitchFamily="34" charset="-120"/>
              </a:rPr>
              <a:t>Lợi ích kỹ thuật</a:t>
            </a:r>
            <a:endParaRPr lang="en-US" sz="3200" dirty="0"/>
          </a:p>
        </p:txBody>
      </p:sp>
      <p:sp>
        <p:nvSpPr>
          <p:cNvPr id="6" name="Text 4"/>
          <p:cNvSpPr/>
          <p:nvPr/>
        </p:nvSpPr>
        <p:spPr>
          <a:xfrm>
            <a:off x="609481" y="4291930"/>
            <a:ext cx="4489252" cy="803672"/>
          </a:xfrm>
          <a:prstGeom prst="rect">
            <a:avLst/>
          </a:prstGeom>
          <a:noFill/>
          <a:ln/>
        </p:spPr>
        <p:txBody>
          <a:bodyPr wrap="square" lIns="0" tIns="0" rIns="0" bIns="0" rtlCol="0" anchor="t"/>
          <a:lstStyle/>
          <a:p>
            <a:pPr marL="342900" indent="-342900" algn="l">
              <a:lnSpc>
                <a:spcPct val="150000"/>
              </a:lnSpc>
              <a:buSzPct val="100000"/>
              <a:buChar char="•"/>
            </a:pPr>
            <a:r>
              <a:rPr lang="en-US" b="1" dirty="0">
                <a:solidFill>
                  <a:srgbClr val="3B4E4E"/>
                </a:solidFill>
                <a:latin typeface="Overpass Light" pitchFamily="34" charset="0"/>
                <a:ea typeface="Overpass Light" pitchFamily="34" charset="-122"/>
                <a:cs typeface="Overpass Light" pitchFamily="34" charset="-120"/>
              </a:rPr>
              <a:t>Triệt tiêu vùng chết:</a:t>
            </a:r>
            <a:r>
              <a:rPr lang="en-US" dirty="0">
                <a:solidFill>
                  <a:srgbClr val="3B4E4E"/>
                </a:solidFill>
                <a:latin typeface="Overpass Light" pitchFamily="34" charset="0"/>
                <a:ea typeface="Overpass Light" pitchFamily="34" charset="-122"/>
                <a:cs typeface="Overpass Light" pitchFamily="34" charset="-120"/>
              </a:rPr>
              <a:t> Đảm bảo tính liên tục (Continuity) cho hệ thống</a:t>
            </a:r>
            <a:endParaRPr lang="en-US" dirty="0"/>
          </a:p>
          <a:p>
            <a:pPr marL="342900" indent="-342900" algn="l">
              <a:lnSpc>
                <a:spcPct val="150000"/>
              </a:lnSpc>
              <a:buSzPct val="100000"/>
              <a:buChar char="•"/>
            </a:pPr>
            <a:r>
              <a:rPr lang="en-US" b="1" dirty="0">
                <a:solidFill>
                  <a:srgbClr val="3B4E4E"/>
                </a:solidFill>
                <a:latin typeface="Overpass Light" pitchFamily="34" charset="0"/>
                <a:ea typeface="Overpass Light" pitchFamily="34" charset="-122"/>
                <a:cs typeface="Overpass Light" pitchFamily="34" charset="-120"/>
              </a:rPr>
              <a:t>Độ nhạy cao:</a:t>
            </a:r>
            <a:r>
              <a:rPr lang="en-US" dirty="0">
                <a:solidFill>
                  <a:srgbClr val="3B4E4E"/>
                </a:solidFill>
                <a:latin typeface="Overpass Light" pitchFamily="34" charset="0"/>
                <a:ea typeface="Overpass Light" pitchFamily="34" charset="-122"/>
                <a:cs typeface="Overpass Light" pitchFamily="34" charset="-120"/>
              </a:rPr>
              <a:t> Giúp hệ thống "bám sát" từng chuyển động của đối tượng</a:t>
            </a:r>
            <a:endParaRPr lang="en-US" dirty="0"/>
          </a:p>
          <a:p>
            <a:pPr marL="342900" indent="-342900" algn="l">
              <a:lnSpc>
                <a:spcPct val="150000"/>
              </a:lnSpc>
              <a:buSzPct val="100000"/>
              <a:buChar char="•"/>
            </a:pPr>
            <a:r>
              <a:rPr lang="en-US" dirty="0">
                <a:solidFill>
                  <a:srgbClr val="3B4E4E"/>
                </a:solidFill>
                <a:latin typeface="Overpass Light" pitchFamily="34" charset="0"/>
                <a:ea typeface="Overpass Light" pitchFamily="34" charset="-122"/>
                <a:cs typeface="Overpass Light" pitchFamily="34" charset="-120"/>
              </a:rPr>
              <a:t>Chỉ cần kẻ trộm nhích 0.5m, cường độ còi/đèn sẽ thay đổi ngay lập tức</a:t>
            </a:r>
            <a:endParaRPr lang="en-US" dirty="0"/>
          </a:p>
        </p:txBody>
      </p:sp>
      <p:sp>
        <p:nvSpPr>
          <p:cNvPr id="8" name="Shape 5"/>
          <p:cNvSpPr/>
          <p:nvPr/>
        </p:nvSpPr>
        <p:spPr>
          <a:xfrm>
            <a:off x="226814" y="7133510"/>
            <a:ext cx="14403586" cy="960834"/>
          </a:xfrm>
          <a:prstGeom prst="roundRect">
            <a:avLst>
              <a:gd name="adj" fmla="val 7436"/>
            </a:avLst>
          </a:prstGeom>
          <a:solidFill>
            <a:srgbClr val="B6FCB8"/>
          </a:solidFill>
          <a:ln/>
        </p:spPr>
        <p:txBody>
          <a:bodyPr/>
          <a:lstStyle/>
          <a:p>
            <a:endParaRPr lang="en-US" sz="2800"/>
          </a:p>
        </p:txBody>
      </p:sp>
      <p:pic>
        <p:nvPicPr>
          <p:cNvPr id="9" name="Image 1" descr="preencoded.png"/>
          <p:cNvPicPr>
            <a:picLocks noChangeAspect="1"/>
          </p:cNvPicPr>
          <p:nvPr/>
        </p:nvPicPr>
        <p:blipFill>
          <a:blip r:embed="rId3"/>
          <a:stretch>
            <a:fillRect/>
          </a:stretch>
        </p:blipFill>
        <p:spPr>
          <a:xfrm>
            <a:off x="396835" y="7357228"/>
            <a:ext cx="212646" cy="170021"/>
          </a:xfrm>
          <a:prstGeom prst="rect">
            <a:avLst/>
          </a:prstGeom>
        </p:spPr>
      </p:pic>
      <p:sp>
        <p:nvSpPr>
          <p:cNvPr id="10" name="Text 6"/>
          <p:cNvSpPr/>
          <p:nvPr/>
        </p:nvSpPr>
        <p:spPr>
          <a:xfrm>
            <a:off x="779502" y="7303531"/>
            <a:ext cx="11015543" cy="238125"/>
          </a:xfrm>
          <a:prstGeom prst="rect">
            <a:avLst/>
          </a:prstGeom>
          <a:noFill/>
          <a:ln/>
        </p:spPr>
        <p:txBody>
          <a:bodyPr wrap="none" lIns="0" tIns="0" rIns="0" bIns="0" rtlCol="0" anchor="t"/>
          <a:lstStyle/>
          <a:p>
            <a:pPr marL="0" indent="0" algn="l">
              <a:lnSpc>
                <a:spcPts val="1850"/>
              </a:lnSpc>
              <a:buNone/>
            </a:pPr>
            <a:r>
              <a:rPr lang="en-US" b="1" dirty="0">
                <a:solidFill>
                  <a:srgbClr val="000000"/>
                </a:solidFill>
                <a:latin typeface="Overpass Light" pitchFamily="34" charset="0"/>
                <a:ea typeface="Overpass Light" pitchFamily="34" charset="-122"/>
                <a:cs typeface="Overpass Light" pitchFamily="34" charset="-120"/>
              </a:rPr>
              <a:t>ĐỘ NHẠY TỐI ĐA - PHẢN HỒI TỨC THÌ</a:t>
            </a:r>
            <a:endParaRPr lang="en-US" dirty="0"/>
          </a:p>
        </p:txBody>
      </p:sp>
      <p:sp>
        <p:nvSpPr>
          <p:cNvPr id="11" name="Text 7"/>
          <p:cNvSpPr/>
          <p:nvPr/>
        </p:nvSpPr>
        <p:spPr>
          <a:xfrm>
            <a:off x="779502" y="7656433"/>
            <a:ext cx="11015543" cy="238125"/>
          </a:xfrm>
          <a:prstGeom prst="rect">
            <a:avLst/>
          </a:prstGeom>
          <a:noFill/>
          <a:ln/>
        </p:spPr>
        <p:txBody>
          <a:bodyPr wrap="none" lIns="0" tIns="0" rIns="0" bIns="0" rtlCol="0" anchor="t"/>
          <a:lstStyle/>
          <a:p>
            <a:pPr marL="0" indent="0" algn="l">
              <a:lnSpc>
                <a:spcPts val="1850"/>
              </a:lnSpc>
              <a:buNone/>
            </a:pPr>
            <a:r>
              <a:rPr lang="en-US" dirty="0">
                <a:solidFill>
                  <a:srgbClr val="000000"/>
                </a:solidFill>
                <a:latin typeface="Overpass Light" pitchFamily="34" charset="0"/>
                <a:ea typeface="Overpass Light" pitchFamily="34" charset="-122"/>
                <a:cs typeface="Overpass Light" pitchFamily="34" charset="-120"/>
              </a:rPr>
              <a:t>Hàm Tam Giác đảm bảo mọi thay đổi đều được phản ánh ngay lập tức</a:t>
            </a:r>
            <a:endParaRPr lang="en-US" dirty="0"/>
          </a:p>
        </p:txBody>
      </p:sp>
      <p:pic>
        <p:nvPicPr>
          <p:cNvPr id="13" name="Picture 12">
            <a:extLst>
              <a:ext uri="{FF2B5EF4-FFF2-40B4-BE49-F238E27FC236}">
                <a16:creationId xmlns:a16="http://schemas.microsoft.com/office/drawing/2014/main" id="{150A0526-9057-CCA5-8752-661A575D9F9B}"/>
              </a:ext>
            </a:extLst>
          </p:cNvPr>
          <p:cNvPicPr>
            <a:picLocks noChangeAspect="1"/>
          </p:cNvPicPr>
          <p:nvPr/>
        </p:nvPicPr>
        <p:blipFill>
          <a:blip r:embed="rId4"/>
          <a:stretch>
            <a:fillRect/>
          </a:stretch>
        </p:blipFill>
        <p:spPr>
          <a:xfrm>
            <a:off x="6661904" y="1045684"/>
            <a:ext cx="8169037" cy="6063775"/>
          </a:xfrm>
          <a:prstGeom prst="rect">
            <a:avLst/>
          </a:prstGeom>
        </p:spPr>
      </p:pic>
      <p:sp>
        <p:nvSpPr>
          <p:cNvPr id="7" name="Text 0">
            <a:extLst>
              <a:ext uri="{FF2B5EF4-FFF2-40B4-BE49-F238E27FC236}">
                <a16:creationId xmlns:a16="http://schemas.microsoft.com/office/drawing/2014/main" id="{336E5443-27A3-D662-66A0-F7798112529A}"/>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87A08-ECC2-4005-507A-F1D69A05189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E5FB5A-B886-5095-8F41-A235FFD34ED6}"/>
              </a:ext>
            </a:extLst>
          </p:cNvPr>
          <p:cNvSpPr/>
          <p:nvPr/>
        </p:nvSpPr>
        <p:spPr>
          <a:xfrm>
            <a:off x="834628" y="486400"/>
            <a:ext cx="4695944" cy="586978"/>
          </a:xfrm>
          <a:prstGeom prst="rect">
            <a:avLst/>
          </a:prstGeom>
          <a:noFill/>
          <a:ln/>
        </p:spPr>
        <p:txBody>
          <a:bodyPr wrap="none" lIns="0" tIns="0" rIns="0" bIns="0" rtlCol="0" anchor="t"/>
          <a:lstStyle/>
          <a:p>
            <a:pPr marL="0" indent="0" algn="l">
              <a:lnSpc>
                <a:spcPts val="4600"/>
              </a:lnSpc>
              <a:buNone/>
            </a:pPr>
            <a:r>
              <a:rPr lang="en-US" sz="3650" b="1" dirty="0">
                <a:solidFill>
                  <a:srgbClr val="233939"/>
                </a:solidFill>
                <a:latin typeface="Syne Bold" pitchFamily="34" charset="0"/>
                <a:ea typeface="Syne Bold" pitchFamily="34" charset="-122"/>
                <a:cs typeface="Syne Bold" pitchFamily="34" charset="-120"/>
              </a:rPr>
              <a:t>Hệ luật mờ</a:t>
            </a:r>
            <a:endParaRPr lang="en-US" sz="3650" dirty="0"/>
          </a:p>
        </p:txBody>
      </p:sp>
      <p:sp>
        <p:nvSpPr>
          <p:cNvPr id="3" name="Text 1">
            <a:extLst>
              <a:ext uri="{FF2B5EF4-FFF2-40B4-BE49-F238E27FC236}">
                <a16:creationId xmlns:a16="http://schemas.microsoft.com/office/drawing/2014/main" id="{5340BDDB-93D2-C727-5524-2866FC8E8E5F}"/>
              </a:ext>
            </a:extLst>
          </p:cNvPr>
          <p:cNvSpPr/>
          <p:nvPr/>
        </p:nvSpPr>
        <p:spPr>
          <a:xfrm>
            <a:off x="1320701" y="1350726"/>
            <a:ext cx="2817614" cy="352187"/>
          </a:xfrm>
          <a:prstGeom prst="rect">
            <a:avLst/>
          </a:prstGeom>
          <a:noFill/>
          <a:ln/>
        </p:spPr>
        <p:txBody>
          <a:bodyPr wrap="none" lIns="0" tIns="0" rIns="0" bIns="0" rtlCol="0" anchor="t"/>
          <a:lstStyle/>
          <a:p>
            <a:pPr marL="0" indent="0" algn="l">
              <a:lnSpc>
                <a:spcPts val="2750"/>
              </a:lnSpc>
              <a:buNone/>
            </a:pPr>
            <a:r>
              <a:rPr lang="en-US" sz="3200" b="1" dirty="0">
                <a:solidFill>
                  <a:srgbClr val="233939"/>
                </a:solidFill>
                <a:latin typeface="Syne Bold" pitchFamily="34" charset="0"/>
                <a:ea typeface="Syne Bold" pitchFamily="34" charset="-122"/>
                <a:cs typeface="Syne Bold" pitchFamily="34" charset="-120"/>
              </a:rPr>
              <a:t>9 luật (tổ hợp 3×3)</a:t>
            </a:r>
            <a:endParaRPr lang="en-US" sz="3200" dirty="0"/>
          </a:p>
        </p:txBody>
      </p:sp>
      <p:sp>
        <p:nvSpPr>
          <p:cNvPr id="4" name="Text 2">
            <a:extLst>
              <a:ext uri="{FF2B5EF4-FFF2-40B4-BE49-F238E27FC236}">
                <a16:creationId xmlns:a16="http://schemas.microsoft.com/office/drawing/2014/main" id="{0EE7415F-A550-17AD-C1D6-616138206371}"/>
              </a:ext>
            </a:extLst>
          </p:cNvPr>
          <p:cNvSpPr/>
          <p:nvPr/>
        </p:nvSpPr>
        <p:spPr>
          <a:xfrm>
            <a:off x="1320701" y="1899579"/>
            <a:ext cx="7593330" cy="274677"/>
          </a:xfrm>
          <a:prstGeom prst="rect">
            <a:avLst/>
          </a:prstGeom>
          <a:noFill/>
          <a:ln/>
        </p:spPr>
        <p:txBody>
          <a:bodyPr wrap="non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Sử dụng toán tử logic AND với phép lấy giá trị tối thiểu (MIN)</a:t>
            </a:r>
            <a:endParaRPr lang="en-US" sz="2000" dirty="0"/>
          </a:p>
        </p:txBody>
      </p:sp>
      <p:sp>
        <p:nvSpPr>
          <p:cNvPr id="5" name="Text 3">
            <a:extLst>
              <a:ext uri="{FF2B5EF4-FFF2-40B4-BE49-F238E27FC236}">
                <a16:creationId xmlns:a16="http://schemas.microsoft.com/office/drawing/2014/main" id="{004D7181-C93B-CB46-073C-43F819F031B5}"/>
              </a:ext>
            </a:extLst>
          </p:cNvPr>
          <p:cNvSpPr/>
          <p:nvPr/>
        </p:nvSpPr>
        <p:spPr>
          <a:xfrm>
            <a:off x="1320701" y="2530183"/>
            <a:ext cx="7593330" cy="4909424"/>
          </a:xfrm>
          <a:prstGeom prst="rect">
            <a:avLst/>
          </a:prstGeom>
          <a:noFill/>
          <a:ln/>
        </p:spPr>
        <p:txBody>
          <a:bodyPr wrap="square" lIns="0" tIns="0" rIns="0" bIns="0" rtlCol="0" anchor="t"/>
          <a:lstStyle/>
          <a:p>
            <a:pPr marL="342900" indent="-342900" algn="l">
              <a:lnSpc>
                <a:spcPct val="150000"/>
              </a:lnSpc>
              <a:buSzPct val="100000"/>
              <a:buFont typeface="+mj-lt"/>
              <a:buAutoNum type="arabicPeriod"/>
            </a:pPr>
            <a:r>
              <a:rPr lang="en-US" sz="2000" dirty="0">
                <a:solidFill>
                  <a:srgbClr val="3B4E4E"/>
                </a:solidFill>
                <a:latin typeface="Overpass Light" pitchFamily="34" charset="0"/>
                <a:ea typeface="Overpass Light" pitchFamily="34" charset="-122"/>
                <a:cs typeface="Overpass Light" pitchFamily="34" charset="-120"/>
              </a:rPr>
              <a:t>Luật 1: NẾU Khoảng cách là Gần VÀ Độ hung dữ là Hiền THÌ Báo động là Vàng.</a:t>
            </a:r>
            <a:endParaRPr lang="en-US" sz="2000" dirty="0"/>
          </a:p>
          <a:p>
            <a:pPr marL="342900" indent="-342900" algn="l">
              <a:lnSpc>
                <a:spcPct val="150000"/>
              </a:lnSpc>
              <a:buSzPct val="100000"/>
              <a:buFont typeface="+mj-lt"/>
              <a:buAutoNum type="arabicPeriod" startAt="2"/>
            </a:pPr>
            <a:r>
              <a:rPr lang="en-US" sz="2000" dirty="0">
                <a:solidFill>
                  <a:srgbClr val="3B4E4E"/>
                </a:solidFill>
                <a:latin typeface="Overpass Light" pitchFamily="34" charset="0"/>
                <a:ea typeface="Overpass Light" pitchFamily="34" charset="-122"/>
                <a:cs typeface="Overpass Light" pitchFamily="34" charset="-120"/>
              </a:rPr>
              <a:t>Luật 2: NẾU Khoảng cách là Gần VÀ Độ hung dữ là Vừa THÌ Báo động là Đỏ.</a:t>
            </a:r>
            <a:endParaRPr lang="en-US" sz="2000" dirty="0"/>
          </a:p>
          <a:p>
            <a:pPr marL="342900" indent="-342900" algn="l">
              <a:lnSpc>
                <a:spcPct val="150000"/>
              </a:lnSpc>
              <a:buSzPct val="100000"/>
              <a:buFont typeface="+mj-lt"/>
              <a:buAutoNum type="arabicPeriod" startAt="3"/>
            </a:pPr>
            <a:r>
              <a:rPr lang="en-US" sz="2000" dirty="0">
                <a:solidFill>
                  <a:srgbClr val="3B4E4E"/>
                </a:solidFill>
                <a:latin typeface="Overpass Light" pitchFamily="34" charset="0"/>
                <a:ea typeface="Overpass Light" pitchFamily="34" charset="-122"/>
                <a:cs typeface="Overpass Light" pitchFamily="34" charset="-120"/>
              </a:rPr>
              <a:t>Luật 3: NẾU Khoảng cách là Gần VÀ Độ hung dữ là Dữ THÌ Báo động là Tử thần.</a:t>
            </a:r>
            <a:endParaRPr lang="en-US" sz="2000" dirty="0"/>
          </a:p>
          <a:p>
            <a:pPr marL="342900" indent="-342900" algn="l">
              <a:lnSpc>
                <a:spcPct val="150000"/>
              </a:lnSpc>
              <a:buSzPct val="100000"/>
              <a:buFont typeface="+mj-lt"/>
              <a:buAutoNum type="arabicPeriod" startAt="4"/>
            </a:pPr>
            <a:r>
              <a:rPr lang="en-US" sz="2000" dirty="0">
                <a:solidFill>
                  <a:srgbClr val="3B4E4E"/>
                </a:solidFill>
                <a:latin typeface="Overpass Light" pitchFamily="34" charset="0"/>
                <a:ea typeface="Overpass Light" pitchFamily="34" charset="-122"/>
                <a:cs typeface="Overpass Light" pitchFamily="34" charset="-120"/>
              </a:rPr>
              <a:t>Luật 4: NẾU Khoảng cách là Vừa VÀ Độ hung dữ là Hiền THÌ Báo động là Vàng.</a:t>
            </a:r>
            <a:endParaRPr lang="en-US" sz="2000" dirty="0"/>
          </a:p>
          <a:p>
            <a:pPr marL="342900" indent="-342900" algn="l">
              <a:lnSpc>
                <a:spcPct val="150000"/>
              </a:lnSpc>
              <a:buSzPct val="100000"/>
              <a:buFont typeface="+mj-lt"/>
              <a:buAutoNum type="arabicPeriod" startAt="5"/>
            </a:pPr>
            <a:r>
              <a:rPr lang="en-US" sz="2000" dirty="0">
                <a:solidFill>
                  <a:srgbClr val="3B4E4E"/>
                </a:solidFill>
                <a:latin typeface="Overpass Light" pitchFamily="34" charset="0"/>
                <a:ea typeface="Overpass Light" pitchFamily="34" charset="-122"/>
                <a:cs typeface="Overpass Light" pitchFamily="34" charset="-120"/>
              </a:rPr>
              <a:t>Luật 5: NẾU Khoảng cách là Vừa VÀ Độ hung dữ là Vừa THÌ Báo động là </a:t>
            </a:r>
            <a:r>
              <a:rPr lang="en-US" sz="2000">
                <a:solidFill>
                  <a:srgbClr val="3B4E4E"/>
                </a:solidFill>
                <a:latin typeface="Overpass Light" pitchFamily="34" charset="0"/>
                <a:ea typeface="Overpass Light" pitchFamily="34" charset="-122"/>
                <a:cs typeface="Overpass Light" pitchFamily="34" charset="-120"/>
              </a:rPr>
              <a:t>Đỏ.</a:t>
            </a:r>
            <a:endParaRPr lang="en-US" sz="2000" dirty="0"/>
          </a:p>
        </p:txBody>
      </p:sp>
      <p:sp>
        <p:nvSpPr>
          <p:cNvPr id="8" name="Text 6">
            <a:extLst>
              <a:ext uri="{FF2B5EF4-FFF2-40B4-BE49-F238E27FC236}">
                <a16:creationId xmlns:a16="http://schemas.microsoft.com/office/drawing/2014/main" id="{9264931F-A5D2-0EEF-6E41-5F2F289DB571}"/>
              </a:ext>
            </a:extLst>
          </p:cNvPr>
          <p:cNvSpPr/>
          <p:nvPr/>
        </p:nvSpPr>
        <p:spPr>
          <a:xfrm>
            <a:off x="1030010" y="5665589"/>
            <a:ext cx="1515189" cy="274677"/>
          </a:xfrm>
          <a:prstGeom prst="rect">
            <a:avLst/>
          </a:prstGeom>
          <a:noFill/>
          <a:ln/>
        </p:spPr>
        <p:txBody>
          <a:bodyPr wrap="none" lIns="0" tIns="0" rIns="0" bIns="0" rtlCol="0" anchor="t"/>
          <a:lstStyle/>
          <a:p>
            <a:pPr marL="0" indent="0" algn="l">
              <a:lnSpc>
                <a:spcPts val="2150"/>
              </a:lnSpc>
              <a:buNone/>
            </a:pPr>
            <a:endParaRPr lang="en-US" dirty="0"/>
          </a:p>
        </p:txBody>
      </p:sp>
      <p:sp>
        <p:nvSpPr>
          <p:cNvPr id="10" name="Text 8">
            <a:extLst>
              <a:ext uri="{FF2B5EF4-FFF2-40B4-BE49-F238E27FC236}">
                <a16:creationId xmlns:a16="http://schemas.microsoft.com/office/drawing/2014/main" id="{4453BE00-AD39-1DF4-2481-974DB16C42CD}"/>
              </a:ext>
            </a:extLst>
          </p:cNvPr>
          <p:cNvSpPr/>
          <p:nvPr/>
        </p:nvSpPr>
        <p:spPr>
          <a:xfrm>
            <a:off x="4822865" y="5665589"/>
            <a:ext cx="1511379" cy="274677"/>
          </a:xfrm>
          <a:prstGeom prst="rect">
            <a:avLst/>
          </a:prstGeom>
          <a:noFill/>
          <a:ln/>
        </p:spPr>
        <p:txBody>
          <a:bodyPr wrap="none" lIns="0" tIns="0" rIns="0" bIns="0" rtlCol="0" anchor="t"/>
          <a:lstStyle/>
          <a:p>
            <a:pPr marL="0" indent="0" algn="l">
              <a:lnSpc>
                <a:spcPts val="2150"/>
              </a:lnSpc>
              <a:buNone/>
            </a:pPr>
            <a:endParaRPr lang="en-US" dirty="0"/>
          </a:p>
        </p:txBody>
      </p:sp>
      <p:sp>
        <p:nvSpPr>
          <p:cNvPr id="16" name="Text 14">
            <a:extLst>
              <a:ext uri="{FF2B5EF4-FFF2-40B4-BE49-F238E27FC236}">
                <a16:creationId xmlns:a16="http://schemas.microsoft.com/office/drawing/2014/main" id="{AA54F6C3-DD58-F591-2A1E-D11E32FA8A56}"/>
              </a:ext>
            </a:extLst>
          </p:cNvPr>
          <p:cNvSpPr/>
          <p:nvPr/>
        </p:nvSpPr>
        <p:spPr>
          <a:xfrm>
            <a:off x="6717387" y="6141958"/>
            <a:ext cx="1515189" cy="274677"/>
          </a:xfrm>
          <a:prstGeom prst="rect">
            <a:avLst/>
          </a:prstGeom>
          <a:noFill/>
          <a:ln/>
        </p:spPr>
        <p:txBody>
          <a:bodyPr wrap="none" lIns="0" tIns="0" rIns="0" bIns="0" rtlCol="0" anchor="t"/>
          <a:lstStyle/>
          <a:p>
            <a:pPr marL="0" indent="0" algn="l">
              <a:lnSpc>
                <a:spcPts val="2150"/>
              </a:lnSpc>
              <a:buNone/>
            </a:pPr>
            <a:endParaRPr lang="en-US" dirty="0"/>
          </a:p>
        </p:txBody>
      </p:sp>
      <p:pic>
        <p:nvPicPr>
          <p:cNvPr id="27" name="Image 0" descr="preencoded.png">
            <a:extLst>
              <a:ext uri="{FF2B5EF4-FFF2-40B4-BE49-F238E27FC236}">
                <a16:creationId xmlns:a16="http://schemas.microsoft.com/office/drawing/2014/main" id="{6F799ED3-8C6E-7B17-5F88-97E08060AFCB}"/>
              </a:ext>
            </a:extLst>
          </p:cNvPr>
          <p:cNvPicPr>
            <a:picLocks noChangeAspect="1"/>
          </p:cNvPicPr>
          <p:nvPr/>
        </p:nvPicPr>
        <p:blipFill>
          <a:blip r:embed="rId3"/>
          <a:stretch>
            <a:fillRect/>
          </a:stretch>
        </p:blipFill>
        <p:spPr>
          <a:xfrm>
            <a:off x="8893731" y="1725573"/>
            <a:ext cx="4909423" cy="4909423"/>
          </a:xfrm>
          <a:prstGeom prst="rect">
            <a:avLst/>
          </a:prstGeom>
        </p:spPr>
      </p:pic>
      <p:sp>
        <p:nvSpPr>
          <p:cNvPr id="28" name="Text 25">
            <a:extLst>
              <a:ext uri="{FF2B5EF4-FFF2-40B4-BE49-F238E27FC236}">
                <a16:creationId xmlns:a16="http://schemas.microsoft.com/office/drawing/2014/main" id="{E5EE31DA-B9E8-1FC3-384D-593F53F72A06}"/>
              </a:ext>
            </a:extLst>
          </p:cNvPr>
          <p:cNvSpPr/>
          <p:nvPr/>
        </p:nvSpPr>
        <p:spPr>
          <a:xfrm>
            <a:off x="9204722" y="6535222"/>
            <a:ext cx="4909423" cy="549354"/>
          </a:xfrm>
          <a:prstGeom prst="rect">
            <a:avLst/>
          </a:prstGeom>
          <a:noFill/>
          <a:ln/>
        </p:spPr>
        <p:txBody>
          <a:bodyPr wrap="square" lIns="0" tIns="0" rIns="0" bIns="0" rtlCol="0" anchor="t"/>
          <a:lstStyle/>
          <a:p>
            <a:pPr marL="0" indent="0" algn="l">
              <a:lnSpc>
                <a:spcPts val="2150"/>
              </a:lnSpc>
              <a:buNone/>
            </a:pPr>
            <a:r>
              <a:rPr lang="en-US" sz="2000" b="1" dirty="0">
                <a:solidFill>
                  <a:srgbClr val="3B4E4E"/>
                </a:solidFill>
                <a:latin typeface="Overpass Light" pitchFamily="34" charset="0"/>
                <a:ea typeface="Overpass Light" pitchFamily="34" charset="-122"/>
                <a:cs typeface="Overpass Light" pitchFamily="34" charset="-120"/>
              </a:rPr>
              <a:t>Ngôn ngữ lập trình:</a:t>
            </a:r>
            <a:r>
              <a:rPr lang="en-US" sz="2000" dirty="0">
                <a:solidFill>
                  <a:srgbClr val="3B4E4E"/>
                </a:solidFill>
                <a:latin typeface="Overpass Light" pitchFamily="34" charset="0"/>
                <a:ea typeface="Overpass Light" pitchFamily="34" charset="-122"/>
                <a:cs typeface="Overpass Light" pitchFamily="34" charset="-120"/>
              </a:rPr>
              <a:t> Thư viện skfuzzy trong Python để nạp tập luật vào ControlSystem</a:t>
            </a:r>
            <a:endParaRPr lang="en-US" sz="2000" dirty="0"/>
          </a:p>
        </p:txBody>
      </p:sp>
      <p:sp>
        <p:nvSpPr>
          <p:cNvPr id="6" name="Text 0">
            <a:extLst>
              <a:ext uri="{FF2B5EF4-FFF2-40B4-BE49-F238E27FC236}">
                <a16:creationId xmlns:a16="http://schemas.microsoft.com/office/drawing/2014/main" id="{9FC2CEF8-680E-48B7-619A-76EAFE9C0B2C}"/>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extLst>
      <p:ext uri="{BB962C8B-B14F-4D97-AF65-F5344CB8AC3E}">
        <p14:creationId xmlns:p14="http://schemas.microsoft.com/office/powerpoint/2010/main" val="89664727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34628" y="486400"/>
            <a:ext cx="4695944" cy="586978"/>
          </a:xfrm>
          <a:prstGeom prst="rect">
            <a:avLst/>
          </a:prstGeom>
          <a:noFill/>
          <a:ln/>
        </p:spPr>
        <p:txBody>
          <a:bodyPr wrap="none" lIns="0" tIns="0" rIns="0" bIns="0" rtlCol="0" anchor="t"/>
          <a:lstStyle/>
          <a:p>
            <a:pPr marL="0" indent="0" algn="l">
              <a:lnSpc>
                <a:spcPts val="4600"/>
              </a:lnSpc>
              <a:buNone/>
            </a:pPr>
            <a:r>
              <a:rPr lang="en-US" sz="3650" b="1" dirty="0">
                <a:solidFill>
                  <a:srgbClr val="233939"/>
                </a:solidFill>
                <a:latin typeface="Syne Bold" pitchFamily="34" charset="0"/>
                <a:ea typeface="Syne Bold" pitchFamily="34" charset="-122"/>
                <a:cs typeface="Syne Bold" pitchFamily="34" charset="-120"/>
              </a:rPr>
              <a:t>Hệ luật mờ</a:t>
            </a:r>
            <a:endParaRPr lang="en-US" sz="3650" dirty="0"/>
          </a:p>
        </p:txBody>
      </p:sp>
      <p:sp>
        <p:nvSpPr>
          <p:cNvPr id="3" name="Text 1"/>
          <p:cNvSpPr/>
          <p:nvPr/>
        </p:nvSpPr>
        <p:spPr>
          <a:xfrm>
            <a:off x="1320701" y="1350726"/>
            <a:ext cx="2817614" cy="352187"/>
          </a:xfrm>
          <a:prstGeom prst="rect">
            <a:avLst/>
          </a:prstGeom>
          <a:noFill/>
          <a:ln/>
        </p:spPr>
        <p:txBody>
          <a:bodyPr wrap="none" lIns="0" tIns="0" rIns="0" bIns="0" rtlCol="0" anchor="t"/>
          <a:lstStyle/>
          <a:p>
            <a:pPr marL="0" indent="0" algn="l">
              <a:lnSpc>
                <a:spcPts val="2750"/>
              </a:lnSpc>
              <a:buNone/>
            </a:pPr>
            <a:r>
              <a:rPr lang="en-US" sz="3200" b="1" dirty="0">
                <a:solidFill>
                  <a:srgbClr val="233939"/>
                </a:solidFill>
                <a:latin typeface="Syne Bold" pitchFamily="34" charset="0"/>
                <a:ea typeface="Syne Bold" pitchFamily="34" charset="-122"/>
                <a:cs typeface="Syne Bold" pitchFamily="34" charset="-120"/>
              </a:rPr>
              <a:t>9 luật (tổ hợp 3×3)</a:t>
            </a:r>
            <a:endParaRPr lang="en-US" sz="3200" dirty="0"/>
          </a:p>
        </p:txBody>
      </p:sp>
      <p:sp>
        <p:nvSpPr>
          <p:cNvPr id="4" name="Text 2"/>
          <p:cNvSpPr/>
          <p:nvPr/>
        </p:nvSpPr>
        <p:spPr>
          <a:xfrm>
            <a:off x="1320701" y="1899579"/>
            <a:ext cx="7593330" cy="274677"/>
          </a:xfrm>
          <a:prstGeom prst="rect">
            <a:avLst/>
          </a:prstGeom>
          <a:noFill/>
          <a:ln/>
        </p:spPr>
        <p:txBody>
          <a:bodyPr wrap="none" lIns="0" tIns="0" rIns="0" bIns="0" rtlCol="0" anchor="t"/>
          <a:lstStyle/>
          <a:p>
            <a:pPr marL="0" indent="0" algn="l">
              <a:lnSpc>
                <a:spcPts val="2150"/>
              </a:lnSpc>
              <a:buNone/>
            </a:pPr>
            <a:r>
              <a:rPr lang="en-US" sz="2000" dirty="0">
                <a:solidFill>
                  <a:srgbClr val="3B4E4E"/>
                </a:solidFill>
                <a:latin typeface="Overpass Light" pitchFamily="34" charset="0"/>
                <a:ea typeface="Overpass Light" pitchFamily="34" charset="-122"/>
                <a:cs typeface="Overpass Light" pitchFamily="34" charset="-120"/>
              </a:rPr>
              <a:t>Sử dụng toán tử logic AND với phép lấy giá trị tối thiểu (MIN)</a:t>
            </a:r>
            <a:endParaRPr lang="en-US" sz="2000" dirty="0"/>
          </a:p>
        </p:txBody>
      </p:sp>
      <p:sp>
        <p:nvSpPr>
          <p:cNvPr id="5" name="Text 3"/>
          <p:cNvSpPr/>
          <p:nvPr/>
        </p:nvSpPr>
        <p:spPr>
          <a:xfrm>
            <a:off x="1320701" y="2530182"/>
            <a:ext cx="7593330" cy="3799839"/>
          </a:xfrm>
          <a:prstGeom prst="rect">
            <a:avLst/>
          </a:prstGeom>
          <a:noFill/>
          <a:ln/>
        </p:spPr>
        <p:txBody>
          <a:bodyPr wrap="square" lIns="0" tIns="0" rIns="0" bIns="0" rtlCol="0" anchor="t"/>
          <a:lstStyle/>
          <a:p>
            <a:pPr marL="342900" indent="-342900" algn="l">
              <a:lnSpc>
                <a:spcPct val="150000"/>
              </a:lnSpc>
              <a:buSzPct val="100000"/>
              <a:buFont typeface="+mj-lt"/>
              <a:buAutoNum type="arabicPeriod" startAt="6"/>
            </a:pPr>
            <a:r>
              <a:rPr lang="en-US" sz="2000">
                <a:solidFill>
                  <a:srgbClr val="3B4E4E"/>
                </a:solidFill>
                <a:latin typeface="Overpass Light" pitchFamily="34" charset="0"/>
                <a:ea typeface="Overpass Light" pitchFamily="34" charset="-122"/>
                <a:cs typeface="Overpass Light" pitchFamily="34" charset="-120"/>
              </a:rPr>
              <a:t>Luật </a:t>
            </a:r>
            <a:r>
              <a:rPr lang="en-US" sz="2000" dirty="0">
                <a:solidFill>
                  <a:srgbClr val="3B4E4E"/>
                </a:solidFill>
                <a:latin typeface="Overpass Light" pitchFamily="34" charset="0"/>
                <a:ea typeface="Overpass Light" pitchFamily="34" charset="-122"/>
                <a:cs typeface="Overpass Light" pitchFamily="34" charset="-120"/>
              </a:rPr>
              <a:t>6: NẾU Khoảng cách là Vừa VÀ Độ hung dữ là Dữ THÌ Báo động là Đỏ.</a:t>
            </a:r>
            <a:endParaRPr lang="en-US" sz="2000" dirty="0"/>
          </a:p>
          <a:p>
            <a:pPr marL="342900" indent="-342900" algn="l">
              <a:lnSpc>
                <a:spcPct val="150000"/>
              </a:lnSpc>
              <a:buSzPct val="100000"/>
              <a:buFont typeface="+mj-lt"/>
              <a:buAutoNum type="arabicPeriod" startAt="7"/>
            </a:pPr>
            <a:r>
              <a:rPr lang="en-US" sz="2000" dirty="0">
                <a:solidFill>
                  <a:srgbClr val="3B4E4E"/>
                </a:solidFill>
                <a:latin typeface="Overpass Light" pitchFamily="34" charset="0"/>
                <a:ea typeface="Overpass Light" pitchFamily="34" charset="-122"/>
                <a:cs typeface="Overpass Light" pitchFamily="34" charset="-120"/>
              </a:rPr>
              <a:t>Luật 7: NẾU Khoảng cách là Xa VÀ Độ hung dữ là Hiền THÌ Báo động là An toàn.</a:t>
            </a:r>
            <a:endParaRPr lang="en-US" sz="2000" dirty="0"/>
          </a:p>
          <a:p>
            <a:pPr marL="342900" indent="-342900" algn="l">
              <a:lnSpc>
                <a:spcPct val="150000"/>
              </a:lnSpc>
              <a:buSzPct val="100000"/>
              <a:buFont typeface="+mj-lt"/>
              <a:buAutoNum type="arabicPeriod" startAt="8"/>
            </a:pPr>
            <a:r>
              <a:rPr lang="en-US" sz="2000" dirty="0">
                <a:solidFill>
                  <a:srgbClr val="3B4E4E"/>
                </a:solidFill>
                <a:latin typeface="Overpass Light" pitchFamily="34" charset="0"/>
                <a:ea typeface="Overpass Light" pitchFamily="34" charset="-122"/>
                <a:cs typeface="Overpass Light" pitchFamily="34" charset="-120"/>
              </a:rPr>
              <a:t>Luật 8: NẾU Khoảng cách là Xa VÀ Độ hung dữ là Vừa THÌ Báo động là An toàn.</a:t>
            </a:r>
            <a:endParaRPr lang="en-US" sz="2000" dirty="0"/>
          </a:p>
          <a:p>
            <a:pPr marL="342900" indent="-342900" algn="l">
              <a:lnSpc>
                <a:spcPct val="150000"/>
              </a:lnSpc>
              <a:buSzPct val="100000"/>
              <a:buFont typeface="+mj-lt"/>
              <a:buAutoNum type="arabicPeriod" startAt="9"/>
            </a:pPr>
            <a:r>
              <a:rPr lang="en-US" sz="2000" dirty="0">
                <a:solidFill>
                  <a:srgbClr val="3B4E4E"/>
                </a:solidFill>
                <a:latin typeface="Overpass Light" pitchFamily="34" charset="0"/>
                <a:ea typeface="Overpass Light" pitchFamily="34" charset="-122"/>
                <a:cs typeface="Overpass Light" pitchFamily="34" charset="-120"/>
              </a:rPr>
              <a:t>Luật 9: NẾU Khoảng cách là Xa VÀ Độ hung dữ là Dữ THÌ Báo động là Vàng.</a:t>
            </a:r>
            <a:endParaRPr lang="en-US" sz="2000" dirty="0"/>
          </a:p>
        </p:txBody>
      </p:sp>
      <p:sp>
        <p:nvSpPr>
          <p:cNvPr id="8" name="Text 6"/>
          <p:cNvSpPr/>
          <p:nvPr/>
        </p:nvSpPr>
        <p:spPr>
          <a:xfrm>
            <a:off x="1030010" y="5665589"/>
            <a:ext cx="1515189" cy="274677"/>
          </a:xfrm>
          <a:prstGeom prst="rect">
            <a:avLst/>
          </a:prstGeom>
          <a:noFill/>
          <a:ln/>
        </p:spPr>
        <p:txBody>
          <a:bodyPr wrap="none" lIns="0" tIns="0" rIns="0" bIns="0" rtlCol="0" anchor="t"/>
          <a:lstStyle/>
          <a:p>
            <a:pPr marL="0" indent="0" algn="l">
              <a:lnSpc>
                <a:spcPts val="2150"/>
              </a:lnSpc>
              <a:buNone/>
            </a:pPr>
            <a:endParaRPr lang="en-US" dirty="0"/>
          </a:p>
        </p:txBody>
      </p:sp>
      <p:sp>
        <p:nvSpPr>
          <p:cNvPr id="10" name="Text 8"/>
          <p:cNvSpPr/>
          <p:nvPr/>
        </p:nvSpPr>
        <p:spPr>
          <a:xfrm>
            <a:off x="4822865" y="5665589"/>
            <a:ext cx="1511379" cy="274677"/>
          </a:xfrm>
          <a:prstGeom prst="rect">
            <a:avLst/>
          </a:prstGeom>
          <a:noFill/>
          <a:ln/>
        </p:spPr>
        <p:txBody>
          <a:bodyPr wrap="none" lIns="0" tIns="0" rIns="0" bIns="0" rtlCol="0" anchor="t"/>
          <a:lstStyle/>
          <a:p>
            <a:pPr marL="0" indent="0" algn="l">
              <a:lnSpc>
                <a:spcPts val="2150"/>
              </a:lnSpc>
              <a:buNone/>
            </a:pPr>
            <a:endParaRPr lang="en-US" dirty="0"/>
          </a:p>
        </p:txBody>
      </p:sp>
      <p:sp>
        <p:nvSpPr>
          <p:cNvPr id="16" name="Text 14"/>
          <p:cNvSpPr/>
          <p:nvPr/>
        </p:nvSpPr>
        <p:spPr>
          <a:xfrm>
            <a:off x="6717387" y="6141958"/>
            <a:ext cx="1515189" cy="274677"/>
          </a:xfrm>
          <a:prstGeom prst="rect">
            <a:avLst/>
          </a:prstGeom>
          <a:noFill/>
          <a:ln/>
        </p:spPr>
        <p:txBody>
          <a:bodyPr wrap="none" lIns="0" tIns="0" rIns="0" bIns="0" rtlCol="0" anchor="t"/>
          <a:lstStyle/>
          <a:p>
            <a:pPr marL="0" indent="0" algn="l">
              <a:lnSpc>
                <a:spcPts val="2150"/>
              </a:lnSpc>
              <a:buNone/>
            </a:pPr>
            <a:endParaRPr lang="en-US" dirty="0"/>
          </a:p>
        </p:txBody>
      </p:sp>
      <p:pic>
        <p:nvPicPr>
          <p:cNvPr id="27" name="Image 0" descr="preencoded.png"/>
          <p:cNvPicPr>
            <a:picLocks noChangeAspect="1"/>
          </p:cNvPicPr>
          <p:nvPr/>
        </p:nvPicPr>
        <p:blipFill>
          <a:blip r:embed="rId3"/>
          <a:stretch>
            <a:fillRect/>
          </a:stretch>
        </p:blipFill>
        <p:spPr>
          <a:xfrm>
            <a:off x="8893731" y="1725573"/>
            <a:ext cx="4909423" cy="4909423"/>
          </a:xfrm>
          <a:prstGeom prst="rect">
            <a:avLst/>
          </a:prstGeom>
        </p:spPr>
      </p:pic>
      <p:sp>
        <p:nvSpPr>
          <p:cNvPr id="28" name="Text 25"/>
          <p:cNvSpPr/>
          <p:nvPr/>
        </p:nvSpPr>
        <p:spPr>
          <a:xfrm>
            <a:off x="9204722" y="6535222"/>
            <a:ext cx="4909423" cy="549354"/>
          </a:xfrm>
          <a:prstGeom prst="rect">
            <a:avLst/>
          </a:prstGeom>
          <a:noFill/>
          <a:ln/>
        </p:spPr>
        <p:txBody>
          <a:bodyPr wrap="square" lIns="0" tIns="0" rIns="0" bIns="0" rtlCol="0" anchor="t"/>
          <a:lstStyle/>
          <a:p>
            <a:pPr marL="0" indent="0" algn="l">
              <a:lnSpc>
                <a:spcPts val="2150"/>
              </a:lnSpc>
              <a:buNone/>
            </a:pPr>
            <a:r>
              <a:rPr lang="en-US" sz="2000" b="1" dirty="0">
                <a:solidFill>
                  <a:srgbClr val="3B4E4E"/>
                </a:solidFill>
                <a:latin typeface="Overpass Light" pitchFamily="34" charset="0"/>
                <a:ea typeface="Overpass Light" pitchFamily="34" charset="-122"/>
                <a:cs typeface="Overpass Light" pitchFamily="34" charset="-120"/>
              </a:rPr>
              <a:t>Ngôn ngữ lập trình:</a:t>
            </a:r>
            <a:r>
              <a:rPr lang="en-US" sz="2000" dirty="0">
                <a:solidFill>
                  <a:srgbClr val="3B4E4E"/>
                </a:solidFill>
                <a:latin typeface="Overpass Light" pitchFamily="34" charset="0"/>
                <a:ea typeface="Overpass Light" pitchFamily="34" charset="-122"/>
                <a:cs typeface="Overpass Light" pitchFamily="34" charset="-120"/>
              </a:rPr>
              <a:t> Thư viện skfuzzy trong Python để nạp tập luật vào ControlSystem</a:t>
            </a:r>
            <a:endParaRPr lang="en-US" sz="2000" dirty="0"/>
          </a:p>
        </p:txBody>
      </p:sp>
      <p:sp>
        <p:nvSpPr>
          <p:cNvPr id="6" name="Text 0">
            <a:extLst>
              <a:ext uri="{FF2B5EF4-FFF2-40B4-BE49-F238E27FC236}">
                <a16:creationId xmlns:a16="http://schemas.microsoft.com/office/drawing/2014/main" id="{E33AEB75-1661-1FA1-03F2-15483928F47A}"/>
              </a:ext>
            </a:extLst>
          </p:cNvPr>
          <p:cNvSpPr/>
          <p:nvPr/>
        </p:nvSpPr>
        <p:spPr>
          <a:xfrm>
            <a:off x="-3810" y="924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4.3: Fuzzy Logic mờ </a:t>
            </a:r>
            <a:endParaRPr lang="en-US" sz="3550" b="1" dirty="0"/>
          </a:p>
        </p:txBody>
      </p:sp>
    </p:spTree>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84344-2594-AE2C-E927-3AE17DE4AE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05CFFD-2033-8205-4760-270976CC5E50}"/>
              </a:ext>
            </a:extLst>
          </p:cNvPr>
          <p:cNvSpPr/>
          <p:nvPr/>
        </p:nvSpPr>
        <p:spPr>
          <a:xfrm>
            <a:off x="1" y="2449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5. Kết luận</a:t>
            </a:r>
            <a:endParaRPr lang="en-US" sz="3550" b="1" dirty="0"/>
          </a:p>
        </p:txBody>
      </p:sp>
      <p:sp>
        <p:nvSpPr>
          <p:cNvPr id="15" name="Shape 1">
            <a:extLst>
              <a:ext uri="{FF2B5EF4-FFF2-40B4-BE49-F238E27FC236}">
                <a16:creationId xmlns:a16="http://schemas.microsoft.com/office/drawing/2014/main" id="{21596A30-7694-8F10-0888-A08850196839}"/>
              </a:ext>
            </a:extLst>
          </p:cNvPr>
          <p:cNvSpPr/>
          <p:nvPr/>
        </p:nvSpPr>
        <p:spPr>
          <a:xfrm>
            <a:off x="7679742" y="1029082"/>
            <a:ext cx="6625273" cy="681951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9AA5AF38-7781-0C66-7190-36F5C9CE7AFE}"/>
              </a:ext>
            </a:extLst>
          </p:cNvPr>
          <p:cNvSpPr/>
          <p:nvPr/>
        </p:nvSpPr>
        <p:spPr>
          <a:xfrm>
            <a:off x="8015003" y="1170050"/>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điểm chưa làm được / cần cải thiện</a:t>
            </a:r>
            <a:endParaRPr lang="en-US" sz="2400" b="1" dirty="0"/>
          </a:p>
        </p:txBody>
      </p:sp>
      <p:sp>
        <p:nvSpPr>
          <p:cNvPr id="20" name="Text 3">
            <a:extLst>
              <a:ext uri="{FF2B5EF4-FFF2-40B4-BE49-F238E27FC236}">
                <a16:creationId xmlns:a16="http://schemas.microsoft.com/office/drawing/2014/main" id="{1562DCB1-A5F6-3B0F-247E-DC32D7DFDEC5}"/>
              </a:ext>
            </a:extLst>
          </p:cNvPr>
          <p:cNvSpPr/>
          <p:nvPr/>
        </p:nvSpPr>
        <p:spPr>
          <a:xfrm>
            <a:off x="8015002" y="1660885"/>
            <a:ext cx="6000080" cy="6323809"/>
          </a:xfrm>
          <a:prstGeom prst="rect">
            <a:avLst/>
          </a:prstGeom>
          <a:noFill/>
          <a:ln/>
        </p:spPr>
        <p:txBody>
          <a:bodyPr wrap="square" lIns="0" tIns="0" rIns="0" bIns="0" rtlCol="0" anchor="t"/>
          <a:lstStyle/>
          <a:p>
            <a:pPr marL="342900" indent="-342900">
              <a:lnSpc>
                <a:spcPct val="150000"/>
              </a:lnSpc>
              <a:buFont typeface="Arial" panose="020B0604020202020204" pitchFamily="34" charset="0"/>
              <a:buChar char="•"/>
            </a:pPr>
            <a:r>
              <a:rPr lang="en-US" sz="2000">
                <a:solidFill>
                  <a:srgbClr val="464646"/>
                </a:solidFill>
                <a:latin typeface="Arimo Medium" pitchFamily="34" charset="0"/>
                <a:ea typeface="Arimo Medium" pitchFamily="34" charset="-122"/>
                <a:cs typeface="Arimo Medium" pitchFamily="34" charset="-120"/>
              </a:rPr>
              <a:t>Nhúng model cnn FOMO vào chip phục vụ cho offline</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Đo khoảng cách đang phụ thuộc vào cảm biến</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Số lượng loài quá ít  (8 loài vật</a:t>
            </a:r>
            <a:r>
              <a:rPr lang="en-US" sz="2000">
                <a:solidFill>
                  <a:srgbClr val="464646"/>
                </a:solidFill>
                <a:latin typeface="Arimo Medium" pitchFamily="34" charset="0"/>
                <a:ea typeface="Arimo Medium" pitchFamily="34" charset="-122"/>
                <a:cs typeface="Arimo Medium" pitchFamily="34" charset="-120"/>
              </a:rPr>
              <a:t>)</a:t>
            </a:r>
          </a:p>
          <a:p>
            <a:pPr marL="0" indent="0">
              <a:lnSpc>
                <a:spcPct val="150000"/>
              </a:lnSpc>
              <a:buNone/>
            </a:pPr>
            <a:endParaRPr lang="vi-VN" sz="2000">
              <a:solidFill>
                <a:srgbClr val="464646"/>
              </a:solidFill>
              <a:latin typeface="Arimo Medium" pitchFamily="34" charset="0"/>
              <a:ea typeface="Arimo Medium" pitchFamily="34" charset="-122"/>
              <a:cs typeface="Arimo Medium" pitchFamily="34" charset="-120"/>
            </a:endParaRP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Phát triển mô hình nhận diện, cảnh báo động vật ở dạng offline</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Cải tiến cách tính khoảng cách ( phân tích ảnh hoặc đầu tư sensor xịn hơn)</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Biến khoảng cách nên có sự phụ thuộc vào khoảng cách an toàn của từng loài động vật trong dataset cũng như vận tốc.</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Triển khai PLatform hỗ trợ quản lý tốt hơn</a:t>
            </a:r>
          </a:p>
        </p:txBody>
      </p:sp>
      <p:sp>
        <p:nvSpPr>
          <p:cNvPr id="3" name="Shape 1">
            <a:extLst>
              <a:ext uri="{FF2B5EF4-FFF2-40B4-BE49-F238E27FC236}">
                <a16:creationId xmlns:a16="http://schemas.microsoft.com/office/drawing/2014/main" id="{A2D14FC6-3605-97C8-9560-26F759FCBF0C}"/>
              </a:ext>
            </a:extLst>
          </p:cNvPr>
          <p:cNvSpPr/>
          <p:nvPr/>
        </p:nvSpPr>
        <p:spPr>
          <a:xfrm>
            <a:off x="442620" y="1902099"/>
            <a:ext cx="6625273" cy="4589398"/>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96C8B709-46B5-FFF3-91A7-667918C77EA5}"/>
              </a:ext>
            </a:extLst>
          </p:cNvPr>
          <p:cNvSpPr/>
          <p:nvPr/>
        </p:nvSpPr>
        <p:spPr>
          <a:xfrm>
            <a:off x="777881" y="2065799"/>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Những điểm nhóm đã làm được</a:t>
            </a:r>
            <a:endParaRPr lang="vi-VN" sz="2400" b="1">
              <a:solidFill>
                <a:srgbClr val="464646"/>
              </a:solidFill>
              <a:latin typeface="Arimo Medium" pitchFamily="34" charset="0"/>
              <a:ea typeface="Arimo Medium" pitchFamily="34" charset="-122"/>
              <a:cs typeface="Arimo Medium" pitchFamily="34" charset="-120"/>
            </a:endParaRPr>
          </a:p>
        </p:txBody>
      </p:sp>
      <p:sp>
        <p:nvSpPr>
          <p:cNvPr id="6" name="Text 3">
            <a:extLst>
              <a:ext uri="{FF2B5EF4-FFF2-40B4-BE49-F238E27FC236}">
                <a16:creationId xmlns:a16="http://schemas.microsoft.com/office/drawing/2014/main" id="{D429DBD5-A94A-D67A-0ABC-0FA14B241E08}"/>
              </a:ext>
            </a:extLst>
          </p:cNvPr>
          <p:cNvSpPr/>
          <p:nvPr/>
        </p:nvSpPr>
        <p:spPr>
          <a:xfrm>
            <a:off x="615320" y="2533902"/>
            <a:ext cx="6000080" cy="4404635"/>
          </a:xfrm>
          <a:prstGeom prst="rect">
            <a:avLst/>
          </a:prstGeom>
          <a:noFill/>
          <a:ln/>
        </p:spPr>
        <p:txBody>
          <a:bodyPr wrap="square" lIns="0" tIns="0" rIns="0" bIns="0" rtlCol="0" anchor="t"/>
          <a:lstStyle/>
          <a:p>
            <a:pPr marL="342900" indent="-342900" algn="just">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Các thành viên đều hoàn thành đúng hạn các nhiệm vụ được giao</a:t>
            </a:r>
          </a:p>
          <a:p>
            <a:pPr marL="342900" indent="-342900" algn="just">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Triển khai thành công hệ thống cơ bản: iot, fuzzy logic, cnn trên luồng hoạt động có wifi : phát hiện động vật, tính độ nguy hiểm, gửi tín hiệu qua chip esp32 thông qua MQTT, bật tín hiệu cảnh báo còi, đèn.</a:t>
            </a:r>
          </a:p>
          <a:p>
            <a:pPr marL="342900" indent="-342900" algn="just">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Train model có tỉ lệ chính xác &gt; 75% ( 85,8 %)</a:t>
            </a:r>
          </a:p>
        </p:txBody>
      </p:sp>
    </p:spTree>
    <p:extLst>
      <p:ext uri="{BB962C8B-B14F-4D97-AF65-F5344CB8AC3E}">
        <p14:creationId xmlns:p14="http://schemas.microsoft.com/office/powerpoint/2010/main" val="18177225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2E9AEBC-49CE-8C4F-1D55-ABABEF68BF70}"/>
              </a:ext>
            </a:extLst>
          </p:cNvPr>
          <p:cNvSpPr/>
          <p:nvPr/>
        </p:nvSpPr>
        <p:spPr>
          <a:xfrm>
            <a:off x="-115747" y="524947"/>
            <a:ext cx="14630400" cy="1544542"/>
          </a:xfrm>
          <a:prstGeom prst="rect">
            <a:avLst/>
          </a:prstGeom>
          <a:noFill/>
          <a:ln/>
        </p:spPr>
        <p:txBody>
          <a:bodyPr wrap="none" lIns="0" tIns="0" rIns="0" bIns="0" rtlCol="0" anchor="t"/>
          <a:lstStyle/>
          <a:p>
            <a:pPr marL="0" indent="0" algn="ctr">
              <a:lnSpc>
                <a:spcPts val="5550"/>
              </a:lnSpc>
              <a:buNone/>
            </a:pPr>
            <a:r>
              <a:rPr lang="en-US" sz="4450" b="1">
                <a:solidFill>
                  <a:srgbClr val="030303"/>
                </a:solidFill>
                <a:latin typeface="Arimo Semi Bold" pitchFamily="34" charset="0"/>
                <a:ea typeface="Arimo Semi Bold" pitchFamily="34" charset="-122"/>
                <a:cs typeface="Arimo Semi Bold" pitchFamily="34" charset="-120"/>
              </a:rPr>
              <a:t>Cảm ơn Thầy và các bạn đã chú ý lắng nghe!</a:t>
            </a:r>
          </a:p>
          <a:p>
            <a:pPr marL="0" indent="0" algn="ctr">
              <a:lnSpc>
                <a:spcPts val="5550"/>
              </a:lnSpc>
              <a:buNone/>
            </a:pPr>
            <a:r>
              <a:rPr lang="en-US" sz="4450" b="1">
                <a:solidFill>
                  <a:srgbClr val="030303"/>
                </a:solidFill>
                <a:latin typeface="Arimo Semi Bold" pitchFamily="34" charset="0"/>
                <a:ea typeface="Arimo Semi Bold" pitchFamily="34" charset="-122"/>
                <a:cs typeface="Arimo Semi Bold" pitchFamily="34" charset="-120"/>
              </a:rPr>
              <a:t>Sau đây là nội dung thứ 6: DEMO</a:t>
            </a:r>
            <a:endParaRPr lang="en-US" sz="4450" b="1" dirty="0"/>
          </a:p>
        </p:txBody>
      </p:sp>
      <p:pic>
        <p:nvPicPr>
          <p:cNvPr id="3" name="Picture 2">
            <a:extLst>
              <a:ext uri="{FF2B5EF4-FFF2-40B4-BE49-F238E27FC236}">
                <a16:creationId xmlns:a16="http://schemas.microsoft.com/office/drawing/2014/main" id="{323A306E-ADBA-A1D1-2C96-986453496F90}"/>
              </a:ext>
            </a:extLst>
          </p:cNvPr>
          <p:cNvPicPr>
            <a:picLocks noChangeAspect="1"/>
          </p:cNvPicPr>
          <p:nvPr/>
        </p:nvPicPr>
        <p:blipFill>
          <a:blip r:embed="rId2"/>
          <a:stretch>
            <a:fillRect/>
          </a:stretch>
        </p:blipFill>
        <p:spPr>
          <a:xfrm>
            <a:off x="637610" y="2069489"/>
            <a:ext cx="13448964" cy="6160111"/>
          </a:xfrm>
          <a:prstGeom prst="rect">
            <a:avLst/>
          </a:prstGeom>
        </p:spPr>
      </p:pic>
    </p:spTree>
    <p:extLst>
      <p:ext uri="{BB962C8B-B14F-4D97-AF65-F5344CB8AC3E}">
        <p14:creationId xmlns:p14="http://schemas.microsoft.com/office/powerpoint/2010/main" val="12620915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486</TotalTime>
  <Words>4636</Words>
  <Application>Microsoft Office PowerPoint</Application>
  <PresentationFormat>Custom</PresentationFormat>
  <Paragraphs>574</Paragraphs>
  <Slides>41</Slides>
  <Notes>40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41</vt:i4>
      </vt:variant>
    </vt:vector>
  </HeadingPairs>
  <TitlesOfParts>
    <vt:vector size="50" baseType="lpstr">
      <vt:lpstr>Arial</vt:lpstr>
      <vt:lpstr>Arimo Semi Bold</vt:lpstr>
      <vt:lpstr>Aptos</vt:lpstr>
      <vt:lpstr>Arimo Medium</vt:lpstr>
      <vt:lpstr>Syne Bold</vt:lpstr>
      <vt:lpstr>Syne Light</vt:lpstr>
      <vt:lpstr>Aptos Narrow</vt:lpstr>
      <vt:lpstr>Overpass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Nguyễn Tuấn Anh</cp:lastModifiedBy>
  <cp:revision>26</cp:revision>
  <dcterms:created xsi:type="dcterms:W3CDTF">2026-04-16T12:58:21Z</dcterms:created>
  <dcterms:modified xsi:type="dcterms:W3CDTF">2026-04-23T11:35:39Z</dcterms:modified>
</cp:coreProperties>
</file>