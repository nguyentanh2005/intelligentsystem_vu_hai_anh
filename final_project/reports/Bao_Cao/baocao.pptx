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67" r:id="rId3"/>
    <p:sldId id="279" r:id="rId4"/>
    <p:sldId id="257" r:id="rId5"/>
    <p:sldId id="281" r:id="rId6"/>
    <p:sldId id="282" r:id="rId7"/>
    <p:sldId id="283" r:id="rId8"/>
    <p:sldId id="284" r:id="rId9"/>
    <p:sldId id="258" r:id="rId10"/>
    <p:sldId id="286" r:id="rId11"/>
    <p:sldId id="287" r:id="rId12"/>
    <p:sldId id="288" r:id="rId13"/>
    <p:sldId id="289" r:id="rId14"/>
    <p:sldId id="269" r:id="rId15"/>
    <p:sldId id="270" r:id="rId16"/>
    <p:sldId id="260" r:id="rId17"/>
    <p:sldId id="271" r:id="rId18"/>
    <p:sldId id="272" r:id="rId19"/>
    <p:sldId id="273" r:id="rId20"/>
    <p:sldId id="278" r:id="rId21"/>
    <p:sldId id="261" r:id="rId22"/>
    <p:sldId id="262" r:id="rId23"/>
    <p:sldId id="263" r:id="rId24"/>
    <p:sldId id="264" r:id="rId25"/>
    <p:sldId id="274" r:id="rId26"/>
    <p:sldId id="275" r:id="rId27"/>
    <p:sldId id="276" r:id="rId28"/>
    <p:sldId id="277" r:id="rId29"/>
  </p:sldIdLst>
  <p:sldSz cx="14630400" cy="8229600"/>
  <p:notesSz cx="8229600" cy="14630400"/>
  <p:embeddedFontLst>
    <p:embeddedFont>
      <p:font typeface="Aptos Narrow" panose="020B0004020202020204" pitchFamily="34" charset="0"/>
      <p:regular r:id="rId31"/>
      <p:bold r:id="rId32"/>
      <p:italic r:id="rId33"/>
      <p:boldItalic r:id="rId34"/>
    </p:embeddedFont>
    <p:embeddedFont>
      <p:font typeface="Arimo Medium" panose="020B0604020202020204" charset="0"/>
      <p:regular r:id="rId35"/>
    </p:embeddedFont>
    <p:embeddedFont>
      <p:font typeface="Arimo Semi Bold" panose="020B0604020202020204" charset="0"/>
      <p:regular r:id="rId36"/>
    </p:embeddedFont>
    <p:embeddedFont>
      <p:font typeface="Cambria Math" panose="02040503050406030204" pitchFamily="18" charset="0"/>
      <p:regular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50" d="100"/>
          <a:sy n="50" d="100"/>
        </p:scale>
        <p:origin x="1522" y="5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4310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02BC9-AABF-86B6-971A-DAEE37C12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0A176E-EA77-31DE-0802-30A9300F82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E3614A-1CF5-5B40-E04E-D7D7763240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FCE5E-F2BD-42DC-DAF4-0BC6F2AF12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557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B398C-D2BC-C383-BCD0-55AA3B5C1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EE9500-3C85-8868-2440-2C25E5CE56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0C25E5-DCF1-A4E4-2738-EC7972CDCB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94CF-CDCD-9A70-D146-1798D41871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364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FA5B6-63D2-E6DA-6373-E12A982DF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FF6079-6F22-3533-66DC-05E4EC376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7F3FCB-CBD4-5CE3-86ED-6C451A2211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BCFF2-DED6-4679-5567-EEB0DD5AB9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1624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B5D4D-EAB0-467A-2011-D9782F4E2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5F5B9F-150F-EFB7-DB41-AD7A83F109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310414-5B11-F110-0E5B-944817C507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F5DCE1-9E53-3533-D1A1-5BD2DA6353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5963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442F7-9E53-BD43-445F-F6AB4D5F6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0E417B-3DF2-0335-76FA-C67B6B357F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8A74BD-0B91-64D2-1C5E-0E1500A686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6ED06D-C9D3-28F1-FB35-41D6D2E395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6493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E0AEA-E417-86AA-E466-A7A8C471C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1206C3-9B5E-0CF6-77B8-3A5A3C18A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DA752A-B618-F7BE-0497-9888116209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D3BF2-CE37-DCFF-AFB8-BBC04F62D4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6934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C877A-0A96-7E5C-6E23-1748CE945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FACF8-CF90-7391-81D0-BDC99AD6E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4C194D-185D-A7D8-1E45-4EE861E259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36362A-8A9C-0F41-B931-32682BEA8D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4166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2CF05-2379-1006-D50A-43D5B7C85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E9E7D-133B-7C49-BCCD-CF7B1A66F7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07BD64-AADC-AB41-136E-CA4DF8D5E8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41F206-4633-3C06-9D3D-7F365E5010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1805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276AB-C479-00FB-E4F6-B115ABB3D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1ED641-C517-6271-4CEB-816F1197FE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D28F2C-C487-FF51-E9F3-CB073C2807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E5A619-19FB-742D-DE6D-11CFF49C7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7162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00041-A3AB-5150-3A6F-294533822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CE0C24-0812-2D97-71B3-51B4C12E85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CEFE3C-764D-0C3E-C4D7-603D55DED0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E0B70D-5619-9216-CCA6-6EEE89C03B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7337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4.png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3.gif"/><Relationship Id="rId4" Type="http://schemas.openxmlformats.org/officeDocument/2006/relationships/image" Target="../media/image22.gif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54720" y="1372675"/>
            <a:ext cx="7556421" cy="2126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Báo </a:t>
            </a:r>
            <a:r>
              <a:rPr lang="en-US" sz="44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cáo dự án: </a:t>
            </a:r>
          </a:p>
          <a:p>
            <a:pPr marL="0" indent="0" algn="r">
              <a:lnSpc>
                <a:spcPts val="5550"/>
              </a:lnSpc>
              <a:buNone/>
            </a:pPr>
            <a:r>
              <a:rPr lang="en-US" sz="445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Hệ thống nhận diện mức độ nguy hiểm của động vật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366233" y="4223841"/>
            <a:ext cx="7556421" cy="3448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Môn học</a:t>
            </a: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: Hệ thống thông minh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Sinh </a:t>
            </a:r>
            <a:r>
              <a:rPr lang="en-US" sz="24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viên</a:t>
            </a: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: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	Lý Lâm Vũ (23050102)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	Lê Tuấn Hải ( 23050115)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	Nguyễn </a:t>
            </a:r>
            <a:r>
              <a:rPr lang="en-US" sz="24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Tuấn Anh (</a:t>
            </a: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23050118)</a:t>
            </a:r>
          </a:p>
          <a:p>
            <a:pPr marL="0" indent="0" algn="l">
              <a:lnSpc>
                <a:spcPct val="150000"/>
              </a:lnSpc>
              <a:buNone/>
            </a:pPr>
            <a:endParaRPr lang="en-US" sz="2400">
              <a:solidFill>
                <a:srgbClr val="464646"/>
              </a:solidFill>
              <a:latin typeface="Arimo Medium" pitchFamily="34" charset="0"/>
              <a:ea typeface="Arimo Medium" pitchFamily="34" charset="-122"/>
              <a:cs typeface="Arimo Medium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GVHD: </a:t>
            </a:r>
            <a:r>
              <a:rPr lang="en-US" sz="24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ThS</a:t>
            </a: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. Lê Duy Hùng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145724-077A-D8C6-289C-845E801A0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629608" cy="11195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2AF5DA5-D666-8DB6-E747-06618D056F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1250" y="0"/>
            <a:ext cx="4629150" cy="822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32" y="419933"/>
            <a:ext cx="13638133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sz="320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Nội dung báo cáo: </a:t>
            </a:r>
            <a:endParaRPr lang="en-US" sz="3200" b="1" dirty="0"/>
          </a:p>
        </p:txBody>
      </p:sp>
      <p:sp>
        <p:nvSpPr>
          <p:cNvPr id="4" name="Shape 2"/>
          <p:cNvSpPr/>
          <p:nvPr/>
        </p:nvSpPr>
        <p:spPr>
          <a:xfrm>
            <a:off x="636809" y="2058503"/>
            <a:ext cx="13638133" cy="119469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52049" y="2086073"/>
            <a:ext cx="566976" cy="1151887"/>
          </a:xfrm>
          <a:prstGeom prst="roundRect">
            <a:avLst>
              <a:gd name="adj" fmla="val 727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9214" y="2618835"/>
            <a:ext cx="21264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</a:t>
            </a:r>
            <a:endParaRPr lang="en-US" sz="2400" b="1" dirty="0"/>
          </a:p>
        </p:txBody>
      </p:sp>
      <p:sp>
        <p:nvSpPr>
          <p:cNvPr id="7" name="Text 5"/>
          <p:cNvSpPr/>
          <p:nvPr/>
        </p:nvSpPr>
        <p:spPr>
          <a:xfrm>
            <a:off x="1307608" y="2420877"/>
            <a:ext cx="3062168" cy="184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28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Giới thiệu dự án</a:t>
            </a:r>
            <a:endParaRPr lang="en-US" sz="2800" b="1" dirty="0"/>
          </a:p>
        </p:txBody>
      </p:sp>
      <p:sp>
        <p:nvSpPr>
          <p:cNvPr id="8" name="Text 6"/>
          <p:cNvSpPr/>
          <p:nvPr/>
        </p:nvSpPr>
        <p:spPr>
          <a:xfrm>
            <a:off x="1307608" y="2938271"/>
            <a:ext cx="12810411" cy="184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4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Tổng </a:t>
            </a: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quan về dự án cũng như các thành viên.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36807" y="3822996"/>
            <a:ext cx="13638133" cy="119469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52047" y="3850566"/>
            <a:ext cx="566976" cy="1151887"/>
          </a:xfrm>
          <a:prstGeom prst="roundRect">
            <a:avLst>
              <a:gd name="adj" fmla="val 727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9212" y="4383328"/>
            <a:ext cx="21264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2</a:t>
            </a:r>
            <a:endParaRPr lang="en-US" sz="2400" b="1" dirty="0"/>
          </a:p>
        </p:txBody>
      </p:sp>
      <p:sp>
        <p:nvSpPr>
          <p:cNvPr id="12" name="Text 10"/>
          <p:cNvSpPr/>
          <p:nvPr/>
        </p:nvSpPr>
        <p:spPr>
          <a:xfrm>
            <a:off x="1307606" y="4229200"/>
            <a:ext cx="186023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28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Kiến trúc hệ thống, workflow</a:t>
            </a:r>
            <a:endParaRPr lang="en-US" sz="2800" b="1" dirty="0"/>
          </a:p>
        </p:txBody>
      </p:sp>
      <p:sp>
        <p:nvSpPr>
          <p:cNvPr id="13" name="Text 11"/>
          <p:cNvSpPr/>
          <p:nvPr/>
        </p:nvSpPr>
        <p:spPr>
          <a:xfrm>
            <a:off x="1307606" y="4702764"/>
            <a:ext cx="12810411" cy="184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Kế hoạch triển khai dự án, luồng hoạt động logic của dự án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36806" y="5521911"/>
            <a:ext cx="13638133" cy="119469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52046" y="5549481"/>
            <a:ext cx="566976" cy="1151887"/>
          </a:xfrm>
          <a:prstGeom prst="roundRect">
            <a:avLst>
              <a:gd name="adj" fmla="val 727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9211" y="6082243"/>
            <a:ext cx="21264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3</a:t>
            </a:r>
            <a:endParaRPr lang="en-US" sz="2400" b="1" dirty="0"/>
          </a:p>
        </p:txBody>
      </p:sp>
      <p:sp>
        <p:nvSpPr>
          <p:cNvPr id="17" name="Text 15"/>
          <p:cNvSpPr/>
          <p:nvPr/>
        </p:nvSpPr>
        <p:spPr>
          <a:xfrm>
            <a:off x="1307608" y="5948857"/>
            <a:ext cx="177200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28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Nguồn dữ liệu</a:t>
            </a:r>
            <a:endParaRPr lang="en-US" sz="2800" b="1" dirty="0"/>
          </a:p>
        </p:txBody>
      </p:sp>
      <p:sp>
        <p:nvSpPr>
          <p:cNvPr id="18" name="Text 16"/>
          <p:cNvSpPr/>
          <p:nvPr/>
        </p:nvSpPr>
        <p:spPr>
          <a:xfrm>
            <a:off x="1307605" y="6401679"/>
            <a:ext cx="12810411" cy="184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Quá trình nhóm tìm kiếm và thu thập dữ liệu.</a:t>
            </a:r>
            <a:endParaRPr lang="en-US" sz="2400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D5A444C-3104-40BF-D807-58F13E0015EC}"/>
              </a:ext>
            </a:extLst>
          </p:cNvPr>
          <p:cNvGrpSpPr/>
          <p:nvPr/>
        </p:nvGrpSpPr>
        <p:grpSpPr>
          <a:xfrm>
            <a:off x="-15128560" y="2177435"/>
            <a:ext cx="13638133" cy="1194698"/>
            <a:chOff x="526613" y="6164793"/>
            <a:chExt cx="13638133" cy="1194698"/>
          </a:xfrm>
        </p:grpSpPr>
        <p:sp>
          <p:nvSpPr>
            <p:cNvPr id="19" name="Shape 17"/>
            <p:cNvSpPr/>
            <p:nvPr/>
          </p:nvSpPr>
          <p:spPr>
            <a:xfrm>
              <a:off x="526613" y="6164793"/>
              <a:ext cx="13638133" cy="1194698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5240">
              <a:solidFill>
                <a:srgbClr val="D8D4D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541853" y="6192363"/>
              <a:ext cx="566976" cy="1151887"/>
            </a:xfrm>
            <a:prstGeom prst="roundRect">
              <a:avLst>
                <a:gd name="adj" fmla="val 7276"/>
              </a:avLst>
            </a:prstGeom>
            <a:solidFill>
              <a:srgbClr val="F2EEE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719018" y="6725125"/>
              <a:ext cx="212646" cy="26574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650"/>
                </a:lnSpc>
                <a:buNone/>
              </a:pPr>
              <a:r>
                <a:rPr lang="en-US" sz="2400" b="1" dirty="0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4</a:t>
              </a:r>
              <a:endParaRPr lang="en-US" sz="2400" b="1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1197412" y="6546637"/>
              <a:ext cx="1887022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700"/>
                </a:lnSpc>
                <a:buNone/>
              </a:pPr>
              <a:r>
                <a:rPr lang="en-US" sz="2800" b="1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Các thành phần quan trọng</a:t>
              </a:r>
              <a:endParaRPr lang="en-US" sz="2800" b="1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1197412" y="7044561"/>
              <a:ext cx="12810411" cy="1843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240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Phân tích sâu hơn về IOT, AI models, Fuzzy Logic</a:t>
              </a:r>
              <a:endParaRPr lang="en-US" sz="2400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17663BB8-E167-3156-2791-D3E57DC72AB7}"/>
              </a:ext>
            </a:extLst>
          </p:cNvPr>
          <p:cNvGrpSpPr/>
          <p:nvPr/>
        </p:nvGrpSpPr>
        <p:grpSpPr>
          <a:xfrm>
            <a:off x="-15128559" y="5305511"/>
            <a:ext cx="13638133" cy="1194697"/>
            <a:chOff x="-15128558" y="5225629"/>
            <a:chExt cx="13638133" cy="1194697"/>
          </a:xfrm>
        </p:grpSpPr>
        <p:sp>
          <p:nvSpPr>
            <p:cNvPr id="29" name="Shape 27"/>
            <p:cNvSpPr/>
            <p:nvPr/>
          </p:nvSpPr>
          <p:spPr>
            <a:xfrm>
              <a:off x="-15128558" y="5225629"/>
              <a:ext cx="13638133" cy="1194697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5240">
              <a:solidFill>
                <a:srgbClr val="D8D4D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Shape 28"/>
            <p:cNvSpPr/>
            <p:nvPr/>
          </p:nvSpPr>
          <p:spPr>
            <a:xfrm>
              <a:off x="-15113318" y="5253201"/>
              <a:ext cx="566976" cy="1151886"/>
            </a:xfrm>
            <a:prstGeom prst="roundRect">
              <a:avLst>
                <a:gd name="adj" fmla="val 7276"/>
              </a:avLst>
            </a:prstGeom>
            <a:solidFill>
              <a:srgbClr val="F2EEE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 29"/>
            <p:cNvSpPr/>
            <p:nvPr/>
          </p:nvSpPr>
          <p:spPr>
            <a:xfrm>
              <a:off x="-14936153" y="5781302"/>
              <a:ext cx="212646" cy="26574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650"/>
                </a:lnSpc>
                <a:buNone/>
              </a:pPr>
              <a:r>
                <a:rPr lang="en-US" sz="2400" b="1" dirty="0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6</a:t>
              </a:r>
              <a:endParaRPr lang="en-US" sz="2400" b="1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-14457759" y="5559846"/>
              <a:ext cx="1772007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700"/>
                </a:lnSpc>
                <a:buNone/>
              </a:pPr>
              <a:r>
                <a:rPr lang="en-US" sz="2800" b="1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Demo</a:t>
              </a:r>
              <a:endParaRPr lang="en-US" sz="2800" b="1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-14457759" y="6105397"/>
              <a:ext cx="12810411" cy="1843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2400" dirty="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Trình diễn hoạt động và đánh giá các tính năng của mô phỏng.</a:t>
              </a:r>
              <a:endParaRPr lang="en-US" sz="240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BE9EA2A-CB60-37C0-96AD-E209B5E5A475}"/>
              </a:ext>
            </a:extLst>
          </p:cNvPr>
          <p:cNvGrpSpPr/>
          <p:nvPr/>
        </p:nvGrpSpPr>
        <p:grpSpPr>
          <a:xfrm>
            <a:off x="-15113318" y="3860457"/>
            <a:ext cx="13638133" cy="1194697"/>
            <a:chOff x="-15113318" y="3860457"/>
            <a:chExt cx="13638133" cy="1194697"/>
          </a:xfrm>
        </p:grpSpPr>
        <p:sp>
          <p:nvSpPr>
            <p:cNvPr id="24" name="Shape 22"/>
            <p:cNvSpPr/>
            <p:nvPr/>
          </p:nvSpPr>
          <p:spPr>
            <a:xfrm>
              <a:off x="-15113318" y="3860457"/>
              <a:ext cx="13638133" cy="1194697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5240">
              <a:solidFill>
                <a:srgbClr val="D8D4D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 25"/>
            <p:cNvSpPr/>
            <p:nvPr/>
          </p:nvSpPr>
          <p:spPr>
            <a:xfrm>
              <a:off x="-14457760" y="4194674"/>
              <a:ext cx="1772007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700"/>
                </a:lnSpc>
                <a:buNone/>
              </a:pPr>
              <a:r>
                <a:rPr lang="en-US" sz="2800" b="1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Kết luận dự án</a:t>
              </a:r>
              <a:endParaRPr lang="en-US" sz="2800" b="1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-14442519" y="4740225"/>
              <a:ext cx="12810411" cy="1843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2400" dirty="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Biến đổi phân cấp, chiếu sáng Phong, kỹ </a:t>
              </a:r>
              <a:r>
                <a:rPr lang="en-US" sz="240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thuật camera.</a:t>
              </a:r>
              <a:endParaRPr lang="en-US" sz="24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-15098078" y="3889575"/>
              <a:ext cx="566976" cy="1151886"/>
            </a:xfrm>
            <a:prstGeom prst="roundRect">
              <a:avLst>
                <a:gd name="adj" fmla="val 7276"/>
              </a:avLst>
            </a:prstGeom>
            <a:solidFill>
              <a:srgbClr val="F2EEE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Text 24"/>
          <p:cNvSpPr/>
          <p:nvPr/>
        </p:nvSpPr>
        <p:spPr>
          <a:xfrm>
            <a:off x="-14920913" y="4391475"/>
            <a:ext cx="21264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5</a:t>
            </a:r>
            <a:endParaRPr lang="en-US" sz="2400" b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83D34-F208-369A-9B34-14A6F7102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2E8ED2E-C768-0B28-A245-B03E91AD2F77}"/>
              </a:ext>
            </a:extLst>
          </p:cNvPr>
          <p:cNvSpPr/>
          <p:nvPr/>
        </p:nvSpPr>
        <p:spPr>
          <a:xfrm>
            <a:off x="496132" y="419933"/>
            <a:ext cx="13638133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sz="320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Nội dung báo cáo: </a:t>
            </a:r>
            <a:endParaRPr lang="en-US" sz="3200" b="1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629D299-830C-236D-8A83-D82603C20F8E}"/>
              </a:ext>
            </a:extLst>
          </p:cNvPr>
          <p:cNvSpPr/>
          <p:nvPr/>
        </p:nvSpPr>
        <p:spPr>
          <a:xfrm>
            <a:off x="16212089" y="1997543"/>
            <a:ext cx="13638133" cy="119469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3032965-61C2-7FEF-2320-543B821B1784}"/>
              </a:ext>
            </a:extLst>
          </p:cNvPr>
          <p:cNvSpPr/>
          <p:nvPr/>
        </p:nvSpPr>
        <p:spPr>
          <a:xfrm>
            <a:off x="16227329" y="2025113"/>
            <a:ext cx="566976" cy="1151887"/>
          </a:xfrm>
          <a:prstGeom prst="roundRect">
            <a:avLst>
              <a:gd name="adj" fmla="val 727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909765E-9C1D-73C1-833C-917C5F33ADF6}"/>
              </a:ext>
            </a:extLst>
          </p:cNvPr>
          <p:cNvSpPr/>
          <p:nvPr/>
        </p:nvSpPr>
        <p:spPr>
          <a:xfrm>
            <a:off x="16404494" y="2557875"/>
            <a:ext cx="21264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</a:t>
            </a:r>
            <a:endParaRPr lang="en-US" sz="2400" b="1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2F7AFF3-4A82-B41E-7691-CCB9F021B514}"/>
              </a:ext>
            </a:extLst>
          </p:cNvPr>
          <p:cNvSpPr/>
          <p:nvPr/>
        </p:nvSpPr>
        <p:spPr>
          <a:xfrm>
            <a:off x="16882888" y="2359917"/>
            <a:ext cx="3062168" cy="184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28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Giới thiệu dự án</a:t>
            </a:r>
            <a:endParaRPr lang="en-US" sz="2800" b="1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24AEE0C-D6F8-3D7B-4E7C-2B890596DA86}"/>
              </a:ext>
            </a:extLst>
          </p:cNvPr>
          <p:cNvSpPr/>
          <p:nvPr/>
        </p:nvSpPr>
        <p:spPr>
          <a:xfrm>
            <a:off x="16882888" y="2877311"/>
            <a:ext cx="12810411" cy="184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4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Tổng </a:t>
            </a: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quan về dự án cũng như các thành viên.</a:t>
            </a:r>
            <a:endParaRPr lang="en-US" sz="24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8D5BF88-A391-5667-E8D8-B8B1D4ED2B07}"/>
              </a:ext>
            </a:extLst>
          </p:cNvPr>
          <p:cNvSpPr/>
          <p:nvPr/>
        </p:nvSpPr>
        <p:spPr>
          <a:xfrm>
            <a:off x="16212087" y="3762036"/>
            <a:ext cx="13638133" cy="119469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D7818785-6B30-058D-ABA8-E9A93A0BCDE8}"/>
              </a:ext>
            </a:extLst>
          </p:cNvPr>
          <p:cNvSpPr/>
          <p:nvPr/>
        </p:nvSpPr>
        <p:spPr>
          <a:xfrm>
            <a:off x="16227327" y="3789606"/>
            <a:ext cx="566976" cy="1151887"/>
          </a:xfrm>
          <a:prstGeom prst="roundRect">
            <a:avLst>
              <a:gd name="adj" fmla="val 727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AE80017-7F02-01CF-C526-F43F4DFBDB4B}"/>
              </a:ext>
            </a:extLst>
          </p:cNvPr>
          <p:cNvSpPr/>
          <p:nvPr/>
        </p:nvSpPr>
        <p:spPr>
          <a:xfrm>
            <a:off x="16404492" y="4322368"/>
            <a:ext cx="21264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2</a:t>
            </a:r>
            <a:endParaRPr lang="en-US" sz="2400" b="1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F50B9D9-DCDC-2619-0AB2-F4CD5092C387}"/>
              </a:ext>
            </a:extLst>
          </p:cNvPr>
          <p:cNvSpPr/>
          <p:nvPr/>
        </p:nvSpPr>
        <p:spPr>
          <a:xfrm>
            <a:off x="16882886" y="4168240"/>
            <a:ext cx="186023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28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Kiến trúc hệ thống, workflow</a:t>
            </a:r>
            <a:endParaRPr lang="en-US" sz="2800" b="1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AD1CCD1-283D-7CDF-5FC3-92845A62F513}"/>
              </a:ext>
            </a:extLst>
          </p:cNvPr>
          <p:cNvSpPr/>
          <p:nvPr/>
        </p:nvSpPr>
        <p:spPr>
          <a:xfrm>
            <a:off x="16882886" y="4641804"/>
            <a:ext cx="12810411" cy="184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Kế hoạch triển khai dự án, luồng hoạt động logic của dự án</a:t>
            </a:r>
            <a:endParaRPr lang="en-US" sz="24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2CB98C61-6D41-DA95-F5E0-6647972E1161}"/>
              </a:ext>
            </a:extLst>
          </p:cNvPr>
          <p:cNvSpPr/>
          <p:nvPr/>
        </p:nvSpPr>
        <p:spPr>
          <a:xfrm>
            <a:off x="16212086" y="5460951"/>
            <a:ext cx="13638133" cy="119469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6FFD6029-8A0D-C7FB-5314-D0CA85884ED1}"/>
              </a:ext>
            </a:extLst>
          </p:cNvPr>
          <p:cNvSpPr/>
          <p:nvPr/>
        </p:nvSpPr>
        <p:spPr>
          <a:xfrm>
            <a:off x="16227326" y="5488521"/>
            <a:ext cx="566976" cy="1151887"/>
          </a:xfrm>
          <a:prstGeom prst="roundRect">
            <a:avLst>
              <a:gd name="adj" fmla="val 727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1BCE897-8BB0-B7FD-6A9E-845BC9D39FE8}"/>
              </a:ext>
            </a:extLst>
          </p:cNvPr>
          <p:cNvSpPr/>
          <p:nvPr/>
        </p:nvSpPr>
        <p:spPr>
          <a:xfrm>
            <a:off x="16404491" y="6021283"/>
            <a:ext cx="21264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3</a:t>
            </a:r>
            <a:endParaRPr lang="en-US" sz="2400" b="1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096082C0-789D-493A-39DB-BA6BA753C02C}"/>
              </a:ext>
            </a:extLst>
          </p:cNvPr>
          <p:cNvSpPr/>
          <p:nvPr/>
        </p:nvSpPr>
        <p:spPr>
          <a:xfrm>
            <a:off x="16882888" y="5887897"/>
            <a:ext cx="177200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28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Nguồn dữ liệu</a:t>
            </a:r>
            <a:endParaRPr lang="en-US" sz="2800" b="1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22CAD50-7B26-F471-73A5-06A208A7D3A0}"/>
              </a:ext>
            </a:extLst>
          </p:cNvPr>
          <p:cNvSpPr/>
          <p:nvPr/>
        </p:nvSpPr>
        <p:spPr>
          <a:xfrm>
            <a:off x="16882885" y="6340719"/>
            <a:ext cx="12810411" cy="184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Quá trình nhóm tìm kiếm và thu thập dữ liệu.</a:t>
            </a:r>
            <a:endParaRPr lang="en-US" sz="2400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CE41841-9DFF-4481-8F11-D2F06B4700BB}"/>
              </a:ext>
            </a:extLst>
          </p:cNvPr>
          <p:cNvGrpSpPr/>
          <p:nvPr/>
        </p:nvGrpSpPr>
        <p:grpSpPr>
          <a:xfrm>
            <a:off x="461960" y="2220560"/>
            <a:ext cx="13638133" cy="1194698"/>
            <a:chOff x="526613" y="6164793"/>
            <a:chExt cx="13638133" cy="1194698"/>
          </a:xfrm>
        </p:grpSpPr>
        <p:sp>
          <p:nvSpPr>
            <p:cNvPr id="19" name="Shape 17">
              <a:extLst>
                <a:ext uri="{FF2B5EF4-FFF2-40B4-BE49-F238E27FC236}">
                  <a16:creationId xmlns:a16="http://schemas.microsoft.com/office/drawing/2014/main" id="{7A577C94-3F54-9D97-2030-9F52E14DEF00}"/>
                </a:ext>
              </a:extLst>
            </p:cNvPr>
            <p:cNvSpPr/>
            <p:nvPr/>
          </p:nvSpPr>
          <p:spPr>
            <a:xfrm>
              <a:off x="526613" y="6164793"/>
              <a:ext cx="13638133" cy="1194698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5240">
              <a:solidFill>
                <a:srgbClr val="D8D4D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>
              <a:extLst>
                <a:ext uri="{FF2B5EF4-FFF2-40B4-BE49-F238E27FC236}">
                  <a16:creationId xmlns:a16="http://schemas.microsoft.com/office/drawing/2014/main" id="{C8AD1E9E-5D44-AB3A-444C-D31841B3DE66}"/>
                </a:ext>
              </a:extLst>
            </p:cNvPr>
            <p:cNvSpPr/>
            <p:nvPr/>
          </p:nvSpPr>
          <p:spPr>
            <a:xfrm>
              <a:off x="541853" y="6192363"/>
              <a:ext cx="566976" cy="1151887"/>
            </a:xfrm>
            <a:prstGeom prst="roundRect">
              <a:avLst>
                <a:gd name="adj" fmla="val 7276"/>
              </a:avLst>
            </a:prstGeom>
            <a:solidFill>
              <a:srgbClr val="F2EEE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 19">
              <a:extLst>
                <a:ext uri="{FF2B5EF4-FFF2-40B4-BE49-F238E27FC236}">
                  <a16:creationId xmlns:a16="http://schemas.microsoft.com/office/drawing/2014/main" id="{3C7BDDB3-82FA-7E5B-DC23-AF11D5D5E30C}"/>
                </a:ext>
              </a:extLst>
            </p:cNvPr>
            <p:cNvSpPr/>
            <p:nvPr/>
          </p:nvSpPr>
          <p:spPr>
            <a:xfrm>
              <a:off x="719018" y="6725125"/>
              <a:ext cx="212646" cy="26574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650"/>
                </a:lnSpc>
                <a:buNone/>
              </a:pPr>
              <a:r>
                <a:rPr lang="en-US" sz="2400" b="1" dirty="0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4</a:t>
              </a:r>
              <a:endParaRPr lang="en-US" sz="2400" b="1" dirty="0"/>
            </a:p>
          </p:txBody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3E70DCB1-520F-BBC1-D5ED-A07100C3F537}"/>
                </a:ext>
              </a:extLst>
            </p:cNvPr>
            <p:cNvSpPr/>
            <p:nvPr/>
          </p:nvSpPr>
          <p:spPr>
            <a:xfrm>
              <a:off x="1197412" y="6546637"/>
              <a:ext cx="1887022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700"/>
                </a:lnSpc>
                <a:buNone/>
              </a:pPr>
              <a:r>
                <a:rPr lang="en-US" sz="2800" b="1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Các thành phần quan trọng</a:t>
              </a:r>
              <a:endParaRPr lang="en-US" sz="2800" b="1" dirty="0"/>
            </a:p>
          </p:txBody>
        </p:sp>
        <p:sp>
          <p:nvSpPr>
            <p:cNvPr id="23" name="Text 21">
              <a:extLst>
                <a:ext uri="{FF2B5EF4-FFF2-40B4-BE49-F238E27FC236}">
                  <a16:creationId xmlns:a16="http://schemas.microsoft.com/office/drawing/2014/main" id="{8B9D392E-14BC-1A6D-1503-80D9FF3D30D2}"/>
                </a:ext>
              </a:extLst>
            </p:cNvPr>
            <p:cNvSpPr/>
            <p:nvPr/>
          </p:nvSpPr>
          <p:spPr>
            <a:xfrm>
              <a:off x="1197412" y="7044561"/>
              <a:ext cx="12810411" cy="1843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240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Phân tích sâu hơn về IOT, AI models, Fuzzy Logic</a:t>
              </a:r>
              <a:endParaRPr lang="en-US" sz="2400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2010E90-3F83-6767-B477-FF23D7C8CEDE}"/>
              </a:ext>
            </a:extLst>
          </p:cNvPr>
          <p:cNvGrpSpPr/>
          <p:nvPr/>
        </p:nvGrpSpPr>
        <p:grpSpPr>
          <a:xfrm>
            <a:off x="446721" y="5244551"/>
            <a:ext cx="13638133" cy="1194697"/>
            <a:chOff x="-15128558" y="5225629"/>
            <a:chExt cx="13638133" cy="1194697"/>
          </a:xfrm>
        </p:grpSpPr>
        <p:sp>
          <p:nvSpPr>
            <p:cNvPr id="29" name="Shape 27">
              <a:extLst>
                <a:ext uri="{FF2B5EF4-FFF2-40B4-BE49-F238E27FC236}">
                  <a16:creationId xmlns:a16="http://schemas.microsoft.com/office/drawing/2014/main" id="{F7964B52-35AB-A292-A638-2CF79B9A2201}"/>
                </a:ext>
              </a:extLst>
            </p:cNvPr>
            <p:cNvSpPr/>
            <p:nvPr/>
          </p:nvSpPr>
          <p:spPr>
            <a:xfrm>
              <a:off x="-15128558" y="5225629"/>
              <a:ext cx="13638133" cy="1194697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5240">
              <a:solidFill>
                <a:srgbClr val="D8D4D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Shape 28">
              <a:extLst>
                <a:ext uri="{FF2B5EF4-FFF2-40B4-BE49-F238E27FC236}">
                  <a16:creationId xmlns:a16="http://schemas.microsoft.com/office/drawing/2014/main" id="{5A3645AA-E752-436F-8E6B-8500E1BE9FD3}"/>
                </a:ext>
              </a:extLst>
            </p:cNvPr>
            <p:cNvSpPr/>
            <p:nvPr/>
          </p:nvSpPr>
          <p:spPr>
            <a:xfrm>
              <a:off x="-15113318" y="5253201"/>
              <a:ext cx="566976" cy="1151886"/>
            </a:xfrm>
            <a:prstGeom prst="roundRect">
              <a:avLst>
                <a:gd name="adj" fmla="val 7276"/>
              </a:avLst>
            </a:prstGeom>
            <a:solidFill>
              <a:srgbClr val="F2EEE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03E92E09-912A-AE92-3BF1-C8A2748DAF0F}"/>
                </a:ext>
              </a:extLst>
            </p:cNvPr>
            <p:cNvSpPr/>
            <p:nvPr/>
          </p:nvSpPr>
          <p:spPr>
            <a:xfrm>
              <a:off x="-14936153" y="5781302"/>
              <a:ext cx="212646" cy="26574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650"/>
                </a:lnSpc>
                <a:buNone/>
              </a:pPr>
              <a:r>
                <a:rPr lang="en-US" sz="2400" b="1" dirty="0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6</a:t>
              </a:r>
              <a:endParaRPr lang="en-US" sz="2400" b="1" dirty="0"/>
            </a:p>
          </p:txBody>
        </p:sp>
        <p:sp>
          <p:nvSpPr>
            <p:cNvPr id="32" name="Text 30">
              <a:extLst>
                <a:ext uri="{FF2B5EF4-FFF2-40B4-BE49-F238E27FC236}">
                  <a16:creationId xmlns:a16="http://schemas.microsoft.com/office/drawing/2014/main" id="{931FD664-5A79-6DC2-1C0F-EEC7ED6B6820}"/>
                </a:ext>
              </a:extLst>
            </p:cNvPr>
            <p:cNvSpPr/>
            <p:nvPr/>
          </p:nvSpPr>
          <p:spPr>
            <a:xfrm>
              <a:off x="-14457759" y="5559846"/>
              <a:ext cx="1772007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700"/>
                </a:lnSpc>
                <a:buNone/>
              </a:pPr>
              <a:r>
                <a:rPr lang="en-US" sz="2800" b="1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Demo</a:t>
              </a:r>
              <a:endParaRPr lang="en-US" sz="2800" b="1" dirty="0"/>
            </a:p>
          </p:txBody>
        </p:sp>
        <p:sp>
          <p:nvSpPr>
            <p:cNvPr id="33" name="Text 31">
              <a:extLst>
                <a:ext uri="{FF2B5EF4-FFF2-40B4-BE49-F238E27FC236}">
                  <a16:creationId xmlns:a16="http://schemas.microsoft.com/office/drawing/2014/main" id="{F75EDDFD-C414-E24C-E16E-2AD0D724E9B2}"/>
                </a:ext>
              </a:extLst>
            </p:cNvPr>
            <p:cNvSpPr/>
            <p:nvPr/>
          </p:nvSpPr>
          <p:spPr>
            <a:xfrm>
              <a:off x="-14457759" y="6105397"/>
              <a:ext cx="12810411" cy="1843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240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Khởi chạy mô hình</a:t>
              </a:r>
              <a:endParaRPr lang="en-US" sz="240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051D194-0953-B813-D449-09070B012228}"/>
              </a:ext>
            </a:extLst>
          </p:cNvPr>
          <p:cNvGrpSpPr/>
          <p:nvPr/>
        </p:nvGrpSpPr>
        <p:grpSpPr>
          <a:xfrm>
            <a:off x="461962" y="3799497"/>
            <a:ext cx="13638133" cy="1194697"/>
            <a:chOff x="-15113318" y="3860457"/>
            <a:chExt cx="13638133" cy="1194697"/>
          </a:xfrm>
        </p:grpSpPr>
        <p:sp>
          <p:nvSpPr>
            <p:cNvPr id="24" name="Shape 22">
              <a:extLst>
                <a:ext uri="{FF2B5EF4-FFF2-40B4-BE49-F238E27FC236}">
                  <a16:creationId xmlns:a16="http://schemas.microsoft.com/office/drawing/2014/main" id="{4A863C2D-695B-998D-423A-276B6CAF9300}"/>
                </a:ext>
              </a:extLst>
            </p:cNvPr>
            <p:cNvSpPr/>
            <p:nvPr/>
          </p:nvSpPr>
          <p:spPr>
            <a:xfrm>
              <a:off x="-15113318" y="3860457"/>
              <a:ext cx="13638133" cy="1194697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5240">
              <a:solidFill>
                <a:srgbClr val="D8D4D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3A5C3B05-7672-F98B-0E11-DAB7F2FBC216}"/>
                </a:ext>
              </a:extLst>
            </p:cNvPr>
            <p:cNvSpPr/>
            <p:nvPr/>
          </p:nvSpPr>
          <p:spPr>
            <a:xfrm>
              <a:off x="-14457760" y="4194674"/>
              <a:ext cx="1772007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700"/>
                </a:lnSpc>
                <a:buNone/>
              </a:pPr>
              <a:r>
                <a:rPr lang="en-US" sz="2800" b="1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Kết luận dự án</a:t>
              </a:r>
              <a:endParaRPr lang="en-US" sz="2800" b="1" dirty="0"/>
            </a:p>
          </p:txBody>
        </p:sp>
        <p:sp>
          <p:nvSpPr>
            <p:cNvPr id="28" name="Text 26">
              <a:extLst>
                <a:ext uri="{FF2B5EF4-FFF2-40B4-BE49-F238E27FC236}">
                  <a16:creationId xmlns:a16="http://schemas.microsoft.com/office/drawing/2014/main" id="{52AAA06A-74CC-38B6-7825-22E378D4F30D}"/>
                </a:ext>
              </a:extLst>
            </p:cNvPr>
            <p:cNvSpPr/>
            <p:nvPr/>
          </p:nvSpPr>
          <p:spPr>
            <a:xfrm>
              <a:off x="-14442519" y="4740225"/>
              <a:ext cx="12810411" cy="1843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240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Nhóm đã làm được những gì, cần cải thiện những gì, hướng phát triển</a:t>
              </a:r>
              <a:endParaRPr lang="en-US" sz="2400" dirty="0"/>
            </a:p>
          </p:txBody>
        </p:sp>
        <p:sp>
          <p:nvSpPr>
            <p:cNvPr id="25" name="Shape 23">
              <a:extLst>
                <a:ext uri="{FF2B5EF4-FFF2-40B4-BE49-F238E27FC236}">
                  <a16:creationId xmlns:a16="http://schemas.microsoft.com/office/drawing/2014/main" id="{6D1F8244-FFE5-F355-938E-A5F59B3051EA}"/>
                </a:ext>
              </a:extLst>
            </p:cNvPr>
            <p:cNvSpPr/>
            <p:nvPr/>
          </p:nvSpPr>
          <p:spPr>
            <a:xfrm>
              <a:off x="-15098078" y="3889575"/>
              <a:ext cx="566976" cy="1151886"/>
            </a:xfrm>
            <a:prstGeom prst="roundRect">
              <a:avLst>
                <a:gd name="adj" fmla="val 7276"/>
              </a:avLst>
            </a:prstGeom>
            <a:solidFill>
              <a:srgbClr val="F2EEE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Text 24">
            <a:extLst>
              <a:ext uri="{FF2B5EF4-FFF2-40B4-BE49-F238E27FC236}">
                <a16:creationId xmlns:a16="http://schemas.microsoft.com/office/drawing/2014/main" id="{B482AFB9-5496-6AEB-BFF5-1A4F7DA938DC}"/>
              </a:ext>
            </a:extLst>
          </p:cNvPr>
          <p:cNvSpPr/>
          <p:nvPr/>
        </p:nvSpPr>
        <p:spPr>
          <a:xfrm>
            <a:off x="654367" y="4330515"/>
            <a:ext cx="21264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5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1073489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48829" y="137886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1: Giới thiệu dự án </a:t>
            </a:r>
            <a:endParaRPr lang="en-US" sz="3550" b="1" dirty="0"/>
          </a:p>
        </p:txBody>
      </p:sp>
      <p:sp>
        <p:nvSpPr>
          <p:cNvPr id="4" name="Shape 1"/>
          <p:cNvSpPr/>
          <p:nvPr/>
        </p:nvSpPr>
        <p:spPr>
          <a:xfrm>
            <a:off x="793790" y="3007638"/>
            <a:ext cx="13219390" cy="3896082"/>
          </a:xfrm>
          <a:prstGeom prst="roundRect">
            <a:avLst>
              <a:gd name="adj" fmla="val 3052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192054" y="320994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Các mục tiêu dự án</a:t>
            </a:r>
            <a:endParaRPr lang="en-US" sz="2400" b="1" dirty="0"/>
          </a:p>
        </p:txBody>
      </p:sp>
      <p:sp>
        <p:nvSpPr>
          <p:cNvPr id="6" name="Text 3"/>
          <p:cNvSpPr/>
          <p:nvPr/>
        </p:nvSpPr>
        <p:spPr>
          <a:xfrm>
            <a:off x="1020604" y="3724870"/>
            <a:ext cx="12603956" cy="301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sz="22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Xác định danh sách các loài động vật cần nhận diện, thu thập dữ liệu hình ảnh, dữ liệu các thông số cần thiết ( độ hung dữ,...). </a:t>
            </a:r>
          </a:p>
          <a:p>
            <a:pPr marL="342900" indent="-34290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sz="22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Xây dựng mô hình nhận diện CNN với độ chính xác &gt;= 75%.</a:t>
            </a:r>
          </a:p>
          <a:p>
            <a:pPr marL="342900" indent="-34290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sz="22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Xây dựng hệ thống Logic mờ với 2 input( độ hung dữ và khoảng cách)</a:t>
            </a:r>
          </a:p>
          <a:p>
            <a:pPr marL="342900" indent="-34290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sz="22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Xây dựng hệ thống IOT với chip điều khiển ESP32 -CAM và các sensor: hrs04 ( đo khoảng cách), còi, đèn, phục vụ cho hệ thống. </a:t>
            </a:r>
          </a:p>
          <a:p>
            <a:pPr marL="342900" indent="-34290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sz="22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Xây dựng hệ giao tiếp MQTT cho mã nguồn chính Python và mã nguồn Arduino của Iot. </a:t>
            </a:r>
          </a:p>
        </p:txBody>
      </p:sp>
      <p:sp>
        <p:nvSpPr>
          <p:cNvPr id="7" name="Shape 4"/>
          <p:cNvSpPr/>
          <p:nvPr/>
        </p:nvSpPr>
        <p:spPr>
          <a:xfrm>
            <a:off x="17585249" y="1100292"/>
            <a:ext cx="3664863" cy="3415464"/>
          </a:xfrm>
          <a:prstGeom prst="roundRect">
            <a:avLst>
              <a:gd name="adj" fmla="val 3052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7812063" y="132710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Mục tiêu kỹ thuật</a:t>
            </a:r>
            <a:endParaRPr lang="en-US" sz="2400" b="1" dirty="0"/>
          </a:p>
        </p:txBody>
      </p:sp>
      <p:sp>
        <p:nvSpPr>
          <p:cNvPr id="9" name="Text 6"/>
          <p:cNvSpPr/>
          <p:nvPr/>
        </p:nvSpPr>
        <p:spPr>
          <a:xfrm>
            <a:off x="17812063" y="1817524"/>
            <a:ext cx="3211235" cy="2177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Triển khai hierarchical transforms (push/pop matrix), Phong shading cho ánh sáng, và texture mapping để bề mặt các hành tinh trông chân thực hơn.</a:t>
            </a:r>
            <a:endParaRPr lang="en-US" sz="2000" dirty="0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7A319361-6032-924E-F6A7-6E82E11240ED}"/>
              </a:ext>
            </a:extLst>
          </p:cNvPr>
          <p:cNvSpPr/>
          <p:nvPr/>
        </p:nvSpPr>
        <p:spPr>
          <a:xfrm>
            <a:off x="793789" y="840950"/>
            <a:ext cx="13219391" cy="1530670"/>
          </a:xfrm>
          <a:prstGeom prst="roundRect">
            <a:avLst>
              <a:gd name="adj" fmla="val 1201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6312C376-0B40-7DBB-BB18-E143909AAF3C}"/>
              </a:ext>
            </a:extLst>
          </p:cNvPr>
          <p:cNvSpPr/>
          <p:nvPr/>
        </p:nvSpPr>
        <p:spPr>
          <a:xfrm>
            <a:off x="1020604" y="99963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Mục đích dự án</a:t>
            </a:r>
            <a:endParaRPr lang="en-US" sz="2400" b="1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78F9E65D-CBD9-C9C9-880F-76577740F998}"/>
              </a:ext>
            </a:extLst>
          </p:cNvPr>
          <p:cNvSpPr/>
          <p:nvPr/>
        </p:nvSpPr>
        <p:spPr>
          <a:xfrm>
            <a:off x="1280160" y="1486480"/>
            <a:ext cx="12814980" cy="513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Giúp con người (khách du lịch, người đi rừng,..) nhận biết nhanh chóng các loài động vật nguy hiểm để phòng tránh.</a:t>
            </a:r>
            <a:endParaRPr lang="en-US" sz="2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800B3-51FE-6A7F-1617-55F40E47D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E55B7AC1-CA2C-8DB0-C0BD-CBCC2C68B7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272" b="37271"/>
          <a:stretch>
            <a:fillRect/>
          </a:stretch>
        </p:blipFill>
        <p:spPr>
          <a:xfrm>
            <a:off x="3080000" y="1817524"/>
            <a:ext cx="8470399" cy="4791821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3315A814-28A2-A6C4-2FB5-30E129290E66}"/>
              </a:ext>
            </a:extLst>
          </p:cNvPr>
          <p:cNvSpPr/>
          <p:nvPr/>
        </p:nvSpPr>
        <p:spPr>
          <a:xfrm>
            <a:off x="148829" y="137885"/>
            <a:ext cx="14176771" cy="6662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50"/>
              </a:lnSpc>
              <a:buNone/>
            </a:pP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Các thành viên </a:t>
            </a:r>
            <a:endParaRPr lang="en-US" sz="3550" b="1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CEDD28D7-5216-A2A5-1CD0-DC9F3D1ED507}"/>
              </a:ext>
            </a:extLst>
          </p:cNvPr>
          <p:cNvSpPr/>
          <p:nvPr/>
        </p:nvSpPr>
        <p:spPr>
          <a:xfrm>
            <a:off x="17585249" y="1100292"/>
            <a:ext cx="3664863" cy="3415464"/>
          </a:xfrm>
          <a:prstGeom prst="roundRect">
            <a:avLst>
              <a:gd name="adj" fmla="val 3052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1BED9E4-F2D4-EDAE-8FE8-6A3711DA68CA}"/>
              </a:ext>
            </a:extLst>
          </p:cNvPr>
          <p:cNvSpPr/>
          <p:nvPr/>
        </p:nvSpPr>
        <p:spPr>
          <a:xfrm>
            <a:off x="17812063" y="132710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Mục tiêu kỹ thuật</a:t>
            </a:r>
            <a:endParaRPr lang="en-US" sz="2400" b="1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18CA9938-CA09-1409-AFEB-42BA32222656}"/>
              </a:ext>
            </a:extLst>
          </p:cNvPr>
          <p:cNvSpPr/>
          <p:nvPr/>
        </p:nvSpPr>
        <p:spPr>
          <a:xfrm>
            <a:off x="17812063" y="1817524"/>
            <a:ext cx="3211235" cy="2177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Triển khai hierarchical transforms (push/pop matrix), Phong shading cho ánh sáng, và texture mapping để bề mặt các hành tinh trông chân thực hơn.</a:t>
            </a:r>
            <a:endParaRPr lang="en-US" sz="2000" dirty="0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7CDE4E3-1DD4-FAEB-87B7-D822F280DB67}"/>
              </a:ext>
            </a:extLst>
          </p:cNvPr>
          <p:cNvSpPr/>
          <p:nvPr/>
        </p:nvSpPr>
        <p:spPr>
          <a:xfrm>
            <a:off x="-8769916" y="0"/>
            <a:ext cx="4912529" cy="3314077"/>
          </a:xfrm>
          <a:prstGeom prst="roundRect">
            <a:avLst>
              <a:gd name="adj" fmla="val 1201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DC323A60-457B-CFB8-4557-CECAE06E213B}"/>
              </a:ext>
            </a:extLst>
          </p:cNvPr>
          <p:cNvSpPr/>
          <p:nvPr/>
        </p:nvSpPr>
        <p:spPr>
          <a:xfrm>
            <a:off x="-8616584" y="140969"/>
            <a:ext cx="4585577" cy="327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4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Tuấn Hải</a:t>
            </a:r>
            <a:endParaRPr lang="en-US" sz="2400" b="1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0E45CF9C-83FF-5C35-0E2B-26EC3729224B}"/>
              </a:ext>
            </a:extLst>
          </p:cNvPr>
          <p:cNvSpPr/>
          <p:nvPr/>
        </p:nvSpPr>
        <p:spPr>
          <a:xfrm>
            <a:off x="-8393621" y="486157"/>
            <a:ext cx="4188994" cy="249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Chọn đề tài, phân công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Thiết lập môi trường MQTT &amp; phần cứng IoT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Xây dựng mô hình phần cứng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Viết phần lớn nội dung  báo cáo từng đợt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Thu thập dataset thông số.</a:t>
            </a:r>
          </a:p>
        </p:txBody>
      </p:sp>
      <p:sp>
        <p:nvSpPr>
          <p:cNvPr id="16" name="Shape 1">
            <a:extLst>
              <a:ext uri="{FF2B5EF4-FFF2-40B4-BE49-F238E27FC236}">
                <a16:creationId xmlns:a16="http://schemas.microsoft.com/office/drawing/2014/main" id="{C3E3610F-E0F0-843D-E320-A7840A6EA0D7}"/>
              </a:ext>
            </a:extLst>
          </p:cNvPr>
          <p:cNvSpPr/>
          <p:nvPr/>
        </p:nvSpPr>
        <p:spPr>
          <a:xfrm>
            <a:off x="12739804" y="-3879680"/>
            <a:ext cx="4912529" cy="3314077"/>
          </a:xfrm>
          <a:prstGeom prst="roundRect">
            <a:avLst>
              <a:gd name="adj" fmla="val 1201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D8654BC8-0950-0966-8285-E0A7E336F9F1}"/>
              </a:ext>
            </a:extLst>
          </p:cNvPr>
          <p:cNvSpPr/>
          <p:nvPr/>
        </p:nvSpPr>
        <p:spPr>
          <a:xfrm>
            <a:off x="12893136" y="-3738711"/>
            <a:ext cx="4585577" cy="327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4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Tuấn Anh</a:t>
            </a:r>
            <a:endParaRPr lang="en-US" sz="2400" b="1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2AEB5E26-3493-116D-AE2B-98F22C977025}"/>
              </a:ext>
            </a:extLst>
          </p:cNvPr>
          <p:cNvSpPr/>
          <p:nvPr/>
        </p:nvSpPr>
        <p:spPr>
          <a:xfrm>
            <a:off x="13116099" y="-3393523"/>
            <a:ext cx="4188994" cy="249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Thiết kế kế hoạch triển khai.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Thu thập, tiền xử lý, quản lý dataset ảnh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Xây dựng &amp; quản lý dataset thông số 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 Huấn luyện mô hình YoLov8.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Kết nối MQTT đến phần cứng IOT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Hỗ trợ viết báo cáo</a:t>
            </a:r>
          </a:p>
        </p:txBody>
      </p:sp>
      <p:sp>
        <p:nvSpPr>
          <p:cNvPr id="19" name="Shape 1">
            <a:extLst>
              <a:ext uri="{FF2B5EF4-FFF2-40B4-BE49-F238E27FC236}">
                <a16:creationId xmlns:a16="http://schemas.microsoft.com/office/drawing/2014/main" id="{C81BC4DD-328E-902E-3FD2-8F2016986384}"/>
              </a:ext>
            </a:extLst>
          </p:cNvPr>
          <p:cNvSpPr/>
          <p:nvPr/>
        </p:nvSpPr>
        <p:spPr>
          <a:xfrm>
            <a:off x="-10137225" y="4502713"/>
            <a:ext cx="4912529" cy="3314077"/>
          </a:xfrm>
          <a:prstGeom prst="roundRect">
            <a:avLst>
              <a:gd name="adj" fmla="val 1201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D27A6A3F-4E8F-C633-A31E-873B61DE01A7}"/>
              </a:ext>
            </a:extLst>
          </p:cNvPr>
          <p:cNvSpPr/>
          <p:nvPr/>
        </p:nvSpPr>
        <p:spPr>
          <a:xfrm>
            <a:off x="-9983893" y="4643682"/>
            <a:ext cx="4585577" cy="327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4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Lâm Vũ</a:t>
            </a:r>
            <a:endParaRPr lang="en-US" sz="2400" b="1" dirty="0"/>
          </a:p>
        </p:txBody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3DAE5697-2FA9-5E0D-B496-57C23436B654}"/>
              </a:ext>
            </a:extLst>
          </p:cNvPr>
          <p:cNvSpPr/>
          <p:nvPr/>
        </p:nvSpPr>
        <p:spPr>
          <a:xfrm>
            <a:off x="-9760930" y="4988870"/>
            <a:ext cx="4188994" cy="249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Thiết kế kế hoạch triển khai.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Xây dựng hệ thống Logic mờ. 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Hỗ trợ phần cứng IOT.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Kết nối MQTT đến phần cứng IOT.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Hỗ trợ  xử lý các lỗi liên quan đến lưu trữ, quản lý mã nguồn.</a:t>
            </a:r>
          </a:p>
        </p:txBody>
      </p:sp>
    </p:spTree>
    <p:extLst>
      <p:ext uri="{BB962C8B-B14F-4D97-AF65-F5344CB8AC3E}">
        <p14:creationId xmlns:p14="http://schemas.microsoft.com/office/powerpoint/2010/main" val="1972260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9A01E-1D18-C2E7-3959-75310010F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F187A81-1185-53DD-9A46-D9459A4295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272" b="37271"/>
          <a:stretch>
            <a:fillRect/>
          </a:stretch>
        </p:blipFill>
        <p:spPr>
          <a:xfrm>
            <a:off x="932681" y="920494"/>
            <a:ext cx="16539161" cy="9356431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150BB845-B3AC-9F6D-DC38-EAD1D6394E4D}"/>
              </a:ext>
            </a:extLst>
          </p:cNvPr>
          <p:cNvSpPr/>
          <p:nvPr/>
        </p:nvSpPr>
        <p:spPr>
          <a:xfrm>
            <a:off x="148829" y="137885"/>
            <a:ext cx="14176771" cy="6662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50"/>
              </a:lnSpc>
              <a:buNone/>
            </a:pP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Các thành viên </a:t>
            </a:r>
            <a:endParaRPr lang="en-US" sz="3550" b="1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C5C8235E-0810-292B-E4C2-1E5874F7204A}"/>
              </a:ext>
            </a:extLst>
          </p:cNvPr>
          <p:cNvSpPr/>
          <p:nvPr/>
        </p:nvSpPr>
        <p:spPr>
          <a:xfrm>
            <a:off x="17585249" y="1100292"/>
            <a:ext cx="3664863" cy="3415464"/>
          </a:xfrm>
          <a:prstGeom prst="roundRect">
            <a:avLst>
              <a:gd name="adj" fmla="val 3052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DBBF156-7DD4-19B8-0007-59BF9EE7840C}"/>
              </a:ext>
            </a:extLst>
          </p:cNvPr>
          <p:cNvSpPr/>
          <p:nvPr/>
        </p:nvSpPr>
        <p:spPr>
          <a:xfrm>
            <a:off x="17812063" y="132710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Mục tiêu kỹ thuật</a:t>
            </a:r>
            <a:endParaRPr lang="en-US" sz="2400" b="1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6F97E3D-9E32-9850-55CC-241CC56A6D35}"/>
              </a:ext>
            </a:extLst>
          </p:cNvPr>
          <p:cNvSpPr/>
          <p:nvPr/>
        </p:nvSpPr>
        <p:spPr>
          <a:xfrm>
            <a:off x="17812063" y="1817524"/>
            <a:ext cx="3211235" cy="2177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Triển khai hierarchical transforms (push/pop matrix), Phong shading cho ánh sáng, và texture mapping để bề mặt các hành tinh trông chân thực hơn.</a:t>
            </a:r>
            <a:endParaRPr lang="en-US" sz="2000" dirty="0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3237976B-EF00-3BD5-4C29-7450C6C82780}"/>
              </a:ext>
            </a:extLst>
          </p:cNvPr>
          <p:cNvSpPr/>
          <p:nvPr/>
        </p:nvSpPr>
        <p:spPr>
          <a:xfrm>
            <a:off x="7827275" y="3331831"/>
            <a:ext cx="4912529" cy="3314077"/>
          </a:xfrm>
          <a:prstGeom prst="roundRect">
            <a:avLst>
              <a:gd name="adj" fmla="val 1201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C35EF223-C1E7-3019-EC42-CAF202C37B75}"/>
              </a:ext>
            </a:extLst>
          </p:cNvPr>
          <p:cNvSpPr/>
          <p:nvPr/>
        </p:nvSpPr>
        <p:spPr>
          <a:xfrm>
            <a:off x="7980607" y="3472800"/>
            <a:ext cx="4585577" cy="327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4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Tuấn Hải</a:t>
            </a:r>
            <a:endParaRPr lang="en-US" sz="2400" b="1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4CE58EB8-F13E-A737-C94A-9B89F6AAA3DF}"/>
              </a:ext>
            </a:extLst>
          </p:cNvPr>
          <p:cNvSpPr/>
          <p:nvPr/>
        </p:nvSpPr>
        <p:spPr>
          <a:xfrm>
            <a:off x="8203570" y="3915435"/>
            <a:ext cx="4188994" cy="249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Chọn đề tài, phân công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Thiết lập môi trường MQTT &amp; phần cứng IoT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Xây dựng mô hình phần cứng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Viết phần lớn nội dung  báo cáo từng đợt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Thu thập dataset thông số.</a:t>
            </a:r>
          </a:p>
        </p:txBody>
      </p:sp>
      <p:sp>
        <p:nvSpPr>
          <p:cNvPr id="16" name="Shape 1">
            <a:extLst>
              <a:ext uri="{FF2B5EF4-FFF2-40B4-BE49-F238E27FC236}">
                <a16:creationId xmlns:a16="http://schemas.microsoft.com/office/drawing/2014/main" id="{9C8793BC-7707-81B4-73D6-D8451DE3BBA0}"/>
              </a:ext>
            </a:extLst>
          </p:cNvPr>
          <p:cNvSpPr/>
          <p:nvPr/>
        </p:nvSpPr>
        <p:spPr>
          <a:xfrm>
            <a:off x="12739804" y="-3879680"/>
            <a:ext cx="4912529" cy="3314077"/>
          </a:xfrm>
          <a:prstGeom prst="roundRect">
            <a:avLst>
              <a:gd name="adj" fmla="val 1201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575ED751-7DDE-12AD-B9FC-E8DADA549B2D}"/>
              </a:ext>
            </a:extLst>
          </p:cNvPr>
          <p:cNvSpPr/>
          <p:nvPr/>
        </p:nvSpPr>
        <p:spPr>
          <a:xfrm>
            <a:off x="12893136" y="-3738711"/>
            <a:ext cx="4585577" cy="327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4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Tuấn Anh</a:t>
            </a:r>
            <a:endParaRPr lang="en-US" sz="2400" b="1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F8CA418D-3711-F135-481C-49AB7D437C8E}"/>
              </a:ext>
            </a:extLst>
          </p:cNvPr>
          <p:cNvSpPr/>
          <p:nvPr/>
        </p:nvSpPr>
        <p:spPr>
          <a:xfrm>
            <a:off x="13116099" y="-3393523"/>
            <a:ext cx="4188994" cy="249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Thiết kế kế hoạch triển khai.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Thu thập, tiền xử lý, quản lý dataset ảnh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Xây dựng &amp; quản lý dataset thông số 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 Huấn luyện mô hình YoLov8.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Kết nối MQTT đến phần cứng IOT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Hỗ trợ viết báo cáo</a:t>
            </a:r>
          </a:p>
        </p:txBody>
      </p:sp>
      <p:sp>
        <p:nvSpPr>
          <p:cNvPr id="19" name="Shape 1">
            <a:extLst>
              <a:ext uri="{FF2B5EF4-FFF2-40B4-BE49-F238E27FC236}">
                <a16:creationId xmlns:a16="http://schemas.microsoft.com/office/drawing/2014/main" id="{5EF3EA78-2C8D-07F7-1F99-7CB3A170684D}"/>
              </a:ext>
            </a:extLst>
          </p:cNvPr>
          <p:cNvSpPr/>
          <p:nvPr/>
        </p:nvSpPr>
        <p:spPr>
          <a:xfrm>
            <a:off x="-10137225" y="4502713"/>
            <a:ext cx="4912529" cy="3314077"/>
          </a:xfrm>
          <a:prstGeom prst="roundRect">
            <a:avLst>
              <a:gd name="adj" fmla="val 1201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62010C70-086E-1135-7666-C53FCC26A30D}"/>
              </a:ext>
            </a:extLst>
          </p:cNvPr>
          <p:cNvSpPr/>
          <p:nvPr/>
        </p:nvSpPr>
        <p:spPr>
          <a:xfrm>
            <a:off x="-9983893" y="4643682"/>
            <a:ext cx="4585577" cy="327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4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Lâm Vũ</a:t>
            </a:r>
            <a:endParaRPr lang="en-US" sz="2400" b="1" dirty="0"/>
          </a:p>
        </p:txBody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EE73378F-3C6A-F15D-46AA-FC191BD182AB}"/>
              </a:ext>
            </a:extLst>
          </p:cNvPr>
          <p:cNvSpPr/>
          <p:nvPr/>
        </p:nvSpPr>
        <p:spPr>
          <a:xfrm>
            <a:off x="-9760930" y="4988870"/>
            <a:ext cx="4188994" cy="249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Thiết kế kế hoạch triển khai.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Xây dựng hệ thống Logic mờ. 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Hỗ trợ phần cứng IOT.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Kết nối MQTT đến phần cứng IOT.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Hỗ trợ  xử lý các lỗi liên quan đến lưu trữ, quản lý mã nguồn.</a:t>
            </a:r>
          </a:p>
        </p:txBody>
      </p:sp>
    </p:spTree>
    <p:extLst>
      <p:ext uri="{BB962C8B-B14F-4D97-AF65-F5344CB8AC3E}">
        <p14:creationId xmlns:p14="http://schemas.microsoft.com/office/powerpoint/2010/main" val="34438345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99A44-721E-4EF2-822E-870A04E39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BF4A2A7A-6285-37E7-6AAA-93DB5C667C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272" b="37271"/>
          <a:stretch>
            <a:fillRect/>
          </a:stretch>
        </p:blipFill>
        <p:spPr>
          <a:xfrm>
            <a:off x="-11045959" y="-1126831"/>
            <a:ext cx="16539161" cy="9356431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0E271BBE-663F-C447-7D55-CAFD3A8BF76D}"/>
              </a:ext>
            </a:extLst>
          </p:cNvPr>
          <p:cNvSpPr/>
          <p:nvPr/>
        </p:nvSpPr>
        <p:spPr>
          <a:xfrm>
            <a:off x="148829" y="137885"/>
            <a:ext cx="14176771" cy="6662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50"/>
              </a:lnSpc>
              <a:buNone/>
            </a:pP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Các thành viên </a:t>
            </a:r>
            <a:endParaRPr lang="en-US" sz="3550" b="1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1A0C4F2-69E8-8921-664F-1D3BCAEA34C3}"/>
              </a:ext>
            </a:extLst>
          </p:cNvPr>
          <p:cNvSpPr/>
          <p:nvPr/>
        </p:nvSpPr>
        <p:spPr>
          <a:xfrm>
            <a:off x="17585249" y="1100292"/>
            <a:ext cx="3664863" cy="3415464"/>
          </a:xfrm>
          <a:prstGeom prst="roundRect">
            <a:avLst>
              <a:gd name="adj" fmla="val 3052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EF94415D-7D73-F026-A17D-D2C8FE4B4002}"/>
              </a:ext>
            </a:extLst>
          </p:cNvPr>
          <p:cNvSpPr/>
          <p:nvPr/>
        </p:nvSpPr>
        <p:spPr>
          <a:xfrm>
            <a:off x="17812063" y="132710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Mục tiêu kỹ thuật</a:t>
            </a:r>
            <a:endParaRPr lang="en-US" sz="2400" b="1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6C768F8-48F8-249F-2AE7-08A50A834E64}"/>
              </a:ext>
            </a:extLst>
          </p:cNvPr>
          <p:cNvSpPr/>
          <p:nvPr/>
        </p:nvSpPr>
        <p:spPr>
          <a:xfrm>
            <a:off x="17812063" y="1817524"/>
            <a:ext cx="3211235" cy="2177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Triển khai hierarchical transforms (push/pop matrix), Phong shading cho ánh sáng, và texture mapping để bề mặt các hành tinh trông chân thực hơn.</a:t>
            </a:r>
            <a:endParaRPr lang="en-US" sz="2000" dirty="0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C39BA21C-EBA3-2BBA-41EB-C9C255A0E96B}"/>
              </a:ext>
            </a:extLst>
          </p:cNvPr>
          <p:cNvSpPr/>
          <p:nvPr/>
        </p:nvSpPr>
        <p:spPr>
          <a:xfrm>
            <a:off x="-8266165" y="-3879680"/>
            <a:ext cx="4912529" cy="3314077"/>
          </a:xfrm>
          <a:prstGeom prst="roundRect">
            <a:avLst>
              <a:gd name="adj" fmla="val 1201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D457CD13-FA1E-4A52-726C-2EB125B24BC6}"/>
              </a:ext>
            </a:extLst>
          </p:cNvPr>
          <p:cNvSpPr/>
          <p:nvPr/>
        </p:nvSpPr>
        <p:spPr>
          <a:xfrm>
            <a:off x="-8112833" y="-3738711"/>
            <a:ext cx="4585577" cy="327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4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Tuấn Hải</a:t>
            </a:r>
            <a:endParaRPr lang="en-US" sz="2400" b="1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4E6AF9D1-B8D9-AC4D-5684-67100C98E4A1}"/>
              </a:ext>
            </a:extLst>
          </p:cNvPr>
          <p:cNvSpPr/>
          <p:nvPr/>
        </p:nvSpPr>
        <p:spPr>
          <a:xfrm>
            <a:off x="-7889870" y="-3296076"/>
            <a:ext cx="4188994" cy="249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Chọn đề tài, phân công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Thiết lập môi trường MQTT &amp; phần cứng IoT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Xây dựng mô hình phần cứng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Viết phần lớn nội dung  báo cáo từng đợt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Thu thập dataset thông số.</a:t>
            </a:r>
          </a:p>
        </p:txBody>
      </p:sp>
      <p:sp>
        <p:nvSpPr>
          <p:cNvPr id="16" name="Shape 1">
            <a:extLst>
              <a:ext uri="{FF2B5EF4-FFF2-40B4-BE49-F238E27FC236}">
                <a16:creationId xmlns:a16="http://schemas.microsoft.com/office/drawing/2014/main" id="{71F26C35-2C69-9205-6C90-A3C155B51CB6}"/>
              </a:ext>
            </a:extLst>
          </p:cNvPr>
          <p:cNvSpPr/>
          <p:nvPr/>
        </p:nvSpPr>
        <p:spPr>
          <a:xfrm>
            <a:off x="7315200" y="2845674"/>
            <a:ext cx="4912529" cy="3314077"/>
          </a:xfrm>
          <a:prstGeom prst="roundRect">
            <a:avLst>
              <a:gd name="adj" fmla="val 1201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EEEBE5D1-4563-DB03-2B5E-77295896C851}"/>
              </a:ext>
            </a:extLst>
          </p:cNvPr>
          <p:cNvSpPr/>
          <p:nvPr/>
        </p:nvSpPr>
        <p:spPr>
          <a:xfrm>
            <a:off x="7468532" y="2986643"/>
            <a:ext cx="4585577" cy="327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4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Tuấn Anh</a:t>
            </a:r>
            <a:endParaRPr lang="en-US" sz="2400" b="1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A82F1EE9-E16F-CF65-19D3-B0F2484BDC02}"/>
              </a:ext>
            </a:extLst>
          </p:cNvPr>
          <p:cNvSpPr/>
          <p:nvPr/>
        </p:nvSpPr>
        <p:spPr>
          <a:xfrm>
            <a:off x="7691495" y="3331831"/>
            <a:ext cx="4188994" cy="249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Thiết kế kế hoạch triển khai.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Thu thập, tiền xử lý, quản lý dataset ảnh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Xây dựng &amp; quản lý dataset thông số 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 Huấn luyện mô hình YoLov8.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Kết nối MQTT đến phần cứng IOT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Hỗ trợ viết báo cáo</a:t>
            </a:r>
          </a:p>
        </p:txBody>
      </p:sp>
      <p:sp>
        <p:nvSpPr>
          <p:cNvPr id="19" name="Shape 1">
            <a:extLst>
              <a:ext uri="{FF2B5EF4-FFF2-40B4-BE49-F238E27FC236}">
                <a16:creationId xmlns:a16="http://schemas.microsoft.com/office/drawing/2014/main" id="{E5CD9D70-C82C-EA72-C667-07C7E0C6D82E}"/>
              </a:ext>
            </a:extLst>
          </p:cNvPr>
          <p:cNvSpPr/>
          <p:nvPr/>
        </p:nvSpPr>
        <p:spPr>
          <a:xfrm>
            <a:off x="-10137225" y="4502713"/>
            <a:ext cx="4912529" cy="3314077"/>
          </a:xfrm>
          <a:prstGeom prst="roundRect">
            <a:avLst>
              <a:gd name="adj" fmla="val 1201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B7D9C174-8488-F81B-C75F-B01779603B60}"/>
              </a:ext>
            </a:extLst>
          </p:cNvPr>
          <p:cNvSpPr/>
          <p:nvPr/>
        </p:nvSpPr>
        <p:spPr>
          <a:xfrm>
            <a:off x="-9983893" y="4643682"/>
            <a:ext cx="4585577" cy="327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4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Lâm Vũ</a:t>
            </a:r>
            <a:endParaRPr lang="en-US" sz="2400" b="1" dirty="0"/>
          </a:p>
        </p:txBody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3E4DB5F7-3A0D-2D4D-F4B7-9D28EE5CFABF}"/>
              </a:ext>
            </a:extLst>
          </p:cNvPr>
          <p:cNvSpPr/>
          <p:nvPr/>
        </p:nvSpPr>
        <p:spPr>
          <a:xfrm>
            <a:off x="-9760930" y="4988870"/>
            <a:ext cx="4188994" cy="249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Thiết kế kế hoạch triển khai.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Xây dựng hệ thống Logic mờ. 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Hỗ trợ phần cứng IOT.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Kết nối MQTT đến phần cứng IOT.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Hỗ trợ  xử lý các lỗi liên quan đến lưu trữ, quản lý mã nguồn.</a:t>
            </a:r>
          </a:p>
        </p:txBody>
      </p:sp>
    </p:spTree>
    <p:extLst>
      <p:ext uri="{BB962C8B-B14F-4D97-AF65-F5344CB8AC3E}">
        <p14:creationId xmlns:p14="http://schemas.microsoft.com/office/powerpoint/2010/main" val="40721787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61DD6-332E-AC5F-962A-D5D743646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7BC0DAB-D217-A3E2-BD16-C627DD39B6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272" b="37271"/>
          <a:stretch>
            <a:fillRect/>
          </a:stretch>
        </p:blipFill>
        <p:spPr>
          <a:xfrm>
            <a:off x="-5715231" y="804116"/>
            <a:ext cx="20345632" cy="1150980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8C6D44D3-00DB-A5C8-45CD-BDF1F8B542FB}"/>
              </a:ext>
            </a:extLst>
          </p:cNvPr>
          <p:cNvSpPr/>
          <p:nvPr/>
        </p:nvSpPr>
        <p:spPr>
          <a:xfrm>
            <a:off x="148829" y="137885"/>
            <a:ext cx="14176771" cy="6662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50"/>
              </a:lnSpc>
              <a:buNone/>
            </a:pP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Các thành viên </a:t>
            </a:r>
            <a:endParaRPr lang="en-US" sz="3550" b="1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EE38BEAD-7DC0-CBF8-F041-DC25EF2B9429}"/>
              </a:ext>
            </a:extLst>
          </p:cNvPr>
          <p:cNvSpPr/>
          <p:nvPr/>
        </p:nvSpPr>
        <p:spPr>
          <a:xfrm>
            <a:off x="17585249" y="1100292"/>
            <a:ext cx="3664863" cy="3415464"/>
          </a:xfrm>
          <a:prstGeom prst="roundRect">
            <a:avLst>
              <a:gd name="adj" fmla="val 3052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396EB34-115A-C7C9-002A-587860AE8FC6}"/>
              </a:ext>
            </a:extLst>
          </p:cNvPr>
          <p:cNvSpPr/>
          <p:nvPr/>
        </p:nvSpPr>
        <p:spPr>
          <a:xfrm>
            <a:off x="17812063" y="132710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Mục tiêu kỹ thuật</a:t>
            </a:r>
            <a:endParaRPr lang="en-US" sz="2400" b="1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28D35501-DBA7-50FA-6E0A-557F2D5037D3}"/>
              </a:ext>
            </a:extLst>
          </p:cNvPr>
          <p:cNvSpPr/>
          <p:nvPr/>
        </p:nvSpPr>
        <p:spPr>
          <a:xfrm>
            <a:off x="17812063" y="1817524"/>
            <a:ext cx="3211235" cy="2177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Triển khai hierarchical transforms (push/pop matrix), Phong shading cho ánh sáng, và texture mapping để bề mặt các hành tinh trông chân thực hơn.</a:t>
            </a:r>
            <a:endParaRPr lang="en-US" sz="2000" dirty="0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3DB927CB-F0F8-ECFD-98E3-9BA01CCDF617}"/>
              </a:ext>
            </a:extLst>
          </p:cNvPr>
          <p:cNvSpPr/>
          <p:nvPr/>
        </p:nvSpPr>
        <p:spPr>
          <a:xfrm>
            <a:off x="-8266165" y="-3879680"/>
            <a:ext cx="4912529" cy="3314077"/>
          </a:xfrm>
          <a:prstGeom prst="roundRect">
            <a:avLst>
              <a:gd name="adj" fmla="val 1201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FDF7BA2C-A671-856A-581C-41582B60BC65}"/>
              </a:ext>
            </a:extLst>
          </p:cNvPr>
          <p:cNvSpPr/>
          <p:nvPr/>
        </p:nvSpPr>
        <p:spPr>
          <a:xfrm>
            <a:off x="-8112833" y="-3738711"/>
            <a:ext cx="4585577" cy="327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4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Tuấn Hải</a:t>
            </a:r>
            <a:endParaRPr lang="en-US" sz="2400" b="1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3EEC7996-DE40-F567-3F29-295756C11D87}"/>
              </a:ext>
            </a:extLst>
          </p:cNvPr>
          <p:cNvSpPr/>
          <p:nvPr/>
        </p:nvSpPr>
        <p:spPr>
          <a:xfrm>
            <a:off x="-7889870" y="-3296076"/>
            <a:ext cx="4188994" cy="249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Chọn đề tài, phân công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Thiết lập môi trường MQTT &amp; phần cứng IoT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Xây dựng mô hình phần cứng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Viết phần lớn nội dung  báo cáo từng đợt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Thu thập dataset thông số.</a:t>
            </a:r>
          </a:p>
        </p:txBody>
      </p:sp>
      <p:sp>
        <p:nvSpPr>
          <p:cNvPr id="16" name="Shape 1">
            <a:extLst>
              <a:ext uri="{FF2B5EF4-FFF2-40B4-BE49-F238E27FC236}">
                <a16:creationId xmlns:a16="http://schemas.microsoft.com/office/drawing/2014/main" id="{8B4DC027-6463-FDD8-88DC-1F9DC95AC07D}"/>
              </a:ext>
            </a:extLst>
          </p:cNvPr>
          <p:cNvSpPr/>
          <p:nvPr/>
        </p:nvSpPr>
        <p:spPr>
          <a:xfrm>
            <a:off x="16337583" y="-2783870"/>
            <a:ext cx="4912529" cy="3314077"/>
          </a:xfrm>
          <a:prstGeom prst="roundRect">
            <a:avLst>
              <a:gd name="adj" fmla="val 1201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268D901D-0778-92BF-B852-DC4AB88800A1}"/>
              </a:ext>
            </a:extLst>
          </p:cNvPr>
          <p:cNvSpPr/>
          <p:nvPr/>
        </p:nvSpPr>
        <p:spPr>
          <a:xfrm>
            <a:off x="16490915" y="-2642901"/>
            <a:ext cx="4585577" cy="327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4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Tuấn Anh</a:t>
            </a:r>
            <a:endParaRPr lang="en-US" sz="2400" b="1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21E62D22-A12D-6B03-46B0-86E4BDBDD9C6}"/>
              </a:ext>
            </a:extLst>
          </p:cNvPr>
          <p:cNvSpPr/>
          <p:nvPr/>
        </p:nvSpPr>
        <p:spPr>
          <a:xfrm>
            <a:off x="16713878" y="-2297713"/>
            <a:ext cx="4188994" cy="249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Thiết kế kế hoạch triển khai.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Thu thập, tiền xử lý, quản lý dataset ảnh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Xây dựng &amp; quản lý dataset thông số 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 Huấn luyện mô hình YoLov8.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Kết nối MQTT đến phần cứng IOT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Hỗ trợ viết báo cáo</a:t>
            </a:r>
          </a:p>
        </p:txBody>
      </p:sp>
      <p:sp>
        <p:nvSpPr>
          <p:cNvPr id="19" name="Shape 1">
            <a:extLst>
              <a:ext uri="{FF2B5EF4-FFF2-40B4-BE49-F238E27FC236}">
                <a16:creationId xmlns:a16="http://schemas.microsoft.com/office/drawing/2014/main" id="{94AC47AE-297F-BF4C-167C-47F1C22624E8}"/>
              </a:ext>
            </a:extLst>
          </p:cNvPr>
          <p:cNvSpPr/>
          <p:nvPr/>
        </p:nvSpPr>
        <p:spPr>
          <a:xfrm>
            <a:off x="6413415" y="4777638"/>
            <a:ext cx="4912529" cy="3314077"/>
          </a:xfrm>
          <a:prstGeom prst="roundRect">
            <a:avLst>
              <a:gd name="adj" fmla="val 1201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7DD2F1B3-E7C1-8AA2-A50E-D818E423FEA3}"/>
              </a:ext>
            </a:extLst>
          </p:cNvPr>
          <p:cNvSpPr/>
          <p:nvPr/>
        </p:nvSpPr>
        <p:spPr>
          <a:xfrm>
            <a:off x="6566747" y="4918607"/>
            <a:ext cx="4585577" cy="327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4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Lâm Vũ</a:t>
            </a:r>
            <a:endParaRPr lang="en-US" sz="2400" b="1" dirty="0"/>
          </a:p>
        </p:txBody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93D964B4-1E43-B7D3-9607-5704D1B59D5A}"/>
              </a:ext>
            </a:extLst>
          </p:cNvPr>
          <p:cNvSpPr/>
          <p:nvPr/>
        </p:nvSpPr>
        <p:spPr>
          <a:xfrm>
            <a:off x="6789710" y="5263795"/>
            <a:ext cx="4188994" cy="249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Thiết kế kế hoạch triển khai.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Xây dựng hệ thống Logic mờ. 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Hỗ trợ phần cứng IOT.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Kết nối MQTT đến phần cứng IOT.</a:t>
            </a:r>
          </a:p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Hỗ trợ  xử lý các lỗi liên quan đến lưu trữ, quản lý mã nguồn.</a:t>
            </a:r>
          </a:p>
        </p:txBody>
      </p:sp>
    </p:spTree>
    <p:extLst>
      <p:ext uri="{BB962C8B-B14F-4D97-AF65-F5344CB8AC3E}">
        <p14:creationId xmlns:p14="http://schemas.microsoft.com/office/powerpoint/2010/main" val="117764339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7.png">
            <a:extLst>
              <a:ext uri="{FF2B5EF4-FFF2-40B4-BE49-F238E27FC236}">
                <a16:creationId xmlns:a16="http://schemas.microsoft.com/office/drawing/2014/main" id="{17D10FFE-65B6-ED0C-5C26-4ABF80B4DB24}"/>
              </a:ext>
            </a:extLst>
          </p:cNvPr>
          <p:cNvPicPr/>
          <p:nvPr/>
        </p:nvPicPr>
        <p:blipFill>
          <a:blip r:embed="rId3"/>
          <a:srcRect t="11865"/>
          <a:stretch>
            <a:fillRect/>
          </a:stretch>
        </p:blipFill>
        <p:spPr>
          <a:xfrm>
            <a:off x="636608" y="587066"/>
            <a:ext cx="13601776" cy="751394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sp>
        <p:nvSpPr>
          <p:cNvPr id="3" name="Text 0"/>
          <p:cNvSpPr/>
          <p:nvPr/>
        </p:nvSpPr>
        <p:spPr>
          <a:xfrm>
            <a:off x="0" y="20090"/>
            <a:ext cx="14630400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50"/>
              </a:lnSpc>
              <a:buNone/>
            </a:pP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2: Kiến trúc hệ thống, workflow</a:t>
            </a:r>
            <a:endParaRPr lang="en-US" sz="3550" b="1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70871E6-8556-C434-DABC-3E1997219FC8}"/>
              </a:ext>
            </a:extLst>
          </p:cNvPr>
          <p:cNvGrpSpPr/>
          <p:nvPr/>
        </p:nvGrpSpPr>
        <p:grpSpPr>
          <a:xfrm>
            <a:off x="1084783" y="805063"/>
            <a:ext cx="5304442" cy="566976"/>
            <a:chOff x="240731" y="1657079"/>
            <a:chExt cx="5304442" cy="566976"/>
          </a:xfrm>
        </p:grpSpPr>
        <p:sp>
          <p:nvSpPr>
            <p:cNvPr id="10" name="Shape 1">
              <a:extLst>
                <a:ext uri="{FF2B5EF4-FFF2-40B4-BE49-F238E27FC236}">
                  <a16:creationId xmlns:a16="http://schemas.microsoft.com/office/drawing/2014/main" id="{4651689C-364A-CC20-9FE2-CA3B99077643}"/>
                </a:ext>
              </a:extLst>
            </p:cNvPr>
            <p:cNvSpPr/>
            <p:nvPr/>
          </p:nvSpPr>
          <p:spPr>
            <a:xfrm>
              <a:off x="240731" y="1657079"/>
              <a:ext cx="5304442" cy="566976"/>
            </a:xfrm>
            <a:prstGeom prst="roundRect">
              <a:avLst>
                <a:gd name="adj" fmla="val 12013"/>
              </a:avLst>
            </a:prstGeom>
            <a:solidFill>
              <a:srgbClr val="F2EEE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 2">
              <a:extLst>
                <a:ext uri="{FF2B5EF4-FFF2-40B4-BE49-F238E27FC236}">
                  <a16:creationId xmlns:a16="http://schemas.microsoft.com/office/drawing/2014/main" id="{8E469446-C970-D118-FCCA-64BA8A8F2D54}"/>
                </a:ext>
              </a:extLst>
            </p:cNvPr>
            <p:cNvSpPr/>
            <p:nvPr/>
          </p:nvSpPr>
          <p:spPr>
            <a:xfrm>
              <a:off x="240731" y="1798047"/>
              <a:ext cx="5142397" cy="32747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2750"/>
                </a:lnSpc>
                <a:buNone/>
              </a:pPr>
              <a:r>
                <a:rPr lang="en-US" sz="2400" b="1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Quy trình thực hiện</a:t>
              </a:r>
              <a:endParaRPr lang="en-US" sz="2400" b="1" dirty="0"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4D77F-6C76-310E-CA83-10CE2DA2D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A3CFA7E1-6778-61A2-A98A-4E0868558C22}"/>
              </a:ext>
            </a:extLst>
          </p:cNvPr>
          <p:cNvSpPr/>
          <p:nvPr/>
        </p:nvSpPr>
        <p:spPr>
          <a:xfrm>
            <a:off x="0" y="20090"/>
            <a:ext cx="14630400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50"/>
              </a:lnSpc>
              <a:buNone/>
            </a:pP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Luồng chạy dữ liệu</a:t>
            </a:r>
            <a:endParaRPr lang="en-US" sz="355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0F3224-27F7-2E25-A1B6-5F3CDEE7C2A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3546770"/>
            <a:ext cx="14630399" cy="468283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Shape 1">
            <a:extLst>
              <a:ext uri="{FF2B5EF4-FFF2-40B4-BE49-F238E27FC236}">
                <a16:creationId xmlns:a16="http://schemas.microsoft.com/office/drawing/2014/main" id="{2CB03A51-35C1-53D0-B6BD-36A0C9D707BF}"/>
              </a:ext>
            </a:extLst>
          </p:cNvPr>
          <p:cNvSpPr/>
          <p:nvPr/>
        </p:nvSpPr>
        <p:spPr>
          <a:xfrm>
            <a:off x="260547" y="658159"/>
            <a:ext cx="13918440" cy="2490155"/>
          </a:xfrm>
          <a:prstGeom prst="roundRect">
            <a:avLst>
              <a:gd name="adj" fmla="val 1201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13A8820-2CFB-4DA8-6C8F-FE7BF4C4DAB9}"/>
              </a:ext>
            </a:extLst>
          </p:cNvPr>
          <p:cNvSpPr/>
          <p:nvPr/>
        </p:nvSpPr>
        <p:spPr>
          <a:xfrm>
            <a:off x="678277" y="791547"/>
            <a:ext cx="12285368" cy="249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Hệ thống khởi chạy Mqtt, đọc file dataset csv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Cảm biến hrs04 đo khoảng cách và publish thông tin liên tục (500 ms/ lần) lên kênh “khoangcach”, kết quả  được lưu liên tục vào biến current_distance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Tiến hành bắt frame qua Ip của camera qua thư viện cv2, khởi tạo khung camera quan sát trên màn hình.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Đẩy frame ảnh cho model AI quét nhận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diện</a:t>
            </a:r>
            <a:endParaRPr lang="vi-VN" sz="2000">
              <a:solidFill>
                <a:srgbClr val="464646"/>
              </a:solidFill>
              <a:latin typeface="Arimo Medium" pitchFamily="34" charset="0"/>
              <a:ea typeface="Arimo Medium" pitchFamily="34" charset="-122"/>
              <a:cs typeface="Arimo Medium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7266117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CA9E9-3375-DBF0-D136-AE2C42AB1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CB395982-8D61-125C-B350-0FF82543110A}"/>
              </a:ext>
            </a:extLst>
          </p:cNvPr>
          <p:cNvSpPr/>
          <p:nvPr/>
        </p:nvSpPr>
        <p:spPr>
          <a:xfrm>
            <a:off x="0" y="20090"/>
            <a:ext cx="14630400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50"/>
              </a:lnSpc>
              <a:buNone/>
            </a:pP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Luồng chạy dữ liệu</a:t>
            </a:r>
            <a:endParaRPr lang="en-US" sz="355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3298A3E-4799-C814-AB58-FB8C7C0B79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3546770"/>
            <a:ext cx="14630399" cy="468283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Shape 1">
            <a:extLst>
              <a:ext uri="{FF2B5EF4-FFF2-40B4-BE49-F238E27FC236}">
                <a16:creationId xmlns:a16="http://schemas.microsoft.com/office/drawing/2014/main" id="{CD700B4C-FCA0-4C9E-F170-E329002CAED8}"/>
              </a:ext>
            </a:extLst>
          </p:cNvPr>
          <p:cNvSpPr/>
          <p:nvPr/>
        </p:nvSpPr>
        <p:spPr>
          <a:xfrm>
            <a:off x="260547" y="658159"/>
            <a:ext cx="13918440" cy="2490155"/>
          </a:xfrm>
          <a:prstGeom prst="roundRect">
            <a:avLst>
              <a:gd name="adj" fmla="val 1201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AA771C8-F0CE-0656-785F-7B3DFFC5BAE4}"/>
              </a:ext>
            </a:extLst>
          </p:cNvPr>
          <p:cNvSpPr/>
          <p:nvPr/>
        </p:nvSpPr>
        <p:spPr>
          <a:xfrm>
            <a:off x="678277" y="791547"/>
            <a:ext cx="12285368" cy="249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Hệ thống quét file csv lấy độ hung dữ của con vật vừa quét được.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Đưa độ hung dữ và khoảng cách ( biến current_distance) vào hàm giải luật mờ, tính toán ra độ nguy hiểm.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Gửi  độ nguy hiểm (publish) vào kênh “mucdo_nguyhiem”.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Hệ thống IOT nhận được tín hiệu, phát ra tín hiệu tương ứng ( bật đèn, hú còi)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Cập nhật các thông số: Tên loài, khoảng cách, mức độ cảnh báo ra màn hình. </a:t>
            </a:r>
          </a:p>
        </p:txBody>
      </p:sp>
    </p:spTree>
    <p:extLst>
      <p:ext uri="{BB962C8B-B14F-4D97-AF65-F5344CB8AC3E}">
        <p14:creationId xmlns:p14="http://schemas.microsoft.com/office/powerpoint/2010/main" val="359845884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E3E74-9185-6BF6-1EFD-065F42BE3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45E3AD22-8A3F-897E-E8B5-1F0B0DB2D82C}"/>
              </a:ext>
            </a:extLst>
          </p:cNvPr>
          <p:cNvSpPr/>
          <p:nvPr/>
        </p:nvSpPr>
        <p:spPr>
          <a:xfrm>
            <a:off x="148829" y="137886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3: Nguồn dữ liệu </a:t>
            </a:r>
            <a:endParaRPr lang="en-US" sz="3550" b="1" dirty="0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E7D30053-B756-A334-8B74-54B4D33C5D60}"/>
              </a:ext>
            </a:extLst>
          </p:cNvPr>
          <p:cNvSpPr/>
          <p:nvPr/>
        </p:nvSpPr>
        <p:spPr>
          <a:xfrm>
            <a:off x="5167430" y="1314559"/>
            <a:ext cx="4912529" cy="1935705"/>
          </a:xfrm>
          <a:prstGeom prst="roundRect">
            <a:avLst>
              <a:gd name="adj" fmla="val 1201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235F2282-0FD4-9C57-E113-9E0CDFBE2885}"/>
              </a:ext>
            </a:extLst>
          </p:cNvPr>
          <p:cNvSpPr/>
          <p:nvPr/>
        </p:nvSpPr>
        <p:spPr>
          <a:xfrm>
            <a:off x="5320762" y="1455528"/>
            <a:ext cx="4585577" cy="327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750"/>
              </a:lnSpc>
            </a:pPr>
            <a:r>
              <a:rPr lang="vi-VN" sz="2400" b="1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Dữ liệu thống kê</a:t>
            </a:r>
            <a:endParaRPr lang="en-US" sz="2400" b="1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7CE0478E-18B0-2602-E9D6-A569319B138E}"/>
              </a:ext>
            </a:extLst>
          </p:cNvPr>
          <p:cNvSpPr/>
          <p:nvPr/>
        </p:nvSpPr>
        <p:spPr>
          <a:xfrm>
            <a:off x="5543725" y="1800717"/>
            <a:ext cx="4188994" cy="1215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Dữ liệu thống kê về mức hung dữ, khoảng cách an toàn,.. của các loài động vật.</a:t>
            </a:r>
          </a:p>
        </p:txBody>
      </p:sp>
      <p:sp>
        <p:nvSpPr>
          <p:cNvPr id="16" name="Shape 1">
            <a:extLst>
              <a:ext uri="{FF2B5EF4-FFF2-40B4-BE49-F238E27FC236}">
                <a16:creationId xmlns:a16="http://schemas.microsoft.com/office/drawing/2014/main" id="{34FC5DE3-524C-3731-E77C-49AD321DD3EB}"/>
              </a:ext>
            </a:extLst>
          </p:cNvPr>
          <p:cNvSpPr/>
          <p:nvPr/>
        </p:nvSpPr>
        <p:spPr>
          <a:xfrm>
            <a:off x="20015599" y="3952760"/>
            <a:ext cx="4912529" cy="1935706"/>
          </a:xfrm>
          <a:prstGeom prst="roundRect">
            <a:avLst>
              <a:gd name="adj" fmla="val 1201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E5C4A6C4-D3AC-AC37-2AFD-A8C232395E5B}"/>
              </a:ext>
            </a:extLst>
          </p:cNvPr>
          <p:cNvSpPr/>
          <p:nvPr/>
        </p:nvSpPr>
        <p:spPr>
          <a:xfrm>
            <a:off x="20168931" y="4093728"/>
            <a:ext cx="4585577" cy="327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750"/>
              </a:lnSpc>
            </a:pPr>
            <a:r>
              <a:rPr lang="vi-VN" sz="2400" b="1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Ảnh huấn luyện cho AI</a:t>
            </a:r>
            <a:endParaRPr lang="en-US" sz="2400" b="1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EFCD15D7-7FE9-0E00-6417-49EC51C95A83}"/>
              </a:ext>
            </a:extLst>
          </p:cNvPr>
          <p:cNvSpPr/>
          <p:nvPr/>
        </p:nvSpPr>
        <p:spPr>
          <a:xfrm>
            <a:off x="20391894" y="4535982"/>
            <a:ext cx="4188994" cy="1230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K</a:t>
            </a: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hoảng 8064 ảnh cho 8 loài động vật ( khoảng 1000 ảnh/loài) được thu thập từ Roboflow Universe.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8D3F5F4B-DB54-49EB-9089-24EFFFA490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2727977"/>
              </p:ext>
            </p:extLst>
          </p:nvPr>
        </p:nvGraphicFramePr>
        <p:xfrm>
          <a:off x="4158603" y="3952760"/>
          <a:ext cx="6909894" cy="35229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88234">
                  <a:extLst>
                    <a:ext uri="{9D8B030D-6E8A-4147-A177-3AD203B41FA5}">
                      <a16:colId xmlns:a16="http://schemas.microsoft.com/office/drawing/2014/main" val="424760078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417128821"/>
                    </a:ext>
                  </a:extLst>
                </a:gridCol>
                <a:gridCol w="1393903">
                  <a:extLst>
                    <a:ext uri="{9D8B030D-6E8A-4147-A177-3AD203B41FA5}">
                      <a16:colId xmlns:a16="http://schemas.microsoft.com/office/drawing/2014/main" val="1228329708"/>
                    </a:ext>
                  </a:extLst>
                </a:gridCol>
                <a:gridCol w="1382751">
                  <a:extLst>
                    <a:ext uri="{9D8B030D-6E8A-4147-A177-3AD203B41FA5}">
                      <a16:colId xmlns:a16="http://schemas.microsoft.com/office/drawing/2014/main" val="3727490227"/>
                    </a:ext>
                  </a:extLst>
                </a:gridCol>
                <a:gridCol w="1873406">
                  <a:extLst>
                    <a:ext uri="{9D8B030D-6E8A-4147-A177-3AD203B41FA5}">
                      <a16:colId xmlns:a16="http://schemas.microsoft.com/office/drawing/2014/main" val="2468364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ID_Loai</a:t>
                      </a:r>
                    </a:p>
                  </a:txBody>
                  <a:tcPr marL="7620" marR="7620" marT="762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Ten_Loai</a:t>
                      </a:r>
                    </a:p>
                  </a:txBody>
                  <a:tcPr marL="7620" marR="7620" marT="762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Muc_Hung_Du</a:t>
                      </a:r>
                    </a:p>
                  </a:txBody>
                  <a:tcPr marL="7620" marR="7620" marT="762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Toc_Do (km/h)</a:t>
                      </a:r>
                    </a:p>
                  </a:txBody>
                  <a:tcPr marL="7620" marR="7620" marT="762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Khoang_Cach_An_Toan (m)</a:t>
                      </a:r>
                    </a:p>
                  </a:txBody>
                  <a:tcPr marL="7620" marR="7620" marT="7620" marB="0"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4393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boar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5034424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cat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319326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80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53220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elephant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15277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kangaroo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85734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snake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16330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wolf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8.5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44603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zebra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63576918"/>
                  </a:ext>
                </a:extLst>
              </a:tr>
            </a:tbl>
          </a:graphicData>
        </a:graphic>
      </p:graphicFrame>
      <p:pic>
        <p:nvPicPr>
          <p:cNvPr id="28" name="image4.png">
            <a:extLst>
              <a:ext uri="{FF2B5EF4-FFF2-40B4-BE49-F238E27FC236}">
                <a16:creationId xmlns:a16="http://schemas.microsoft.com/office/drawing/2014/main" id="{824F4647-250D-14A4-BE47-8CE4D9F93720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18901742" y="6540275"/>
            <a:ext cx="8162267" cy="4808809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22047236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6347D-B3D1-141A-521F-F3E9D3BB6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FFC8B057-F8BF-CB8D-16C6-98CB124A8641}"/>
              </a:ext>
            </a:extLst>
          </p:cNvPr>
          <p:cNvSpPr/>
          <p:nvPr/>
        </p:nvSpPr>
        <p:spPr>
          <a:xfrm>
            <a:off x="148829" y="137886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3: Nguồn dữ liệu </a:t>
            </a:r>
            <a:endParaRPr lang="en-US" sz="3550" b="1" dirty="0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936791E9-C2BC-2506-353A-2DDD256B7BB4}"/>
              </a:ext>
            </a:extLst>
          </p:cNvPr>
          <p:cNvSpPr/>
          <p:nvPr/>
        </p:nvSpPr>
        <p:spPr>
          <a:xfrm>
            <a:off x="-9603647" y="1455527"/>
            <a:ext cx="4912529" cy="1935705"/>
          </a:xfrm>
          <a:prstGeom prst="roundRect">
            <a:avLst>
              <a:gd name="adj" fmla="val 1201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6B67E1EB-1753-469A-3B81-89B339598A1D}"/>
              </a:ext>
            </a:extLst>
          </p:cNvPr>
          <p:cNvSpPr/>
          <p:nvPr/>
        </p:nvSpPr>
        <p:spPr>
          <a:xfrm>
            <a:off x="-9450315" y="1596496"/>
            <a:ext cx="4585577" cy="327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750"/>
              </a:lnSpc>
            </a:pPr>
            <a:r>
              <a:rPr lang="vi-VN" sz="2400" b="1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Dữ liệu thống kê</a:t>
            </a:r>
            <a:endParaRPr lang="en-US" sz="2400" b="1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CAA68387-787E-F4EB-EB60-EC6E7CE89451}"/>
              </a:ext>
            </a:extLst>
          </p:cNvPr>
          <p:cNvSpPr/>
          <p:nvPr/>
        </p:nvSpPr>
        <p:spPr>
          <a:xfrm>
            <a:off x="-9227352" y="1941685"/>
            <a:ext cx="4188994" cy="1215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Dữ liệu thống kê về mức hung dữ, khoảng cách an toàn,.. của các loài động vật.</a:t>
            </a:r>
          </a:p>
        </p:txBody>
      </p:sp>
      <p:sp>
        <p:nvSpPr>
          <p:cNvPr id="16" name="Shape 1">
            <a:extLst>
              <a:ext uri="{FF2B5EF4-FFF2-40B4-BE49-F238E27FC236}">
                <a16:creationId xmlns:a16="http://schemas.microsoft.com/office/drawing/2014/main" id="{1CC3A164-F612-9D44-B973-BF4728C6C5C6}"/>
              </a:ext>
            </a:extLst>
          </p:cNvPr>
          <p:cNvSpPr/>
          <p:nvPr/>
        </p:nvSpPr>
        <p:spPr>
          <a:xfrm>
            <a:off x="9257868" y="3729024"/>
            <a:ext cx="4912529" cy="1935706"/>
          </a:xfrm>
          <a:prstGeom prst="roundRect">
            <a:avLst>
              <a:gd name="adj" fmla="val 12013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8D79E2F5-B905-521D-67F0-EC1B95927978}"/>
              </a:ext>
            </a:extLst>
          </p:cNvPr>
          <p:cNvSpPr/>
          <p:nvPr/>
        </p:nvSpPr>
        <p:spPr>
          <a:xfrm>
            <a:off x="9411200" y="3869992"/>
            <a:ext cx="4585577" cy="327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750"/>
              </a:lnSpc>
            </a:pPr>
            <a:r>
              <a:rPr lang="vi-VN" sz="2400" b="1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Ảnh huấn luyện cho AI</a:t>
            </a:r>
            <a:endParaRPr lang="en-US" sz="2400" b="1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532D3CE9-61DA-32E8-37E4-20C313731491}"/>
              </a:ext>
            </a:extLst>
          </p:cNvPr>
          <p:cNvSpPr/>
          <p:nvPr/>
        </p:nvSpPr>
        <p:spPr>
          <a:xfrm>
            <a:off x="9634163" y="4312246"/>
            <a:ext cx="4188994" cy="1230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K</a:t>
            </a: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hoảng 8064 ảnh cho 8 loài động vật ( khoảng 1000 ảnh/loài) được thu thập từ Roboflow Universe.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07B3BCBB-4BF5-8A5E-CE10-310017A13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2090510"/>
              </p:ext>
            </p:extLst>
          </p:nvPr>
        </p:nvGraphicFramePr>
        <p:xfrm>
          <a:off x="-10401940" y="4093728"/>
          <a:ext cx="6909894" cy="35229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88234">
                  <a:extLst>
                    <a:ext uri="{9D8B030D-6E8A-4147-A177-3AD203B41FA5}">
                      <a16:colId xmlns:a16="http://schemas.microsoft.com/office/drawing/2014/main" val="424760078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417128821"/>
                    </a:ext>
                  </a:extLst>
                </a:gridCol>
                <a:gridCol w="1393903">
                  <a:extLst>
                    <a:ext uri="{9D8B030D-6E8A-4147-A177-3AD203B41FA5}">
                      <a16:colId xmlns:a16="http://schemas.microsoft.com/office/drawing/2014/main" val="1228329708"/>
                    </a:ext>
                  </a:extLst>
                </a:gridCol>
                <a:gridCol w="1382751">
                  <a:extLst>
                    <a:ext uri="{9D8B030D-6E8A-4147-A177-3AD203B41FA5}">
                      <a16:colId xmlns:a16="http://schemas.microsoft.com/office/drawing/2014/main" val="3727490227"/>
                    </a:ext>
                  </a:extLst>
                </a:gridCol>
                <a:gridCol w="1873406">
                  <a:extLst>
                    <a:ext uri="{9D8B030D-6E8A-4147-A177-3AD203B41FA5}">
                      <a16:colId xmlns:a16="http://schemas.microsoft.com/office/drawing/2014/main" val="2468364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ID_Loai</a:t>
                      </a:r>
                    </a:p>
                  </a:txBody>
                  <a:tcPr marL="7620" marR="7620" marT="762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Ten_Loai</a:t>
                      </a:r>
                    </a:p>
                  </a:txBody>
                  <a:tcPr marL="7620" marR="7620" marT="762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Muc_Hung_Du</a:t>
                      </a:r>
                    </a:p>
                  </a:txBody>
                  <a:tcPr marL="7620" marR="7620" marT="762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Toc_Do (km/h)</a:t>
                      </a:r>
                    </a:p>
                  </a:txBody>
                  <a:tcPr marL="7620" marR="7620" marT="762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Khoang_Cach_An_Toan (m)</a:t>
                      </a:r>
                    </a:p>
                  </a:txBody>
                  <a:tcPr marL="7620" marR="7620" marT="7620" marB="0"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4393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boar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5034424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cat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319326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80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53220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elephant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15277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kangaroo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85734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snake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16330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wolf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8.5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44603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zebra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63576918"/>
                  </a:ext>
                </a:extLst>
              </a:tr>
            </a:tbl>
          </a:graphicData>
        </a:graphic>
      </p:graphicFrame>
      <p:pic>
        <p:nvPicPr>
          <p:cNvPr id="28" name="image4.png">
            <a:extLst>
              <a:ext uri="{FF2B5EF4-FFF2-40B4-BE49-F238E27FC236}">
                <a16:creationId xmlns:a16="http://schemas.microsoft.com/office/drawing/2014/main" id="{DA7E90F5-C7F9-725B-32E5-F28161D107C5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60003" y="2034099"/>
            <a:ext cx="8162267" cy="4808809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34127903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A8A90-815F-7C95-F887-D8295C96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06E2ECC-0950-2907-2F96-EF853C3565A1}"/>
              </a:ext>
            </a:extLst>
          </p:cNvPr>
          <p:cNvSpPr/>
          <p:nvPr/>
        </p:nvSpPr>
        <p:spPr>
          <a:xfrm>
            <a:off x="597020" y="36803"/>
            <a:ext cx="9026604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3: Kiến </a:t>
            </a:r>
            <a:r>
              <a:rPr lang="en-US" sz="3550" b="1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trúc </a:t>
            </a: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hệ thống</a:t>
            </a:r>
            <a:endParaRPr lang="en-US" sz="355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321429-5797-0B1B-4B9D-3A78F15E4E52}"/>
              </a:ext>
            </a:extLst>
          </p:cNvPr>
          <p:cNvSpPr txBox="1"/>
          <p:nvPr/>
        </p:nvSpPr>
        <p:spPr>
          <a:xfrm>
            <a:off x="626880" y="725674"/>
            <a:ext cx="136398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Hệ thống được thiết kế hướng đối tượng được chia thành 4 mô-đun chính, đảm bảo rõ ràng và tách biệt trách nhiệm:</a:t>
            </a:r>
            <a:endParaRPr lang="en-US" sz="2800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3B0E2DB-2B71-E8EB-AAA0-66310C0FFA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6156050"/>
              </p:ext>
            </p:extLst>
          </p:nvPr>
        </p:nvGraphicFramePr>
        <p:xfrm>
          <a:off x="793790" y="3947426"/>
          <a:ext cx="13472930" cy="4297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94586">
                  <a:extLst>
                    <a:ext uri="{9D8B030D-6E8A-4147-A177-3AD203B41FA5}">
                      <a16:colId xmlns:a16="http://schemas.microsoft.com/office/drawing/2014/main" val="2891151936"/>
                    </a:ext>
                  </a:extLst>
                </a:gridCol>
                <a:gridCol w="2694586">
                  <a:extLst>
                    <a:ext uri="{9D8B030D-6E8A-4147-A177-3AD203B41FA5}">
                      <a16:colId xmlns:a16="http://schemas.microsoft.com/office/drawing/2014/main" val="1323129891"/>
                    </a:ext>
                  </a:extLst>
                </a:gridCol>
                <a:gridCol w="2694586">
                  <a:extLst>
                    <a:ext uri="{9D8B030D-6E8A-4147-A177-3AD203B41FA5}">
                      <a16:colId xmlns:a16="http://schemas.microsoft.com/office/drawing/2014/main" val="2116468437"/>
                    </a:ext>
                  </a:extLst>
                </a:gridCol>
                <a:gridCol w="2694586">
                  <a:extLst>
                    <a:ext uri="{9D8B030D-6E8A-4147-A177-3AD203B41FA5}">
                      <a16:colId xmlns:a16="http://schemas.microsoft.com/office/drawing/2014/main" val="3430760912"/>
                    </a:ext>
                  </a:extLst>
                </a:gridCol>
                <a:gridCol w="2694586">
                  <a:extLst>
                    <a:ext uri="{9D8B030D-6E8A-4147-A177-3AD203B41FA5}">
                      <a16:colId xmlns:a16="http://schemas.microsoft.com/office/drawing/2014/main" val="3611288621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algn="ctr"/>
                      <a:r>
                        <a:rPr lang="en-US" sz="2400" b="1"/>
                        <a:t>ScreenMange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/>
                        <a:t>Planet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/>
                        <a:t>Camera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2400" b="1"/>
                        <a:t>Tiện ích 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400" b="1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4750501"/>
                  </a:ext>
                </a:extLst>
              </a:tr>
              <a:tr h="276362">
                <a:tc vMerge="1">
                  <a:txBody>
                    <a:bodyPr/>
                    <a:lstStyle/>
                    <a:p>
                      <a:pPr algn="ctr"/>
                      <a:endParaRPr lang="en-US" sz="2400" b="1"/>
                    </a:p>
                  </a:txBody>
                  <a:tcPr>
                    <a:solidFill>
                      <a:srgbClr val="00B0F0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2400" b="1"/>
                    </a:p>
                  </a:txBody>
                  <a:tcPr>
                    <a:solidFill>
                      <a:srgbClr val="00B0F0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2400" b="1"/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/>
                        <a:t>TextureUtils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/>
                        <a:t>SkyboxService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263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>
                          <a:solidFill>
                            <a:srgbClr val="464646"/>
                          </a:solidFill>
                          <a:latin typeface="Arimo Medium" pitchFamily="34" charset="0"/>
                          <a:ea typeface="Arimo Medium" pitchFamily="34" charset="-122"/>
                          <a:cs typeface="Arimo Medium" pitchFamily="34" charset="-120"/>
                        </a:rPr>
                        <a:t>Điều phối vòng lặp render, cập nhật time step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400">
                        <a:solidFill>
                          <a:srgbClr val="464646"/>
                        </a:solidFill>
                        <a:latin typeface="Arimo Medium" pitchFamily="34" charset="0"/>
                        <a:ea typeface="Arimo Medium" pitchFamily="34" charset="-122"/>
                        <a:cs typeface="Arimo Medium" pitchFamily="34" charset="-12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>
                          <a:solidFill>
                            <a:srgbClr val="464646"/>
                          </a:solidFill>
                          <a:latin typeface="Arimo Medium" pitchFamily="34" charset="0"/>
                          <a:ea typeface="Arimo Medium" pitchFamily="34" charset="-122"/>
                          <a:cs typeface="Arimo Medium" pitchFamily="34" charset="-120"/>
                        </a:rPr>
                        <a:t>Quản lý danh sách planet., global state.</a:t>
                      </a:r>
                      <a:endParaRPr lang="en-US" sz="2400"/>
                    </a:p>
                    <a:p>
                      <a:pPr algn="ctr"/>
                      <a:endParaRPr lang="en-US" sz="240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lang="en-US" sz="2400"/>
                        <a:t>Đối tượng cốt lõi, đóng gói nhiều thuộc tính cũng như các phương thức quan trọng.</a:t>
                      </a:r>
                    </a:p>
                    <a:p>
                      <a:pPr marL="285750" indent="-285750" algn="ctr">
                        <a:buFontTx/>
                        <a:buChar char="-"/>
                      </a:pPr>
                      <a:endParaRPr lang="en-US" sz="240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Đóng vai trò là con mắt quan sát thông qua bộ ba camRadius, camYaw, camPitch. </a:t>
                      </a:r>
                    </a:p>
                    <a:p>
                      <a:pPr marL="0" indent="0" algn="ctr">
                        <a:buFontTx/>
                        <a:buNone/>
                      </a:pPr>
                      <a:endParaRPr lang="en-US" sz="2400"/>
                    </a:p>
                    <a:p>
                      <a:pPr marL="0" indent="0" algn="ctr">
                        <a:buFontTx/>
                        <a:buNone/>
                      </a:pPr>
                      <a:r>
                        <a:rPr lang="en-US" sz="2400"/>
                        <a:t>zoomIn(), zoomOut, các hàm tương tác.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lang="en-US" sz="2400"/>
                        <a:t>Xử lý hỗ trợ đọc ảnh từ thư mục cho C++</a:t>
                      </a:r>
                    </a:p>
                    <a:p>
                      <a:pPr marL="0" indent="0" algn="ctr">
                        <a:buFontTx/>
                        <a:buNone/>
                      </a:pPr>
                      <a:endParaRPr lang="en-US" sz="2400"/>
                    </a:p>
                    <a:p>
                      <a:pPr marL="0" indent="0" algn="ctr">
                        <a:buFontTx/>
                        <a:buNone/>
                      </a:pPr>
                      <a:r>
                        <a:rPr lang="en-US" sz="2400"/>
                        <a:t>Chuẩn bị cho bước dán ảnh bằng glBindTexture và quadric.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lang="en-US" sz="2400"/>
                        <a:t>Ghép 6 ảnh tạo thành một khối lập phương bao quanh mô hình. </a:t>
                      </a:r>
                    </a:p>
                    <a:p>
                      <a:pPr marL="0" indent="0" algn="ctr">
                        <a:buFontTx/>
                        <a:buNone/>
                      </a:pPr>
                      <a:endParaRPr lang="en-US" sz="2400"/>
                    </a:p>
                    <a:p>
                      <a:pPr marL="0" indent="0" algn="ctr">
                        <a:buFontTx/>
                        <a:buNone/>
                      </a:pPr>
                      <a:r>
                        <a:rPr lang="en-US" sz="2400"/>
                        <a:t>Set tâm hộp luôn là tọa độ camera, tránh thoát ra khỏi hộp.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0007729"/>
                  </a:ext>
                </a:extLst>
              </a:tr>
            </a:tbl>
          </a:graphicData>
        </a:graphic>
      </p:graphicFrame>
      <p:pic>
        <p:nvPicPr>
          <p:cNvPr id="1026" name="Picture 2" descr="Gamepad Icon&quot; Images – Browse 849 Stock Photos, Vectors, and Video | Adobe  Stock">
            <a:extLst>
              <a:ext uri="{FF2B5EF4-FFF2-40B4-BE49-F238E27FC236}">
                <a16:creationId xmlns:a16="http://schemas.microsoft.com/office/drawing/2014/main" id="{CD46AB4B-12AA-BE22-3138-D1DC2051A8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04" r="18230"/>
          <a:stretch>
            <a:fillRect/>
          </a:stretch>
        </p:blipFill>
        <p:spPr bwMode="auto">
          <a:xfrm>
            <a:off x="983849" y="1965687"/>
            <a:ext cx="2127471" cy="1859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6DD95D8D-D066-01BD-8777-8B6DB6E2E9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3790" y="1870976"/>
            <a:ext cx="2076450" cy="2076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DA846448-210A-2A5D-3B68-A23A5EDC91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6670" y="1924639"/>
            <a:ext cx="1893570" cy="1893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A37F169-2B90-C122-DEA5-EDE50200B7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66640" y="1679781"/>
            <a:ext cx="2076450" cy="20764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7524FF0-470B-BD8C-8749-B5C3387A80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64840" y="2501123"/>
            <a:ext cx="2510216" cy="1255108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3A187CED-C2DF-041E-9135-E33917DD70DA}"/>
              </a:ext>
            </a:extLst>
          </p:cNvPr>
          <p:cNvSpPr/>
          <p:nvPr/>
        </p:nvSpPr>
        <p:spPr>
          <a:xfrm>
            <a:off x="-61684" y="7826132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 06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785838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D0784C-0021-BC60-3ED0-50FF3201B9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929" y="212947"/>
            <a:ext cx="12556796" cy="780370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2A9F2FE6-F16D-8549-CDA3-A7396A721495}"/>
              </a:ext>
            </a:extLst>
          </p:cNvPr>
          <p:cNvSpPr/>
          <p:nvPr/>
        </p:nvSpPr>
        <p:spPr>
          <a:xfrm>
            <a:off x="5423663" y="212947"/>
            <a:ext cx="9026604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Chi tiết sơ đồ lớp</a:t>
            </a:r>
            <a:endParaRPr lang="en-US" sz="3550" b="1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472EF54D-F2E8-63AE-CCD9-F1BAAD3C1E7D}"/>
              </a:ext>
            </a:extLst>
          </p:cNvPr>
          <p:cNvSpPr/>
          <p:nvPr/>
        </p:nvSpPr>
        <p:spPr>
          <a:xfrm>
            <a:off x="0" y="7826132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 07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1226342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847643" y="779185"/>
            <a:ext cx="7217093" cy="469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50"/>
              </a:lnSpc>
              <a:buNone/>
            </a:pPr>
            <a:r>
              <a:rPr lang="en-US" sz="295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4: Tương tác người dùng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514857" y="1491574"/>
            <a:ext cx="4362688" cy="5341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8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Các tương tác chính: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32552" y="2757179"/>
            <a:ext cx="4362688" cy="459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n-US" sz="2000" b="1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Điều hướng </a:t>
            </a:r>
            <a:r>
              <a:rPr lang="en-US" sz="2000" b="1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camera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: Zoom, Pitch, Yaw bằng chuột/bàn phím</a:t>
            </a:r>
            <a:endParaRPr lang="en-US" sz="2000" dirty="0"/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n-US" sz="2000" b="1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Theo dõi mục tiêu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: theo dõi hành tinh / mặt trăng dựa vào tương tác bàn phím.</a:t>
            </a:r>
            <a:endParaRPr lang="en-US" sz="2000" dirty="0"/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n-US" sz="2000" b="1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Điều khiển mô phỏng: 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Pause / Resume quỹ đạo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bằng phím Space</a:t>
            </a:r>
            <a:endParaRPr lang="en-US" sz="2000" dirty="0"/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n-US" sz="2000" b="1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Console: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Hiển thị thông tin HDSD và hành tinh đang theo dõi.</a:t>
            </a:r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0383D8-71FC-780D-26CB-A463600D59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7545" y="2294601"/>
            <a:ext cx="9752855" cy="585579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2FF05636-6FC0-0FA4-D553-6E54ACFF8276}"/>
              </a:ext>
            </a:extLst>
          </p:cNvPr>
          <p:cNvSpPr/>
          <p:nvPr/>
        </p:nvSpPr>
        <p:spPr>
          <a:xfrm>
            <a:off x="-65006" y="7857493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 08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2EE2CF4-8B15-5EEA-C54D-224E95F5B2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939" y="91321"/>
            <a:ext cx="8027815" cy="8046958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6D0BCABF-0646-7DF1-2F61-3034F007C8FC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09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0608040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4727-EAF1-D3E4-8AA9-9CC4E568A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9D74686-E69C-FF47-A2E9-F337445AA8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62000" y="0"/>
            <a:ext cx="16154400" cy="16192921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73A9B1AB-A062-F6FA-34F1-A79C0B239691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10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1016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5C985-ED9A-8CBC-7946-DAE1D09DF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EF2C4CE-B45C-6F3F-CEC3-8B0BB9E2C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71133" y="-5825719"/>
            <a:ext cx="15572666" cy="1560979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9251A34-DD16-C8ED-A2FC-136F7EA90864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11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3991411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0827B-3D5D-C31F-1B32-B2A6540C4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6319AF-A0F2-7E11-8FC4-C2610AB722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71133" y="-7380199"/>
            <a:ext cx="15572666" cy="1560979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816726A-8F79-48EB-CC24-A8E2CDD7275F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12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2943048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30660" y="631507"/>
            <a:ext cx="7182683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0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5.1 Kỹ </a:t>
            </a:r>
            <a:r>
              <a:rPr lang="en-US" sz="330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thuật cốt lõi — Mô hình phân cấp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6230660" y="1315058"/>
            <a:ext cx="7655481" cy="135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Vấn đề: các mặt trăng tự quay quanh trục của chúng trong khi quay quanh hành tinh, và các hành tinh quay quanh Mặt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Trời. =&gt; Dùng 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các phép biến đổi phân cấp với push/pop matrix để cô lập các hệ tọa độ cục bộ.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6230660" y="2993946"/>
            <a:ext cx="3728085" cy="2207657"/>
          </a:xfrm>
          <a:prstGeom prst="roundRect">
            <a:avLst>
              <a:gd name="adj" fmla="val 497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230660" y="2971086"/>
            <a:ext cx="3728085" cy="91440"/>
          </a:xfrm>
          <a:prstGeom prst="roundRect">
            <a:avLst>
              <a:gd name="adj" fmla="val 97674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7775734" y="2674977"/>
            <a:ext cx="637937" cy="637937"/>
          </a:xfrm>
          <a:prstGeom prst="roundRect">
            <a:avLst>
              <a:gd name="adj" fmla="val 143337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010090" y="2776758"/>
            <a:ext cx="255151" cy="318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</a:t>
            </a:r>
            <a:endParaRPr lang="en-US" sz="2400" b="1" dirty="0"/>
          </a:p>
        </p:txBody>
      </p:sp>
      <p:sp>
        <p:nvSpPr>
          <p:cNvPr id="10" name="Text 7"/>
          <p:cNvSpPr/>
          <p:nvPr/>
        </p:nvSpPr>
        <p:spPr>
          <a:xfrm>
            <a:off x="6482358" y="3513233"/>
            <a:ext cx="3257074" cy="1080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4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glPushMatrix() để lưu khung cha (ví dụ: biến đổi Sun → Earth).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10158055" y="2993946"/>
            <a:ext cx="3728085" cy="2207657"/>
          </a:xfrm>
          <a:prstGeom prst="roundRect">
            <a:avLst>
              <a:gd name="adj" fmla="val 497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0158055" y="2971086"/>
            <a:ext cx="3728085" cy="91440"/>
          </a:xfrm>
          <a:prstGeom prst="roundRect">
            <a:avLst>
              <a:gd name="adj" fmla="val 97674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11703129" y="2674977"/>
            <a:ext cx="637937" cy="637937"/>
          </a:xfrm>
          <a:prstGeom prst="roundRect">
            <a:avLst>
              <a:gd name="adj" fmla="val 143337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1929188" y="2788102"/>
            <a:ext cx="255151" cy="318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2</a:t>
            </a:r>
            <a:endParaRPr lang="en-US" sz="2400" b="1" dirty="0"/>
          </a:p>
        </p:txBody>
      </p:sp>
      <p:sp>
        <p:nvSpPr>
          <p:cNvPr id="16" name="Text 13"/>
          <p:cNvSpPr/>
          <p:nvPr/>
        </p:nvSpPr>
        <p:spPr>
          <a:xfrm>
            <a:off x="10377369" y="3504699"/>
            <a:ext cx="3257074" cy="1423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Áp dụng phép quay quỹ đạo và phép tịnh tiến, nghiêng trục. </a:t>
            </a:r>
            <a:endParaRPr lang="en-US" sz="24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D12D950-5844-8D37-FBFD-45C5471E63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9537" t="-369" r="4946" b="369"/>
          <a:stretch>
            <a:fillRect/>
          </a:stretch>
        </p:blipFill>
        <p:spPr>
          <a:xfrm>
            <a:off x="5858" y="-30470"/>
            <a:ext cx="5907588" cy="8256488"/>
          </a:xfrm>
          <a:prstGeom prst="rect">
            <a:avLst/>
          </a:prstGeom>
        </p:spPr>
      </p:pic>
      <p:sp>
        <p:nvSpPr>
          <p:cNvPr id="25" name="Shape 2">
            <a:extLst>
              <a:ext uri="{FF2B5EF4-FFF2-40B4-BE49-F238E27FC236}">
                <a16:creationId xmlns:a16="http://schemas.microsoft.com/office/drawing/2014/main" id="{1F309AC9-E3AF-F96A-60A7-7490096771EE}"/>
              </a:ext>
            </a:extLst>
          </p:cNvPr>
          <p:cNvSpPr/>
          <p:nvPr/>
        </p:nvSpPr>
        <p:spPr>
          <a:xfrm>
            <a:off x="6230660" y="5652310"/>
            <a:ext cx="3728085" cy="2207657"/>
          </a:xfrm>
          <a:prstGeom prst="roundRect">
            <a:avLst>
              <a:gd name="adj" fmla="val 497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3">
            <a:extLst>
              <a:ext uri="{FF2B5EF4-FFF2-40B4-BE49-F238E27FC236}">
                <a16:creationId xmlns:a16="http://schemas.microsoft.com/office/drawing/2014/main" id="{D67C8A32-D457-6551-A166-BE1FF6CBEB91}"/>
              </a:ext>
            </a:extLst>
          </p:cNvPr>
          <p:cNvSpPr/>
          <p:nvPr/>
        </p:nvSpPr>
        <p:spPr>
          <a:xfrm>
            <a:off x="6230660" y="5629450"/>
            <a:ext cx="3728085" cy="91440"/>
          </a:xfrm>
          <a:prstGeom prst="roundRect">
            <a:avLst>
              <a:gd name="adj" fmla="val 97674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4">
            <a:extLst>
              <a:ext uri="{FF2B5EF4-FFF2-40B4-BE49-F238E27FC236}">
                <a16:creationId xmlns:a16="http://schemas.microsoft.com/office/drawing/2014/main" id="{34CAC4CB-B2F2-5A60-576C-555228A23EE0}"/>
              </a:ext>
            </a:extLst>
          </p:cNvPr>
          <p:cNvSpPr/>
          <p:nvPr/>
        </p:nvSpPr>
        <p:spPr>
          <a:xfrm>
            <a:off x="7775734" y="5333341"/>
            <a:ext cx="637937" cy="637937"/>
          </a:xfrm>
          <a:prstGeom prst="roundRect">
            <a:avLst>
              <a:gd name="adj" fmla="val 143337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5">
            <a:extLst>
              <a:ext uri="{FF2B5EF4-FFF2-40B4-BE49-F238E27FC236}">
                <a16:creationId xmlns:a16="http://schemas.microsoft.com/office/drawing/2014/main" id="{BD8CE948-B3BB-E374-3193-9CBE92303590}"/>
              </a:ext>
            </a:extLst>
          </p:cNvPr>
          <p:cNvSpPr/>
          <p:nvPr/>
        </p:nvSpPr>
        <p:spPr>
          <a:xfrm>
            <a:off x="8010090" y="5435122"/>
            <a:ext cx="255151" cy="318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3</a:t>
            </a:r>
            <a:endParaRPr lang="en-US" sz="2400" b="1" dirty="0"/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EDCD8816-46D8-4565-1565-697D200A3405}"/>
              </a:ext>
            </a:extLst>
          </p:cNvPr>
          <p:cNvSpPr/>
          <p:nvPr/>
        </p:nvSpPr>
        <p:spPr>
          <a:xfrm>
            <a:off x="6482358" y="6171597"/>
            <a:ext cx="3257074" cy="1080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glPushMatrix(), vẽ các mặt trăng, áp dụng quay quỹ đạo, tịnh tiến.</a:t>
            </a:r>
            <a:endParaRPr lang="en-US" sz="2400" dirty="0"/>
          </a:p>
        </p:txBody>
      </p:sp>
      <p:sp>
        <p:nvSpPr>
          <p:cNvPr id="30" name="Shape 2">
            <a:extLst>
              <a:ext uri="{FF2B5EF4-FFF2-40B4-BE49-F238E27FC236}">
                <a16:creationId xmlns:a16="http://schemas.microsoft.com/office/drawing/2014/main" id="{8238A4B6-3891-E7C5-C532-5550ADD85E77}"/>
              </a:ext>
            </a:extLst>
          </p:cNvPr>
          <p:cNvSpPr/>
          <p:nvPr/>
        </p:nvSpPr>
        <p:spPr>
          <a:xfrm>
            <a:off x="10377369" y="5629450"/>
            <a:ext cx="3728085" cy="2207657"/>
          </a:xfrm>
          <a:prstGeom prst="roundRect">
            <a:avLst>
              <a:gd name="adj" fmla="val 497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3">
            <a:extLst>
              <a:ext uri="{FF2B5EF4-FFF2-40B4-BE49-F238E27FC236}">
                <a16:creationId xmlns:a16="http://schemas.microsoft.com/office/drawing/2014/main" id="{F7A9A23D-43DD-079B-A454-B6E2F466325F}"/>
              </a:ext>
            </a:extLst>
          </p:cNvPr>
          <p:cNvSpPr/>
          <p:nvPr/>
        </p:nvSpPr>
        <p:spPr>
          <a:xfrm>
            <a:off x="10377369" y="5606590"/>
            <a:ext cx="3728085" cy="91440"/>
          </a:xfrm>
          <a:prstGeom prst="roundRect">
            <a:avLst>
              <a:gd name="adj" fmla="val 97674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6F240930-53B6-F229-D123-ED11F77CC33F}"/>
              </a:ext>
            </a:extLst>
          </p:cNvPr>
          <p:cNvSpPr/>
          <p:nvPr/>
        </p:nvSpPr>
        <p:spPr>
          <a:xfrm>
            <a:off x="11922443" y="5310481"/>
            <a:ext cx="637937" cy="637937"/>
          </a:xfrm>
          <a:prstGeom prst="roundRect">
            <a:avLst>
              <a:gd name="adj" fmla="val 143337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2653B800-DBD4-4AEB-D518-23D7265DB66F}"/>
              </a:ext>
            </a:extLst>
          </p:cNvPr>
          <p:cNvSpPr/>
          <p:nvPr/>
        </p:nvSpPr>
        <p:spPr>
          <a:xfrm>
            <a:off x="12156799" y="5412262"/>
            <a:ext cx="255151" cy="318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4</a:t>
            </a:r>
            <a:endParaRPr lang="en-US" sz="2400" b="1" dirty="0"/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C99C730F-CC6A-52A4-D31F-74CCC3BC1AFE}"/>
              </a:ext>
            </a:extLst>
          </p:cNvPr>
          <p:cNvSpPr/>
          <p:nvPr/>
        </p:nvSpPr>
        <p:spPr>
          <a:xfrm>
            <a:off x="10629067" y="6148737"/>
            <a:ext cx="3257074" cy="13235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glPopMatrix(), vẽ vành đai, tô sáng, dán ảnh,vẽ khối cấu, glPopMatrix để vẽ hành tinh khác. </a:t>
            </a:r>
            <a:endParaRPr lang="en-US" sz="2400" dirty="0"/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CEEECCF5-2B39-A19F-F5E4-8FE5E1751BD2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13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47355" y="182046"/>
            <a:ext cx="8364209" cy="1081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250"/>
              </a:lnSpc>
              <a:buNone/>
            </a:pPr>
            <a:r>
              <a:rPr lang="en-US" sz="340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5.2: Kỹ </a:t>
            </a:r>
            <a:r>
              <a:rPr lang="en-US" sz="340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thuật cốt lõi — Ánh sáng &amp; Vật liệu (Phong)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307911" y="1481851"/>
            <a:ext cx="7630716" cy="675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Việc chiếu sáng sẽ giúp 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tạo nên diện mạo hành tinh chân thực và phân biệt Mặt Trời tự phát sáng với các hành tinh được chiếu sáng.</a:t>
            </a:r>
            <a:endParaRPr lang="en-US" sz="2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1425806-3CE3-5591-5461-F209298AFD3D}"/>
              </a:ext>
            </a:extLst>
          </p:cNvPr>
          <p:cNvGrpSpPr/>
          <p:nvPr/>
        </p:nvGrpSpPr>
        <p:grpSpPr>
          <a:xfrm>
            <a:off x="208241" y="2882622"/>
            <a:ext cx="3686532" cy="2825830"/>
            <a:chOff x="756642" y="2907268"/>
            <a:chExt cx="3686532" cy="2150269"/>
          </a:xfrm>
        </p:grpSpPr>
        <p:sp>
          <p:nvSpPr>
            <p:cNvPr id="5" name="Shape 2"/>
            <p:cNvSpPr/>
            <p:nvPr/>
          </p:nvSpPr>
          <p:spPr>
            <a:xfrm>
              <a:off x="756642" y="3022104"/>
              <a:ext cx="107990" cy="107990"/>
            </a:xfrm>
            <a:prstGeom prst="roundRect">
              <a:avLst>
                <a:gd name="adj" fmla="val 423373"/>
              </a:avLst>
            </a:prstGeom>
            <a:solidFill>
              <a:srgbClr val="1C977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 3"/>
            <p:cNvSpPr/>
            <p:nvPr/>
          </p:nvSpPr>
          <p:spPr>
            <a:xfrm>
              <a:off x="1070610" y="2907268"/>
              <a:ext cx="2824163" cy="33778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650"/>
                </a:lnSpc>
                <a:buNone/>
              </a:pPr>
              <a:r>
                <a:rPr lang="en-US" sz="2400" b="1" dirty="0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Mặt Trời (Nguồn sáng)</a:t>
              </a:r>
              <a:endParaRPr lang="en-US" sz="2400" b="1" dirty="0"/>
            </a:p>
          </p:txBody>
        </p:sp>
        <p:sp>
          <p:nvSpPr>
            <p:cNvPr id="7" name="Text 4"/>
            <p:cNvSpPr/>
            <p:nvPr/>
          </p:nvSpPr>
          <p:spPr>
            <a:xfrm>
              <a:off x="1070610" y="3368635"/>
              <a:ext cx="3372564" cy="16889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650"/>
                </a:lnSpc>
                <a:buNone/>
              </a:pPr>
              <a:r>
                <a:rPr lang="en-US" sz="2000" dirty="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Đặt GL_LIGHT0 tại vị trí của </a:t>
              </a:r>
              <a:r>
                <a:rPr lang="en-US" sz="200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Mặt Trời. </a:t>
              </a:r>
            </a:p>
            <a:p>
              <a:pPr marL="0" indent="0" algn="l">
                <a:lnSpc>
                  <a:spcPts val="2650"/>
                </a:lnSpc>
                <a:buNone/>
              </a:pPr>
              <a:r>
                <a:rPr lang="en-US" sz="200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Thiết </a:t>
              </a:r>
              <a:r>
                <a:rPr lang="en-US" sz="2000" dirty="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lập GL_EMISSION cao để tự phát sáng, giúp Mặt Trời trông như đang phát sáng mà không nhận bóng.</a:t>
              </a:r>
              <a:endParaRPr lang="en-US" sz="2000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B6B5007-6716-3935-E13B-BD9DDBEF506C}"/>
              </a:ext>
            </a:extLst>
          </p:cNvPr>
          <p:cNvGrpSpPr/>
          <p:nvPr/>
        </p:nvGrpSpPr>
        <p:grpSpPr>
          <a:xfrm>
            <a:off x="4596433" y="2882622"/>
            <a:ext cx="3686650" cy="2586990"/>
            <a:chOff x="4700707" y="2907268"/>
            <a:chExt cx="3686650" cy="2586990"/>
          </a:xfrm>
        </p:grpSpPr>
        <p:sp>
          <p:nvSpPr>
            <p:cNvPr id="8" name="Shape 5"/>
            <p:cNvSpPr/>
            <p:nvPr/>
          </p:nvSpPr>
          <p:spPr>
            <a:xfrm>
              <a:off x="4700707" y="3022104"/>
              <a:ext cx="107990" cy="107990"/>
            </a:xfrm>
            <a:prstGeom prst="roundRect">
              <a:avLst>
                <a:gd name="adj" fmla="val 423373"/>
              </a:avLst>
            </a:prstGeom>
            <a:solidFill>
              <a:srgbClr val="1C977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 6"/>
            <p:cNvSpPr/>
            <p:nvPr/>
          </p:nvSpPr>
          <p:spPr>
            <a:xfrm>
              <a:off x="5014674" y="2907268"/>
              <a:ext cx="3372683" cy="675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650"/>
                </a:lnSpc>
                <a:buNone/>
              </a:pPr>
              <a:r>
                <a:rPr lang="en-US" sz="2400" b="1" dirty="0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Các </a:t>
              </a:r>
              <a:r>
                <a:rPr lang="en-US" sz="2400" b="1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hành tinh</a:t>
              </a:r>
              <a:endParaRPr lang="en-US" sz="2400" b="1" dirty="0"/>
            </a:p>
          </p:txBody>
        </p:sp>
        <p:sp>
          <p:nvSpPr>
            <p:cNvPr id="10" name="Text 7"/>
            <p:cNvSpPr/>
            <p:nvPr/>
          </p:nvSpPr>
          <p:spPr>
            <a:xfrm>
              <a:off x="5014674" y="3467576"/>
              <a:ext cx="3372683" cy="202668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650"/>
                </a:lnSpc>
                <a:buNone/>
              </a:pPr>
              <a:r>
                <a:rPr lang="en-US" sz="200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Tắt Emission, sử dụng kết hợp GL_DIFFUSE (màu sắc tán xạ) và GL_SPECULAR (độ chói) để tạo khối cầu 3D chân thực khi nhận ánh sáng từ Mặt trời.</a:t>
              </a:r>
              <a:endParaRPr lang="en-US" sz="20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477CAC7-DA78-B39D-F4CC-33C09EE85D9D}"/>
              </a:ext>
            </a:extLst>
          </p:cNvPr>
          <p:cNvGrpSpPr/>
          <p:nvPr/>
        </p:nvGrpSpPr>
        <p:grpSpPr>
          <a:xfrm>
            <a:off x="262236" y="6302625"/>
            <a:ext cx="7630716" cy="1474708"/>
            <a:chOff x="756642" y="6145173"/>
            <a:chExt cx="7630716" cy="1474708"/>
          </a:xfrm>
        </p:grpSpPr>
        <p:sp>
          <p:nvSpPr>
            <p:cNvPr id="11" name="Shape 8"/>
            <p:cNvSpPr/>
            <p:nvPr/>
          </p:nvSpPr>
          <p:spPr>
            <a:xfrm>
              <a:off x="756642" y="6260009"/>
              <a:ext cx="107990" cy="107990"/>
            </a:xfrm>
            <a:prstGeom prst="roundRect">
              <a:avLst>
                <a:gd name="adj" fmla="val 423373"/>
              </a:avLst>
            </a:prstGeom>
            <a:solidFill>
              <a:srgbClr val="1C977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 9"/>
            <p:cNvSpPr/>
            <p:nvPr/>
          </p:nvSpPr>
          <p:spPr>
            <a:xfrm>
              <a:off x="1070610" y="6145173"/>
              <a:ext cx="2702362" cy="33778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650"/>
                </a:lnSpc>
                <a:buNone/>
              </a:pPr>
              <a:r>
                <a:rPr lang="en-US" sz="2400" b="1" dirty="0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Ghi chú triển khai</a:t>
              </a:r>
              <a:endParaRPr lang="en-US" sz="2400" b="1" dirty="0"/>
            </a:p>
          </p:txBody>
        </p:sp>
        <p:sp>
          <p:nvSpPr>
            <p:cNvPr id="13" name="Text 10"/>
            <p:cNvSpPr/>
            <p:nvPr/>
          </p:nvSpPr>
          <p:spPr>
            <a:xfrm>
              <a:off x="1070610" y="6606540"/>
              <a:ext cx="7316748" cy="101334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650"/>
                </a:lnSpc>
                <a:buNone/>
              </a:pPr>
              <a:r>
                <a:rPr lang="en-US" sz="200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Cần cập </a:t>
              </a:r>
              <a:r>
                <a:rPr lang="en-US" sz="2000" dirty="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nhật vị trí ánh sáng mỗi khung hình để khớp với transform của </a:t>
              </a:r>
              <a:r>
                <a:rPr lang="en-US" sz="200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Mặt Trời.</a:t>
              </a:r>
              <a:endParaRPr lang="en-US" sz="2000" dirty="0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C62AE2F2-AD27-1C96-BE6B-A8A4AF9E93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933"/>
          <a:stretch>
            <a:fillRect/>
          </a:stretch>
        </p:blipFill>
        <p:spPr>
          <a:xfrm>
            <a:off x="8831484" y="0"/>
            <a:ext cx="5798916" cy="8229600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0EB933EA-75C6-1203-DA7F-C964E7A33468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14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22471" y="239910"/>
            <a:ext cx="9812779" cy="1045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00"/>
              </a:lnSpc>
              <a:buNone/>
            </a:pPr>
            <a:r>
              <a:rPr lang="en-US" sz="325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5.3: Kỹ </a:t>
            </a:r>
            <a:r>
              <a:rPr lang="en-US" sz="325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thuật cốt lõi </a:t>
            </a:r>
            <a:r>
              <a:rPr lang="en-US" sz="325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— Camera</a:t>
            </a:r>
            <a:endParaRPr lang="en-US" sz="3250" dirty="0"/>
          </a:p>
        </p:txBody>
      </p:sp>
      <p:sp>
        <p:nvSpPr>
          <p:cNvPr id="4" name="Text 1"/>
          <p:cNvSpPr/>
          <p:nvPr/>
        </p:nvSpPr>
        <p:spPr>
          <a:xfrm>
            <a:off x="222471" y="995158"/>
            <a:ext cx="13690299" cy="875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0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Thiết kế camera nhấn mạnh khả năng điều khiển ổn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định và theo dõi hành tinh bằng các tương tác dựa trên các phép tính toán</a:t>
            </a:r>
            <a:endParaRPr lang="en-US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19CF4E-1DDC-DF2D-46B2-ABA3F91482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366" r="31437" b="25343"/>
          <a:stretch>
            <a:fillRect/>
          </a:stretch>
        </p:blipFill>
        <p:spPr>
          <a:xfrm>
            <a:off x="326643" y="2947167"/>
            <a:ext cx="5810962" cy="52824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0D1F6A-4E10-15DD-4D9B-3D4EC55D5BB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1918" t="4167" r="10659" b="42031"/>
          <a:stretch>
            <a:fillRect/>
          </a:stretch>
        </p:blipFill>
        <p:spPr>
          <a:xfrm>
            <a:off x="9624348" y="2574793"/>
            <a:ext cx="5006052" cy="55246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095" y="2236807"/>
            <a:ext cx="6085731" cy="1257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500"/>
              </a:lnSpc>
              <a:buSzPct val="100000"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Giới hạn pitch của camera ở ±1.5 radians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(~85.94°) 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để tránh gimbal lock và các hiện tượng đảo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ngược.</a:t>
            </a:r>
            <a:endParaRPr lang="en-US" sz="2000" dirty="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7314E3BD-8B12-0DE3-24B5-5B04672FD239}"/>
              </a:ext>
            </a:extLst>
          </p:cNvPr>
          <p:cNvSpPr/>
          <p:nvPr/>
        </p:nvSpPr>
        <p:spPr>
          <a:xfrm>
            <a:off x="8322198" y="2155193"/>
            <a:ext cx="6085731" cy="1150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500"/>
              </a:lnSpc>
              <a:buSzPct val="100000"/>
            </a:pP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Tính vị 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trí mục tiêu trong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không gian dựa theo góc quỹ đạo và khoảng cách,  sau đó gán tọa độ vào hàm  gluLookAt() 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mỗi khung hình để theo dõi mượt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mà.</a:t>
            </a:r>
            <a:endParaRPr lang="en-US" sz="2000" dirty="0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18BD0AE9-420B-BFA4-95F3-241AA519C06B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15 / 20  </a:t>
            </a:r>
            <a:endParaRPr lang="en-US" b="1" dirty="0">
              <a:highlight>
                <a:srgbClr val="C0C0C0"/>
              </a:highlight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7880766-782F-3203-983E-9F5CDA0EA56F}"/>
              </a:ext>
            </a:extLst>
          </p:cNvPr>
          <p:cNvCxnSpPr>
            <a:cxnSpLocks/>
          </p:cNvCxnSpPr>
          <p:nvPr/>
        </p:nvCxnSpPr>
        <p:spPr>
          <a:xfrm flipV="1">
            <a:off x="3535960" y="4114800"/>
            <a:ext cx="376283" cy="1047074"/>
          </a:xfrm>
          <a:prstGeom prst="straightConnector1">
            <a:avLst/>
          </a:prstGeom>
          <a:ln w="5715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2">
            <a:extLst>
              <a:ext uri="{FF2B5EF4-FFF2-40B4-BE49-F238E27FC236}">
                <a16:creationId xmlns:a16="http://schemas.microsoft.com/office/drawing/2014/main" id="{ACE2D6CB-5DF8-FE0B-1BF3-B66CE5235858}"/>
              </a:ext>
            </a:extLst>
          </p:cNvPr>
          <p:cNvSpPr/>
          <p:nvPr/>
        </p:nvSpPr>
        <p:spPr>
          <a:xfrm>
            <a:off x="3345084" y="3778213"/>
            <a:ext cx="1381897" cy="336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500"/>
              </a:lnSpc>
              <a:buSzPct val="100000"/>
            </a:pPr>
            <a:r>
              <a:rPr lang="en-US" sz="2000" b="1">
                <a:solidFill>
                  <a:srgbClr val="FF0000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camRadius</a:t>
            </a:r>
            <a:endParaRPr lang="en-US" sz="2000" b="1" dirty="0">
              <a:solidFill>
                <a:srgbClr val="FF000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B60A551-34DE-F500-CED3-6BB1B4F5595E}"/>
              </a:ext>
            </a:extLst>
          </p:cNvPr>
          <p:cNvCxnSpPr>
            <a:cxnSpLocks/>
          </p:cNvCxnSpPr>
          <p:nvPr/>
        </p:nvCxnSpPr>
        <p:spPr>
          <a:xfrm flipV="1">
            <a:off x="4238886" y="4638337"/>
            <a:ext cx="1193863" cy="199881"/>
          </a:xfrm>
          <a:prstGeom prst="straightConnector1">
            <a:avLst/>
          </a:prstGeom>
          <a:ln w="5715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2">
            <a:extLst>
              <a:ext uri="{FF2B5EF4-FFF2-40B4-BE49-F238E27FC236}">
                <a16:creationId xmlns:a16="http://schemas.microsoft.com/office/drawing/2014/main" id="{0D4C1C4B-F054-CA7D-7D3F-821993ECC136}"/>
              </a:ext>
            </a:extLst>
          </p:cNvPr>
          <p:cNvSpPr/>
          <p:nvPr/>
        </p:nvSpPr>
        <p:spPr>
          <a:xfrm>
            <a:off x="5637532" y="4445395"/>
            <a:ext cx="1978610" cy="336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500"/>
              </a:lnSpc>
              <a:buSzPct val="100000"/>
            </a:pPr>
            <a:r>
              <a:rPr lang="en-US" sz="2000" b="1">
                <a:solidFill>
                  <a:srgbClr val="FF0000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Eye (Camera)</a:t>
            </a:r>
            <a:endParaRPr lang="en-US" sz="2000" b="1" dirty="0">
              <a:solidFill>
                <a:srgbClr val="FF0000"/>
              </a:solidFill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18563CD5-96DF-7ED7-45F7-8DD497764A8B}"/>
              </a:ext>
            </a:extLst>
          </p:cNvPr>
          <p:cNvSpPr/>
          <p:nvPr/>
        </p:nvSpPr>
        <p:spPr>
          <a:xfrm>
            <a:off x="12290423" y="7248662"/>
            <a:ext cx="464878" cy="336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500"/>
              </a:lnSpc>
              <a:buSzPct val="100000"/>
            </a:pPr>
            <a:r>
              <a:rPr lang="en-US" sz="3200" b="1">
                <a:solidFill>
                  <a:srgbClr val="FF0000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+</a:t>
            </a:r>
            <a:endParaRPr lang="en-US" sz="3200" b="1" dirty="0">
              <a:solidFill>
                <a:srgbClr val="FF0000"/>
              </a:solidFill>
            </a:endParaRPr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C7FB8714-50E7-3DF4-88C2-A319C5110BED}"/>
              </a:ext>
            </a:extLst>
          </p:cNvPr>
          <p:cNvSpPr/>
          <p:nvPr/>
        </p:nvSpPr>
        <p:spPr>
          <a:xfrm>
            <a:off x="14165522" y="4755325"/>
            <a:ext cx="464878" cy="336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500"/>
              </a:lnSpc>
              <a:buSzPct val="100000"/>
            </a:pPr>
            <a:r>
              <a:rPr lang="en-US" sz="3200" b="1">
                <a:solidFill>
                  <a:srgbClr val="FF0000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+</a:t>
            </a:r>
            <a:endParaRPr lang="en-US" sz="32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 2">
                <a:extLst>
                  <a:ext uri="{FF2B5EF4-FFF2-40B4-BE49-F238E27FC236}">
                    <a16:creationId xmlns:a16="http://schemas.microsoft.com/office/drawing/2014/main" id="{5EE7BE31-47A3-2ACD-F420-5FBE1CA817AF}"/>
                  </a:ext>
                </a:extLst>
              </p:cNvPr>
              <p:cNvSpPr/>
              <p:nvPr/>
            </p:nvSpPr>
            <p:spPr>
              <a:xfrm>
                <a:off x="6441311" y="6041466"/>
                <a:ext cx="3761773" cy="185246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50000"/>
                  </a:lnSpc>
                  <a:buSzPct val="100000"/>
                </a:pPr>
                <a:r>
                  <a:rPr lang="en-US" sz="2800" b="1">
                    <a:solidFill>
                      <a:srgbClr val="FF0000"/>
                    </a:solidFill>
                    <a:latin typeface="Arimo Medium" pitchFamily="34" charset="0"/>
                    <a:ea typeface="Arimo Medium" pitchFamily="34" charset="-122"/>
                    <a:cs typeface="Arimo Medium" pitchFamily="34" charset="-120"/>
                  </a:rPr>
                  <a:t>x = D x cos</a:t>
                </a:r>
                <a:r>
                  <a:rPr lang="el-GR" sz="2800" b="1">
                    <a:solidFill>
                      <a:srgbClr val="FF0000"/>
                    </a:solidFill>
                    <a:ea typeface="Arimo Medium" pitchFamily="34" charset="-122"/>
                    <a:cs typeface="Arimo Medium" pitchFamily="34" charset="-12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Arimo Medium" pitchFamily="34" charset="-122"/>
                            <a:cs typeface="Arimo Medium" pitchFamily="34" charset="-120"/>
                          </a:rPr>
                        </m:ctrlPr>
                      </m:dPr>
                      <m:e>
                        <m:r>
                          <a:rPr lang="el-GR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Arimo Medium" pitchFamily="34" charset="-122"/>
                            <a:cs typeface="Arimo Medium" pitchFamily="34" charset="-120"/>
                          </a:rPr>
                          <m:t>𝜶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Arimo Medium" pitchFamily="34" charset="-122"/>
                            <a:cs typeface="Arimo Medium" pitchFamily="34" charset="-120"/>
                          </a:rPr>
                          <m:t> </m:t>
                        </m:r>
                      </m:e>
                    </m:d>
                  </m:oMath>
                </a14:m>
                <a:endParaRPr lang="en-US" sz="2800" b="1">
                  <a:solidFill>
                    <a:srgbClr val="FF0000"/>
                  </a:solidFill>
                  <a:ea typeface="Arimo Medium" pitchFamily="34" charset="-122"/>
                  <a:cs typeface="Arimo Medium" pitchFamily="34" charset="-120"/>
                </a:endParaRPr>
              </a:p>
              <a:p>
                <a:pPr>
                  <a:lnSpc>
                    <a:spcPct val="150000"/>
                  </a:lnSpc>
                  <a:buSzPct val="100000"/>
                </a:pPr>
                <a:r>
                  <a:rPr lang="en-US" sz="2800" b="1">
                    <a:solidFill>
                      <a:srgbClr val="FF0000"/>
                    </a:solidFill>
                  </a:rPr>
                  <a:t>y = 0</a:t>
                </a:r>
              </a:p>
              <a:p>
                <a:pPr>
                  <a:lnSpc>
                    <a:spcPct val="150000"/>
                  </a:lnSpc>
                  <a:buSzPct val="100000"/>
                </a:pPr>
                <a:r>
                  <a:rPr lang="en-US" sz="2800" b="1">
                    <a:solidFill>
                      <a:srgbClr val="FF0000"/>
                    </a:solidFill>
                  </a:rPr>
                  <a:t>z = -1 x D x sin (</a:t>
                </a:r>
                <a14:m>
                  <m:oMath xmlns:m="http://schemas.openxmlformats.org/officeDocument/2006/math">
                    <m:r>
                      <a:rPr lang="el-GR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mo Medium" pitchFamily="34" charset="-122"/>
                        <a:cs typeface="Arimo Medium" pitchFamily="34" charset="-120"/>
                      </a:rPr>
                      <m:t>𝜶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mo Medium" pitchFamily="34" charset="-122"/>
                        <a:cs typeface="Arimo Medium" pitchFamily="34" charset="-120"/>
                      </a:rPr>
                      <m:t>)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Text 2">
                <a:extLst>
                  <a:ext uri="{FF2B5EF4-FFF2-40B4-BE49-F238E27FC236}">
                    <a16:creationId xmlns:a16="http://schemas.microsoft.com/office/drawing/2014/main" id="{5EE7BE31-47A3-2ACD-F420-5FBE1CA817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1311" y="6041466"/>
                <a:ext cx="3761773" cy="1852467"/>
              </a:xfrm>
              <a:prstGeom prst="rect">
                <a:avLst/>
              </a:prstGeom>
              <a:blipFill>
                <a:blip r:embed="rId5"/>
                <a:stretch>
                  <a:fillRect l="-5835" b="-1217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 2">
            <a:extLst>
              <a:ext uri="{FF2B5EF4-FFF2-40B4-BE49-F238E27FC236}">
                <a16:creationId xmlns:a16="http://schemas.microsoft.com/office/drawing/2014/main" id="{92DDB187-0FF3-C0EE-DCF5-50C4DD2512E3}"/>
              </a:ext>
            </a:extLst>
          </p:cNvPr>
          <p:cNvSpPr/>
          <p:nvPr/>
        </p:nvSpPr>
        <p:spPr>
          <a:xfrm>
            <a:off x="523638" y="5704880"/>
            <a:ext cx="1381897" cy="336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500"/>
              </a:lnSpc>
              <a:buSzPct val="100000"/>
            </a:pPr>
            <a:endParaRPr lang="en-US" sz="2000" b="1" dirty="0">
              <a:solidFill>
                <a:srgbClr val="FF0000"/>
              </a:solidFill>
            </a:endParaRPr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95DBA7D4-1CCD-D2EC-E24C-857BC412AB20}"/>
              </a:ext>
            </a:extLst>
          </p:cNvPr>
          <p:cNvSpPr/>
          <p:nvPr/>
        </p:nvSpPr>
        <p:spPr>
          <a:xfrm>
            <a:off x="2437424" y="5658582"/>
            <a:ext cx="414759" cy="336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500"/>
              </a:lnSpc>
              <a:buSzPct val="100000"/>
            </a:pPr>
            <a:r>
              <a:rPr lang="en-US" sz="2000" b="1">
                <a:solidFill>
                  <a:srgbClr val="FF0000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O</a:t>
            </a:r>
            <a:endParaRPr lang="en-US" sz="2000" b="1" dirty="0">
              <a:solidFill>
                <a:srgbClr val="FF0000"/>
              </a:solidFill>
            </a:endParaRPr>
          </a:p>
        </p:txBody>
      </p:sp>
      <p:sp>
        <p:nvSpPr>
          <p:cNvPr id="25" name="Text 2">
            <a:extLst>
              <a:ext uri="{FF2B5EF4-FFF2-40B4-BE49-F238E27FC236}">
                <a16:creationId xmlns:a16="http://schemas.microsoft.com/office/drawing/2014/main" id="{4BF40975-41D3-7381-1F78-EB4E43C453CF}"/>
              </a:ext>
            </a:extLst>
          </p:cNvPr>
          <p:cNvSpPr/>
          <p:nvPr/>
        </p:nvSpPr>
        <p:spPr>
          <a:xfrm>
            <a:off x="4049339" y="6897855"/>
            <a:ext cx="414759" cy="336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500"/>
              </a:lnSpc>
              <a:buSzPct val="100000"/>
            </a:pPr>
            <a:r>
              <a:rPr lang="en-US" sz="2000" b="1">
                <a:solidFill>
                  <a:srgbClr val="FF0000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M</a:t>
            </a:r>
            <a:endParaRPr lang="en-US" sz="20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31826" y="278222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6: Demo Trực tiếp </a:t>
            </a:r>
            <a:r>
              <a:rPr lang="en-US" sz="3550" b="1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k</a:t>
            </a: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ết </a:t>
            </a:r>
            <a:r>
              <a:rPr lang="en-US" sz="3550" b="1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quả</a:t>
            </a:r>
            <a:endParaRPr lang="en-US" sz="355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CE6566-7232-C5BE-62E5-C4D452600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9985" y="1008536"/>
            <a:ext cx="11690430" cy="70821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B37AED-4A72-EF5B-4CA2-DD309A58DF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7875" y="5736789"/>
            <a:ext cx="2047755" cy="2047755"/>
          </a:xfrm>
          <a:prstGeom prst="rect">
            <a:avLst/>
          </a:prstGeom>
        </p:spPr>
      </p:pic>
      <p:pic>
        <p:nvPicPr>
          <p:cNvPr id="3074" name="Picture 2" descr="Mellstroy GIF - Mellstroy - Discover &amp; Share GIFs">
            <a:extLst>
              <a:ext uri="{FF2B5EF4-FFF2-40B4-BE49-F238E27FC236}">
                <a16:creationId xmlns:a16="http://schemas.microsoft.com/office/drawing/2014/main" id="{0E0C1CC1-A999-1F78-8110-E1E33A5ABA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36719"/>
            <a:ext cx="2095500" cy="164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6D4E7669-12D8-5D65-D26A-1D6C6ECEDB5E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16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252895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7</a:t>
            </a:r>
            <a:r>
              <a:rPr lang="en-US" sz="445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.1 </a:t>
            </a:r>
            <a:r>
              <a:rPr lang="en-US" sz="445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Kết quả đạt được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528649"/>
            <a:ext cx="384798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00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Về mặt học thuật và kỹ thuật: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93790" y="3109793"/>
            <a:ext cx="6244709" cy="3787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Nắm vững và vận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dụng được các 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kiến thức cốt lõi của Đồ họa máy tính: Hệ tọa độ 3D, phép biến đổi Affine (Tịnh tiến, Xoay, Thu phóng) và toán học vector.</a:t>
            </a:r>
            <a:endParaRPr lang="en-US" sz="200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Làm chủ thư viện OpenGL ở mức độ cấu trúc (low-level). Triển khai thành công thuật toán lồng ma trận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phân cấp.</a:t>
            </a:r>
            <a:endParaRPr lang="en-US" sz="200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Cài đặt thành công mô hình chiếu sáng Phong (Phong Shading) kết hợp kỹ thuật dán ảnh (Texture Mapping) và Skybox.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599521" y="2528649"/>
            <a:ext cx="386500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00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Về mặt chức năng ứng dụng: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599521" y="3109793"/>
            <a:ext cx="6244709" cy="2698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Xây dựng được mô hình Hệ Mặt trời trực quan với Mặt trời, 8 hành tinh và các vệ tinh tiêu biểu.</a:t>
            </a:r>
            <a:endParaRPr lang="en-US" sz="200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Cung cấp trải nghiệm tương tác tự do: Hệ thống Camera linh hoạt (Zoom, xoay 360 độ) và tính năng bám đuổi mục tiêu (Focus Mode).</a:t>
            </a:r>
            <a:endParaRPr lang="en-US" sz="200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Tích hợp bảng điều khiển Console cập nhật thông số vật lý theo thời gian thực.</a:t>
            </a:r>
            <a:endParaRPr lang="en-US" sz="2000" dirty="0"/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213BCAC1-D139-0F56-7D19-D99ECA85A77B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17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52964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7</a:t>
            </a:r>
            <a:r>
              <a:rPr lang="en-US" sz="355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.2 </a:t>
            </a:r>
            <a:r>
              <a:rPr lang="en-US" sz="355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Hạn chế</a:t>
            </a:r>
            <a:endParaRPr lang="en-US" sz="3550" dirty="0"/>
          </a:p>
        </p:txBody>
      </p:sp>
      <p:sp>
        <p:nvSpPr>
          <p:cNvPr id="3" name="Shape 1"/>
          <p:cNvSpPr/>
          <p:nvPr/>
        </p:nvSpPr>
        <p:spPr>
          <a:xfrm>
            <a:off x="793790" y="1873568"/>
            <a:ext cx="6407944" cy="2819519"/>
          </a:xfrm>
          <a:prstGeom prst="roundRect">
            <a:avLst>
              <a:gd name="adj" fmla="val 5189"/>
            </a:avLst>
          </a:prstGeom>
          <a:solidFill>
            <a:srgbClr val="FFFFFF"/>
          </a:solidFill>
          <a:ln w="3048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3310" y="1873568"/>
            <a:ext cx="121920" cy="2819519"/>
          </a:xfrm>
          <a:prstGeom prst="roundRect">
            <a:avLst>
              <a:gd name="adj" fmla="val 78139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142524" y="2130862"/>
            <a:ext cx="406836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Tỷ lệ không gian phi tuyến tính</a:t>
            </a:r>
            <a:endParaRPr lang="en-US" sz="2400" b="1" dirty="0"/>
          </a:p>
        </p:txBody>
      </p:sp>
      <p:sp>
        <p:nvSpPr>
          <p:cNvPr id="6" name="Text 4"/>
          <p:cNvSpPr/>
          <p:nvPr/>
        </p:nvSpPr>
        <p:spPr>
          <a:xfrm>
            <a:off x="1142524" y="2874435"/>
            <a:ext cx="5801916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Để có 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thể quan sát được trên cùng một khung hình màn hình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, các tỷ lệ (kích thước, khoảng 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cách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quỹ đạo,.. ) đã 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được tinh chỉnh (Clamp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/Scale).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428548" y="1873568"/>
            <a:ext cx="6408063" cy="2819519"/>
          </a:xfrm>
          <a:prstGeom prst="roundRect">
            <a:avLst>
              <a:gd name="adj" fmla="val 5189"/>
            </a:avLst>
          </a:prstGeom>
          <a:solidFill>
            <a:srgbClr val="FFFFFF"/>
          </a:solidFill>
          <a:ln w="3048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98067" y="1873568"/>
            <a:ext cx="121920" cy="2819519"/>
          </a:xfrm>
          <a:prstGeom prst="roundRect">
            <a:avLst>
              <a:gd name="adj" fmla="val 78139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7282" y="2130862"/>
            <a:ext cx="410015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Dán ảnh lên vành đai hành tinh</a:t>
            </a:r>
            <a:endParaRPr lang="en-US" sz="2400" b="1" dirty="0"/>
          </a:p>
        </p:txBody>
      </p:sp>
      <p:sp>
        <p:nvSpPr>
          <p:cNvPr id="10" name="Text 8"/>
          <p:cNvSpPr/>
          <p:nvPr/>
        </p:nvSpPr>
        <p:spPr>
          <a:xfrm>
            <a:off x="7777282" y="2874435"/>
            <a:ext cx="58020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Hiện tại dự án chưa thể dán ảnh một cách hợp lý vào vành đai hành tinh (Sao Thổ, Sao Thiên Vương).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93790" y="4919901"/>
            <a:ext cx="6407944" cy="2456617"/>
          </a:xfrm>
          <a:prstGeom prst="roundRect">
            <a:avLst>
              <a:gd name="adj" fmla="val 5956"/>
            </a:avLst>
          </a:prstGeom>
          <a:solidFill>
            <a:srgbClr val="FFFFFF"/>
          </a:solidFill>
          <a:ln w="3048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63310" y="4919901"/>
            <a:ext cx="121920" cy="2456617"/>
          </a:xfrm>
          <a:prstGeom prst="roundRect">
            <a:avLst>
              <a:gd name="adj" fmla="val 78139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42524" y="5177195"/>
            <a:ext cx="356925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Giao diện hiển thị thông tin</a:t>
            </a:r>
            <a:endParaRPr lang="en-US" sz="2400" b="1" dirty="0"/>
          </a:p>
        </p:txBody>
      </p:sp>
      <p:sp>
        <p:nvSpPr>
          <p:cNvPr id="14" name="Text 12"/>
          <p:cNvSpPr/>
          <p:nvPr/>
        </p:nvSpPr>
        <p:spPr>
          <a:xfrm>
            <a:off x="1142524" y="5667613"/>
            <a:ext cx="580191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Hiện tại giao diện vẫn đang sử dung giao diện Console để hiển thị thông tin, kèm theo đó lượng thông tin cung cấp chưa đủ nhiều và chi tiết.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7428548" y="4919901"/>
            <a:ext cx="6408063" cy="2456617"/>
          </a:xfrm>
          <a:prstGeom prst="roundRect">
            <a:avLst>
              <a:gd name="adj" fmla="val 5956"/>
            </a:avLst>
          </a:prstGeom>
          <a:solidFill>
            <a:srgbClr val="FFFFFF"/>
          </a:solidFill>
          <a:ln w="3048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98067" y="4919901"/>
            <a:ext cx="121920" cy="2456617"/>
          </a:xfrm>
          <a:prstGeom prst="roundRect">
            <a:avLst>
              <a:gd name="adj" fmla="val 78139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7282" y="5177195"/>
            <a:ext cx="5386864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Hạn chế về hiệu ứng đổ bóng (Shadows)</a:t>
            </a:r>
            <a:endParaRPr lang="en-US" sz="2400" b="1" dirty="0"/>
          </a:p>
        </p:txBody>
      </p:sp>
      <p:sp>
        <p:nvSpPr>
          <p:cNvPr id="18" name="Text 16"/>
          <p:cNvSpPr/>
          <p:nvPr/>
        </p:nvSpPr>
        <p:spPr>
          <a:xfrm>
            <a:off x="7777282" y="5667613"/>
            <a:ext cx="5802035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Hệ thống ánh sáng hiện tại mới chỉ xử lý phần sáng/tối trên bề mặt từng vật thể, chưa cài đặt thuật toán Shadow Mapping để các vật thể có thể che khuất ánh sáng và đổ bóng lên nhau.</a:t>
            </a:r>
            <a:endParaRPr lang="en-US" sz="2000" dirty="0"/>
          </a:p>
        </p:txBody>
      </p:sp>
      <p:sp>
        <p:nvSpPr>
          <p:cNvPr id="19" name="Text 0">
            <a:extLst>
              <a:ext uri="{FF2B5EF4-FFF2-40B4-BE49-F238E27FC236}">
                <a16:creationId xmlns:a16="http://schemas.microsoft.com/office/drawing/2014/main" id="{604DD7BE-264C-DA89-D2DA-E582EC490394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18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20654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7</a:t>
            </a:r>
            <a:r>
              <a:rPr lang="en-US" sz="445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.3 </a:t>
            </a:r>
            <a:r>
              <a:rPr lang="en-US" sz="445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Hướng phát triển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583061"/>
            <a:ext cx="4196358" cy="4225766"/>
          </a:xfrm>
          <a:prstGeom prst="roundRect">
            <a:avLst>
              <a:gd name="adj" fmla="val 2270"/>
            </a:avLst>
          </a:prstGeom>
          <a:solidFill>
            <a:srgbClr val="FFFFFF"/>
          </a:solidFill>
          <a:ln w="3048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24270" y="261354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21888" y="274105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1051084" y="3520797"/>
            <a:ext cx="350186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Tối ưu giao diện UI đồ họa</a:t>
            </a:r>
            <a:endParaRPr lang="en-US" sz="2400" b="1" dirty="0"/>
          </a:p>
        </p:txBody>
      </p:sp>
      <p:sp>
        <p:nvSpPr>
          <p:cNvPr id="7" name="Text 5"/>
          <p:cNvSpPr/>
          <p:nvPr/>
        </p:nvSpPr>
        <p:spPr>
          <a:xfrm>
            <a:off x="1051084" y="4083656"/>
            <a:ext cx="3681770" cy="2540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Thay thế cửa sổ Console hiện tại bằng việc tích hợp các thư viện UI cho C++ để hiển thị bảng thông số, nút bấm điều khiển ngay trên màn hình render 3D. Bổ sung thêm nhiều và chi tiết thông tin các hành tinh.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216962" y="2583061"/>
            <a:ext cx="4196358" cy="4225766"/>
          </a:xfrm>
          <a:prstGeom prst="roundRect">
            <a:avLst>
              <a:gd name="adj" fmla="val 2270"/>
            </a:avLst>
          </a:prstGeom>
          <a:solidFill>
            <a:srgbClr val="FFFFFF"/>
          </a:solidFill>
          <a:ln w="3048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247442" y="261354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145060" y="274105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2</a:t>
            </a:r>
            <a:endParaRPr lang="en-US" sz="2650" dirty="0"/>
          </a:p>
        </p:txBody>
      </p:sp>
      <p:sp>
        <p:nvSpPr>
          <p:cNvPr id="11" name="Text 9"/>
          <p:cNvSpPr/>
          <p:nvPr/>
        </p:nvSpPr>
        <p:spPr>
          <a:xfrm>
            <a:off x="5897582" y="352079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Phát triển chức năng</a:t>
            </a:r>
            <a:endParaRPr lang="en-US" sz="2400" b="1" dirty="0"/>
          </a:p>
        </p:txBody>
      </p:sp>
      <p:sp>
        <p:nvSpPr>
          <p:cNvPr id="12" name="Text 10"/>
          <p:cNvSpPr/>
          <p:nvPr/>
        </p:nvSpPr>
        <p:spPr>
          <a:xfrm>
            <a:off x="5474256" y="408365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Bổ sung thêm chức năng tua nhanh thời gian bằng cách tương tác với bàn phím hoặc với các nút bấm trên màn hình.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9640133" y="2583061"/>
            <a:ext cx="4196358" cy="4225766"/>
          </a:xfrm>
          <a:prstGeom prst="roundRect">
            <a:avLst>
              <a:gd name="adj" fmla="val 2270"/>
            </a:avLst>
          </a:prstGeom>
          <a:solidFill>
            <a:srgbClr val="FFFFFF"/>
          </a:solidFill>
          <a:ln w="3048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670613" y="261354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1568232" y="274105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3</a:t>
            </a:r>
            <a:endParaRPr lang="en-US" sz="2650" dirty="0"/>
          </a:p>
        </p:txBody>
      </p:sp>
      <p:sp>
        <p:nvSpPr>
          <p:cNvPr id="16" name="Text 14"/>
          <p:cNvSpPr/>
          <p:nvPr/>
        </p:nvSpPr>
        <p:spPr>
          <a:xfrm>
            <a:off x="10320694" y="352079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Hiệu ứng đổ bóng</a:t>
            </a:r>
            <a:endParaRPr lang="en-US" sz="2400" b="1" dirty="0"/>
          </a:p>
        </p:txBody>
      </p:sp>
      <p:sp>
        <p:nvSpPr>
          <p:cNvPr id="17" name="Text 15"/>
          <p:cNvSpPr/>
          <p:nvPr/>
        </p:nvSpPr>
        <p:spPr>
          <a:xfrm>
            <a:off x="9897427" y="408365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Nghiên cứu thêm về thuật toán Shadow Mapping để tăng thêm tính chân thực cho hiệu ứng đổ bóng của dự án.</a:t>
            </a:r>
            <a:endParaRPr lang="en-US" dirty="0"/>
          </a:p>
        </p:txBody>
      </p:sp>
      <p:sp>
        <p:nvSpPr>
          <p:cNvPr id="18" name="Text 0">
            <a:extLst>
              <a:ext uri="{FF2B5EF4-FFF2-40B4-BE49-F238E27FC236}">
                <a16:creationId xmlns:a16="http://schemas.microsoft.com/office/drawing/2014/main" id="{6BF1326E-DE43-24EF-56CD-2D1D21B6F8FD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19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2E9AEBC-49CE-8C4F-1D55-ABABEF68BF70}"/>
              </a:ext>
            </a:extLst>
          </p:cNvPr>
          <p:cNvSpPr/>
          <p:nvPr/>
        </p:nvSpPr>
        <p:spPr>
          <a:xfrm>
            <a:off x="-115747" y="2277181"/>
            <a:ext cx="1463040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Cảm ơn Thầy và các bạn đã chú ý lắng nghe!</a:t>
            </a:r>
            <a:endParaRPr lang="en-US" sz="4450" b="1" dirty="0"/>
          </a:p>
        </p:txBody>
      </p:sp>
      <p:pic>
        <p:nvPicPr>
          <p:cNvPr id="6148" name="Picture 4" descr="Like - Free social media icons">
            <a:extLst>
              <a:ext uri="{FF2B5EF4-FFF2-40B4-BE49-F238E27FC236}">
                <a16:creationId xmlns:a16="http://schemas.microsoft.com/office/drawing/2014/main" id="{97B858C2-010E-3604-6688-36FA4E542A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4883" y="4114800"/>
            <a:ext cx="3520633" cy="3520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20915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</TotalTime>
  <Words>2766</Words>
  <Application>Microsoft Office PowerPoint</Application>
  <PresentationFormat>Custom</PresentationFormat>
  <Paragraphs>385</Paragraphs>
  <Slides>28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Arimo Semi Bold</vt:lpstr>
      <vt:lpstr>Cambria Math</vt:lpstr>
      <vt:lpstr>Arimo Medium</vt:lpstr>
      <vt:lpstr>Aptos Narrow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Nguyễn Tuấn Anh</cp:lastModifiedBy>
  <cp:revision>21</cp:revision>
  <dcterms:created xsi:type="dcterms:W3CDTF">2026-04-16T12:58:21Z</dcterms:created>
  <dcterms:modified xsi:type="dcterms:W3CDTF">2026-04-23T05:43:01Z</dcterms:modified>
</cp:coreProperties>
</file>